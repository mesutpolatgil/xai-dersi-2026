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3cf2b88-86d4-4c80-9746-a4dc3a2aeaa7}">
          <p14:sldIdLst>
            <p14:sldId id="256"/>
            <p14:sldId id="257"/>
          </p14:sldIdLst>
        </p14:section>
        <p14:section name="By design" id="{84558636-6a1b-aba0-81db-f7c114ee8651}">
          <p14:sldIdLst>
            <p14:sldId id="258"/>
            <p14:sldId id="259"/>
            <p14:sldId id="260"/>
            <p14:sldId id="261"/>
            <p14:sldId id="262"/>
          </p14:sldIdLst>
        </p14:section>
        <p14:section name="Model-agnostic" id="{5052d9b1-4583-b711-8aff-d0cbbd7d146f}">
          <p14:sldIdLst>
            <p14:sldId id="263"/>
            <p14:sldId id="264"/>
            <p14:sldId id="265"/>
            <p14:sldId id="266"/>
            <p14:sldId id="267"/>
          </p14:sldIdLst>
        </p14:section>
        <p14:section name="Model-specific" id="{084adc8d-16f1-73c6-4cf9-c75ea29c734d}">
          <p14:sldIdLst>
            <p14:sldId id="268"/>
            <p14:sldId id="269"/>
          </p14:sldIdLst>
        </p14:section>
        <p14:section name="Synthesis" id="{8d8289a1-1ae5-0a2f-f253-aa3f44006d8e}">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Herkese merhaba, ben Asasira Martin. Bugün Christoph Molnar'ın "Interpretable Machine Learning" kitabının 4. bölümünü, yani "Methods Overview" - Yöntemlere Genel Bakış bölümünü anlatacağım.
Bu bölüm aslında kitabın geri kalanı için bir yol haritası. Tek tek yöntemlere geçmeden önce büyük resmi görmemizi sağlıyor.
Sağdaki şekle bakarsanız, kitabın temel fikri burada: Gerçek dünyayı veriyle yakalıyoruz, veriden bir model öğreniyoruz, yorumlama yöntemleri de modelden bilgi çıkarıp bunu insanlara aktarıyor. Bugün konuşacağımız her şey bu zincirin "yorumlama yöntemleri" katmanıyla ilgili.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ağaç hem bölümün hem de sunumumun iskeleti, o yüzden burada biraz durmak istiyorum.
En üstte iki ana yol var. Birincisi "by design", yani tasarım gereği yorumlanabilirlik: Baştan yorumlanabilir bir model eğitiyoruz, mesela rastgele orman yerine lojistik regresyon. İkincisi "post-hoc", yani sonradan yorumlanabilirlik: Model zaten eğitilmiş, biz sonradan bir yöntem uyguluyoruz.
Sonradan yöntemler ikiye ayrılıyor: Her modele uygulanabilen "model-agnostic" yöntemler ve sadece belirli model türleri için çalışan "model-specific" yöntemler. Modelden bağımsız yöntemler de tek bir tahmini açıklayan "local" ve ortalama davranışı açıklayan "global" yöntemler olarak ayrılıyor.
Ağaçtaki turuncu numaralar sunumun bölümleri: 01 tasarım gereği modeller, 02 modelden bağımsız yöntemler, 03 modele özgü yöntemler ve sonunda 04 sentez. Bu arada kitabın ağırlık noktası modelden bağımsız yöntemler.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İlk bölümle başlayalım: tasarım gereği yorumlanabilirlik. Sağdaki küçük ağaçta turuncu kutu şu an nerede olduğumuzu gösteriyor. Bu bölümde algoritmanın rolüne, yorumlanabilirliğin kapsamına ve bu modellerin güçlü yönlerine bakacağız.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Tasarım gereği yorumlanabilirlik, öğrenme algoritması düzeyinde belirleniyor.
Soldaki diyagramı şöyle düşünün: Gri alan olası tüm modeller, yani rastgele ormanlar, boosting, sinir ağları ve diğerleri. İçindeki turkuaz alan ise yorumlanabilir modeller: doğrusal modeller, ağaçlar, kurallar. Yorumlanabilir model istiyorsak algoritmanın sadece bu küçük alanda arama yapması gerekiyor.
En basit örnek doğrusal regresyon. Sıradan en küçük kareler yöntemiyle eğittiğimizde algoritma sadece özelliklerde doğrusal olan modelleri bulabiliyor. Bu modellere "intrinsically" ya da "inherently interpretable", yani içsel ya da doğası gereği yorumlanabilir modeller de deniyor.
Altta kitabın ele aldığı altı temel yaklaşımı görüyorsunuz: doğrusal regresyon, lojistik regresyon, doğrusal model uzantıları, karar ağaçları, karar kuralları ve RuleFit. RuleFit ilginç bir tanesi: ağaçlardan kurallar çıkarıp bunları Lasso ile birleştiriyor ve seyrek bir model elde ediyor.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Yorumlanabilir modeller bu altı temel yaklaşımla sınırlı değil. Kitap dört örnek daha veriyor.
ProtoViT, görüntü sınıflandırması için prototip tabanlı bir sinir ağı: Tahmini, eğitim verisindeki prototip görüntülerin ağırlıklı toplamı olarak yapıyor. Yang ve arkadaşlarının yorumlanabilir ağaç toplulukları sığ ağaçlar kullanıyor ve etkileri ana etkiler ve etkileşimler olarak sıralıyor. Model tabanlı boosting, doğrusal etkileri, spline'ları ve ağaç kütüklerini toplayan bir çerçeve. Son olarak, etkileşimleri otomatik bulan genelleştirilmiş toplamsal modeller, yani GAM'ler var.
Alttaki nota dikkat edin: Yang'ın yaklaşımı tasarım gereği ve sonradan yorumlanabilirliği bir arada kullanıyor. Yani kategoriler arasındaki sınırlar bulanık. Sunumun sonunda bu konuya geri döneceğim.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Peki doğası gereği yorumlanabilir bir model ne kadar yorumlanabilir? Kitap üç kapsam düzeyi ayırıyor. Bunu göstermek için aynı küçük karar ağacını üç kez çizdim, turuncu kısımlar yorumladığımız yeri gösteriyor.
Birincisi modelin tamamı. Böyle küçük bir ağacı bütün olarak anlayabiliriz. Ama dikkat: "tamamen yorumlanabilir" iddiası çok güçlü, sadece en basit modeller için kullanılmalı.
İkincisi modelin bazı bölümleri. Yüzlerce özelliği olan bir regresyonu bütünüyle kavrayamayız, ama tek bir katsayıyı ya da tek bir kuralı yorumlayabiliriz.
Üçüncüsü tek tek tahminler. Burada sadece bir tahmine giden yolu izliyoruz. Kitabın örneğinde görüntüler için k-en yakın komşu var: Tahmini açıklamak için en benzer k görüntüyü göstermek yeterli.
Alttaki ipucu önemli: Yeni bir yöntemle karşılaştığımızda "bu yöntem hangi düzeyde açıklıyor?" diye sormalıyız.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Tasarım gereği modellerin güçlü ve zayıf yönlerine bakalım. Noktalar ne kadar uygun olduğunu gösteriyor.
Hata ayıklama ve iyileştirmede güçlüler, çünkü modelin iç işleyişi görünüyor. Gerekçelendirmede de güçlüler: Tahminin nasıl üretildiğini sadık biçimde açıklıyorlar ve alan uzmanlarıyla kontrol etmek kolay. Tıp araştırmalarında lojistik regresyonun bu kadar yaygın olması da bundan.
Ama veri hakkında içgörü söz konusu olduğunda durum karmaşık. Modeli verinin yerine yorumlayabilmek için model yapısının dünyayı yansıttığını varsaymamız gerekiyor. Daha iyi tahmin yapan başka bir model varsa ne olacak?
İşte burada Rashomon etkisi devreye giriyor. 1950 yapımı Japon filmi Rashomon'da aynı cinayet dört farklı kişi tarafından anlatılıyor. Her anlatım olayları eşit derecede iyi açıklıyor ama hiçbiri diğeriyle bağdaşmıyor. Makine öğrenmesinde de benzer performanslı ama farklı yorumlara sahip birden fazla model bulunabiliyor. O zaman hangisini yorumlamalıyız? Bu sorunun kolay bir cevabı yok.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İkinci bölüme geçiyoruz: modelden bağımsız yöntemler. Ağaçta turuncu yol, sonradan yorumlanabilirlikten modelden bağımsız yöntemlere ve onların yerel ve genel dallarına iniyor. Kitabın asıl odağı burası. Önce SIPA ilkesine, sonra esnekliğe, ardından yerel ve genel yöntemlere bakacağız.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Modelden bağımsız yöntemlerin hepsi aynı ilkeyle çalışıyor: SIPA. Sample, Intervene, Predict, Aggregate, yani örnekle, müdahale et, tahmin al, birleştir.
Kitabın örneği permütasyon özellik önemi, kısaca PFI. Küçük tablolar adımları gösteriyor. Birinci adımda test verisinden bir örneklem alıyoruz, turkuaz satırlar bu. İkinci adımda müdahale ediyoruz: Bir özelliğin, yani turuncu sütunun değerlerini karıştırıyoruz. Üçüncü adımda değiştirilmiş veriyle modelden yeni tahminler alıyoruz, bu da en sağdaki turkuaz ŷ sütunu. Dördüncü adımda kaybı yeniden hesaplayıp özgün kayıpla karşılaştırıyoruz. Kayıp çok artıyorsa o özellik model için önemliymiş demektir.
Burada önemli olan şu: Hiçbir adımda modelin içine bakmadık, katsayı ya da ağırlık okumadık. Sadece girdi verip çıktı aldık. Bu yöntemleri modelden bağımsız yapan da 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Modelden bağımsız yorumlamanın en büyük avantajı esneklik.
Soldaki katmanlar kitabın büyük resim şeklinden geliyor: Veriden model öğreniyoruz, yorumlama yöntemleri modelden bilgi çıkarıyor ve bu bilgi insanları bilgilendiriyor. Gri katmanlar, yani model ve yorumlama yöntemi birbirinden ayrı ve her biri diğerine dokunmadan değiştirilebilir.
Kitabın örneği şu: Bir XGBoost modelini kısmi bağımlılık grafiği, yani PDP ile görselleştirdiğimizi düşünelim. Modeli rastgele orman ile değiştirsek bile PDP kullanmaya devam edebiliriz. Ya da PDP'yi beğenmezsek XGBoost'u yeniden eğitmeden ALE'ye geçebiliriz. Hatta gösterimi bile değiştirebiliriz: Görüntüleri pikseller yerine görüntü parçalarıyla açıklamak gibi.
Karşılaştırma için: Doğrusal regresyonun katsayılarını yorumluyorsak ve kural tabanlı bir modele geçersek, yorumlama aracımız da tamamen değişir.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Yerel yöntemler tek bir tahmini açıklıyor ve aslında bir yelpaze oluşturuyorlar. Oklar bunu gösteriyor.
Sol uçta duyarlılık yöntemleri var: Ceteris paribus grafikleri ve ICE eğrileri. Soru şu: Tek bir özelliği değiştirirsek tahmin nasıl tepki verir? ICE aynı şeyi birçok veri noktası için yapıyor.
Sağ uçta atıf yöntemleri var: LIME, Shapley değerleri ve SHAP. Bunlar tahmini özellik etkilerinin toplamı olarak açıklıyor, yani tahmini özellikler arasında paylaştırıyor.
Ortada karşı-olgusal açıklamalar ve anchors var. Bunlar özelliklerin bir alt kümesine dayanıyor. Karşı-olgusal açıklama "istediğim sonuca ulaşmak için en az neyi değiştirmeliyim?" sorusunu soruyor.
Alttaki iki kutu hedefleri gösteriyor. Hata ayıklamada yerel yöntemler en kötü tahmine "yakınlaşmamızı" sağlıyor: Zor bir veri noktası mı, model mi yetersiz, yoksa etiket mi yanlış? Gerekçelendirmede ise ceteris paribus ve karşı-olgusal açıklamalar ham tahminleri sadık biçimde yansıtıyor. SHAP ve LIME ise modelin üstünde bir tür ek model olduğu için Rudin'e göre yüksek riskli kararlarda daha az uygun.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Genel yöntemler modelin veri kümesi üzerindeki ortalama davranışını açıklıyor ve iki gruba ayrılıyor.
Soldaki grup özellik etkileri: PDP, ALE, H-istatistiği ve fonksiyonel ayrıştırma. Bunlar bir girdi değiştiğinde çıktının nasıl değiştiğini gösteriyor, yandaki eğri gibi. ALE özellikle birbiriyle ilişkili özellikler için tasarlanmış, H-istatistiği de etkileşimlerin gücünü ölçüyor.
Sağdaki grup özellik önemi: PFI, LOFO ve SHAP önemi. Bunlar özellikleri sıralıyor, yandaki çubuklar gibi. Her yöntem önemi farklı tanımlıyor. Mesela LOFO özelliği tamamen çıkarıp modeli yeniden eğitiyor, bu yüzden özellik seçimiyle yakından ilişkili. Bu küçük grafikler sadece şematik, gerçek veri değil.
Ayrıca vekil modeller ve prototipler de bu gruba giriyor. Bir ipucu: Genel yöntemleri verinin alt kümelerine uygularsak "grup bazlı" ya da "bölgesel" yorumlar elde ederiz. Kitapta bunun örneklerini göreceğiz.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Üçüncü bölüm: modele özgü yöntemler. Bunlar da sonradan uygulanıyor, ama sadece belirli model türleri için çalışıyor. Ağaçta turuncu yol bu sefer sağ dala gidiyor. Kitap bu kısımda sinir ağlarına odaklanıyor.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Modele özgü yöntemlere örnek olarak rastgele ormanlardaki Gini önemini ya da lojistik regresyondaki odds oranlarını verebiliriz. Ama kitap bu kısımda sinir ağlarına odaklanıyor.
Neden sinir ağları? Çünkü tek bir tahmin milyonlarca çarpma içerebiliyor. Girdiden tahmine giden yolu elle takip etmemiz imkânsız. Öte yandan sinir ağları gizli katmanlarında özellikler ve kavramlar öğreniyor, bu yüzden yorumlamak için çok ilginç bir hedef. Gradyanları kullanarak verimli yöntemler de geliştirebiliyoruz.
Kitap beş soruyu ele alıyor: Ağ hangi özellikleri öğrendi? Her piksel tahmine nasıl katkı verdi, bunlara belirginlik haritası, yani saliency map deniyor. Ağ hangi kavramları öğrendi? Ağı nasıl yanıltabiliriz, yani çekişmeli örnekler. Ve hangi eğitim noktası tahmini en çok etkiledi?
Bir uyarı: Veri hakkında içgörü için bu yöntemler de tasarım gereği modellerle aynı sorunu yaşıyor. Modelin yorumunun veriyi yansıttığını göstermek için kuramsal bir gerekçeye ihtiyaç 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Şimdi her şeyi bir araya getirelim. Bu tablo bölümdeki değerlendirmeleri özetliyor. Satırlar yaklaşımlar, sütunlar hedefler: hata ayıklama, gerekçelendirme ve veri hakkında içgörü. Üç dolu nokta güçlü, iki nokta kısmen, turuncu tek nokta da dikkatli kullanılmalı demek.
Tasarım gereği modeller hata ayıklama ve gerekçelendirmede güçlü, ama veri içgörüsü için model yapısının dünyayı yansıttığını varsaymamız gerekiyor. Yerel yöntemler yakınlaştırılmış bir bakış sunuyor, gerekçelendirmedeki değerleri ise yönteme göre değişiyor. Genel yöntemler hata ayıklamada ve verideki mekanizmaları anlamada güçlü. Modele özgü yöntemler model hakkında çok şey söylüyor ama veri içgörüsü için yine kuramsal gerekçe istiyor.
Unutmayalım: Modelden bağımsız yorumlamanın değeri modelin performansına bağlı. Kötü bir modeli yorumlarsak kötü sonuçlar çıkarırız.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kategoriler çok düzenli görünüyor, ama gerçekte aralarındaki sınırlar bulanık. Kitap üç örnek veriyor.
Birincisi: Lojistik regresyon gerçekten tasarım gereği mi yorumlanabilir? Odds oranlarını okumak için katsayıları sonradan işlememiz gerekiyor. Olasılık düzeyinde yorum için de marjinal etkileri hesaplıyoruz, bu da aslında sonradan bir yöntem sayılabilir.
İkincisi: Boost edilmiş ağaçlar kara kutu kabul ediliyor. Ama azami ağaç derinliğini 1 yaparsak ağaç kütükleri elde ediyoruz ve sonuç genelleştirilmiş toplamsal modele çok benziyor.
Üçüncüsü: Doğrusal regresyonda her özellik değerini katsayısıyla çarpıp ortalama etkiyi çıkarırsak, normalde modelden bağımsız kabul edilen Shapley değerlerini hesaplamış oluyoruz.
Alttaki çizgi de bunu gösteriyor: Bu üç örnek iki uç arasında bir yerde duruyor.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Bölümün ana mesajı şu: Yorumlanabilirlik bulanık bir kavram. Bu belirsizliği kabul etmeliyiz, tek bir yaklaşıma fazla bağlanmamalıyız ve ihtiyacımıza göre yaklaşımları birleştirmeliyiz.
Sağda üç bölümün özeti var: Tasarım gereği modeller hata ayıklama ve gerekçelendirmede güçlü ama Rashomon etkisine dikkat etmek lazım. Modelden bağımsız yöntemler SIPA ilkesiyle çalışıyor ve model ile yöntem birbirinden bağımsız değiştirilebiliyor. Modele özgü yöntemler de sinir ağlarının ne öğrendiğini ortaya çıkarıyor.
Dinlediğiniz için teşekkür ederim. Sorularınız varsa memnuniyetle cevaplarım.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583680" cy="411480"/>
          </a:xfrm>
          <a:prstGeom prst="rect">
            <a:avLst/>
          </a:prstGeom>
          <a:noFill/>
          <a:ln/>
        </p:spPr>
        <p:txBody>
          <a:bodyPr wrap="square" rtlCol="0"/>
          <a:lstStyle>
            <a:lvl1pPr algn="l" indent="0" marL="0">
              <a:buNone/>
              <a:defRPr lang="en-US" sz="1400" b="1" spc="200" kern="0" dirty="0">
                <a:solidFill>
                  <a:schemeClr val="accent2"/>
                </a:solidFill>
              </a:defRPr>
            </a:lvl1pPr>
          </a:lstStyle>
          <a:p>
            <a:pPr algn="l" indent="0" marL="0">
              <a:buNone/>
            </a:pPr>
            <a:endParaRPr lang="en-US" sz="1400" dirty="0"/>
          </a:p>
        </p:txBody>
      </p:sp>
      <p:sp>
        <p:nvSpPr>
          <p:cNvPr id="3" name="Text 0"/>
          <p:cNvSpPr/>
          <p:nvPr>
            <p:ph idx="101" type="title" hasCustomPrompt="1"/>
          </p:nvPr>
        </p:nvSpPr>
        <p:spPr>
          <a:xfrm>
            <a:off x="731520" y="1874520"/>
            <a:ext cx="6583680" cy="1737360"/>
          </a:xfrm>
          <a:prstGeom prst="rect">
            <a:avLst/>
          </a:prstGeom>
          <a:noFill/>
          <a:ln/>
        </p:spPr>
        <p:txBody>
          <a:bodyPr wrap="square" rtlCol="0"/>
          <a:lstStyle>
            <a:lvl1pPr algn="l" indent="0" marL="0">
              <a:buNone/>
              <a:defRPr lang="en-US" sz="5200" b="1" dirty="0">
                <a:solidFill>
                  <a:schemeClr val="bg1"/>
                </a:solidFill>
                <a:latin typeface="Avenir" pitchFamily="34" charset="0"/>
                <a:ea typeface="Avenir" pitchFamily="34" charset="-122"/>
                <a:cs typeface="Avenir" pitchFamily="34" charset="-120"/>
              </a:defRPr>
            </a:lvl1pPr>
          </a:lstStyle>
          <a:p>
            <a:pPr algn="l" indent="0" marL="0">
              <a:buNone/>
            </a:pPr>
            <a:endParaRPr lang="en-US" sz="5200" dirty="0"/>
          </a:p>
        </p:txBody>
      </p:sp>
      <p:sp>
        <p:nvSpPr>
          <p:cNvPr id="4" name="Text 0"/>
          <p:cNvSpPr/>
          <p:nvPr>
            <p:ph idx="102" type="body" hasCustomPrompt="1"/>
          </p:nvPr>
        </p:nvSpPr>
        <p:spPr>
          <a:xfrm>
            <a:off x="731520" y="3611880"/>
            <a:ext cx="6400800" cy="100584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
        <p:nvSpPr>
          <p:cNvPr id="5" name="Text 0"/>
          <p:cNvSpPr/>
          <p:nvPr>
            <p:ph idx="103" type="body" hasCustomPrompt="1"/>
          </p:nvPr>
        </p:nvSpPr>
        <p:spPr>
          <a:xfrm>
            <a:off x="731520" y="5074920"/>
            <a:ext cx="6400800" cy="914400"/>
          </a:xfrm>
          <a:prstGeom prst="rect">
            <a:avLst/>
          </a:prstGeom>
          <a:noFill/>
          <a:ln/>
        </p:spPr>
        <p:txBody>
          <a:bodyPr wrap="square" rtlCol="0"/>
          <a:lstStyle>
            <a:lvl1pPr algn="l" indent="0" marL="0">
              <a:buNone/>
              <a:defRPr lang="en-US" sz="1400" dirty="0">
                <a:solidFill>
                  <a:schemeClr val="bg2"/>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3657600" cy="1463040"/>
          </a:xfrm>
          <a:prstGeom prst="rect">
            <a:avLst/>
          </a:prstGeom>
          <a:noFill/>
          <a:ln/>
        </p:spPr>
        <p:txBody>
          <a:bodyPr wrap="square" rtlCol="0"/>
          <a:lstStyle>
            <a:lvl1pPr algn="l" indent="0" marL="0">
              <a:buNone/>
              <a:defRPr lang="en-US" sz="9600" b="1" dirty="0">
                <a:solidFill>
                  <a:schemeClr val="accent2"/>
                </a:solidFill>
                <a:latin typeface="Avenir" pitchFamily="34" charset="0"/>
                <a:ea typeface="Avenir" pitchFamily="34" charset="-122"/>
                <a:cs typeface="Avenir" pitchFamily="34" charset="-120"/>
              </a:defRPr>
            </a:lvl1pPr>
          </a:lstStyle>
          <a:p>
            <a:pPr algn="l" indent="0" marL="0">
              <a:buNone/>
            </a:pPr>
            <a:endParaRPr lang="en-US" sz="9600" dirty="0"/>
          </a:p>
        </p:txBody>
      </p:sp>
      <p:sp>
        <p:nvSpPr>
          <p:cNvPr id="3" name="Text 0"/>
          <p:cNvSpPr/>
          <p:nvPr>
            <p:ph idx="101" type="title" hasCustomPrompt="1"/>
          </p:nvPr>
        </p:nvSpPr>
        <p:spPr>
          <a:xfrm>
            <a:off x="731520" y="3063240"/>
            <a:ext cx="10058400" cy="1005840"/>
          </a:xfrm>
          <a:prstGeom prst="rect">
            <a:avLst/>
          </a:prstGeom>
          <a:noFill/>
          <a:ln/>
        </p:spPr>
        <p:txBody>
          <a:bodyPr wrap="square" rtlCol="0"/>
          <a:lstStyle>
            <a:lvl1pPr algn="l" indent="0" marL="0">
              <a:buNone/>
              <a:defRPr lang="en-US" sz="4400" b="1" dirty="0">
                <a:solidFill>
                  <a:schemeClr val="bg1"/>
                </a:solidFill>
                <a:latin typeface="Avenir" pitchFamily="34" charset="0"/>
                <a:ea typeface="Avenir" pitchFamily="34" charset="-122"/>
                <a:cs typeface="Avenir" pitchFamily="34" charset="-120"/>
              </a:defRPr>
            </a:lvl1pPr>
          </a:lstStyle>
          <a:p>
            <a:pPr algn="l" indent="0" marL="0">
              <a:buNone/>
            </a:pPr>
            <a:endParaRPr lang="en-US" sz="4400" dirty="0"/>
          </a:p>
        </p:txBody>
      </p:sp>
      <p:sp>
        <p:nvSpPr>
          <p:cNvPr id="4" name="Text 0"/>
          <p:cNvSpPr/>
          <p:nvPr>
            <p:ph idx="102" type="body" hasCustomPrompt="1"/>
          </p:nvPr>
        </p:nvSpPr>
        <p:spPr>
          <a:xfrm>
            <a:off x="731520" y="4114800"/>
            <a:ext cx="9144000" cy="9144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914400"/>
            <a:ext cx="6583680" cy="411480"/>
          </a:xfrm>
          <a:prstGeom prst="rect">
            <a:avLst/>
          </a:prstGeom>
          <a:noFill/>
          <a:ln/>
        </p:spPr>
        <p:txBody>
          <a:bodyPr wrap="square" rtlCol="0"/>
          <a:lstStyle>
            <a:lvl1pPr algn="l" indent="0" marL="0">
              <a:buNone/>
              <a:defRPr lang="en-US" sz="1400" b="1" spc="200" kern="0" dirty="0">
                <a:solidFill>
                  <a:schemeClr val="accent2"/>
                </a:solidFill>
              </a:defRPr>
            </a:lvl1pPr>
          </a:lstStyle>
          <a:p>
            <a:pPr algn="l" indent="0" marL="0">
              <a:buNone/>
            </a:pPr>
            <a:endParaRPr lang="en-US" sz="1400" dirty="0"/>
          </a:p>
        </p:txBody>
      </p:sp>
      <p:sp>
        <p:nvSpPr>
          <p:cNvPr id="3" name="Text 0"/>
          <p:cNvSpPr/>
          <p:nvPr>
            <p:ph idx="101" type="title" hasCustomPrompt="1"/>
          </p:nvPr>
        </p:nvSpPr>
        <p:spPr>
          <a:xfrm>
            <a:off x="731520" y="1417320"/>
            <a:ext cx="6583680" cy="1828800"/>
          </a:xfrm>
          <a:prstGeom prst="rect">
            <a:avLst/>
          </a:prstGeom>
          <a:noFill/>
          <a:ln/>
        </p:spPr>
        <p:txBody>
          <a:bodyPr wrap="square" rtlCol="0"/>
          <a:lstStyle>
            <a:lvl1pPr algn="l" indent="0" marL="0">
              <a:buNone/>
              <a:defRPr lang="en-US" sz="4000" b="1" dirty="0">
                <a:solidFill>
                  <a:schemeClr val="bg1"/>
                </a:solidFill>
                <a:latin typeface="Avenir" pitchFamily="34" charset="0"/>
                <a:ea typeface="Avenir" pitchFamily="34" charset="-122"/>
                <a:cs typeface="Avenir" pitchFamily="34" charset="-120"/>
              </a:defRPr>
            </a:lvl1pPr>
          </a:lstStyle>
          <a:p>
            <a:pPr algn="l" indent="0" marL="0">
              <a:buNone/>
            </a:pPr>
            <a:endParaRPr lang="en-US" sz="4000" dirty="0"/>
          </a:p>
        </p:txBody>
      </p:sp>
      <p:sp>
        <p:nvSpPr>
          <p:cNvPr id="4" name="Text 0"/>
          <p:cNvSpPr/>
          <p:nvPr>
            <p:ph idx="102" type="body" hasCustomPrompt="1"/>
          </p:nvPr>
        </p:nvSpPr>
        <p:spPr>
          <a:xfrm>
            <a:off x="731520" y="3017520"/>
            <a:ext cx="6400800" cy="13716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
        <p:nvSpPr>
          <p:cNvPr id="5" name="Text 0"/>
          <p:cNvSpPr/>
          <p:nvPr>
            <p:ph idx="103" type="body" hasCustomPrompt="1"/>
          </p:nvPr>
        </p:nvSpPr>
        <p:spPr>
          <a:xfrm>
            <a:off x="731520" y="5074920"/>
            <a:ext cx="6400800" cy="914400"/>
          </a:xfrm>
          <a:prstGeom prst="rect">
            <a:avLst/>
          </a:prstGeom>
          <a:noFill/>
          <a:ln/>
        </p:spPr>
        <p:txBody>
          <a:bodyPr wrap="square" rtlCol="0"/>
          <a:lstStyle>
            <a:lvl1pPr algn="l" indent="0" marL="0">
              <a:buNone/>
              <a:defRPr lang="en-US" sz="1400" dirty="0">
                <a:solidFill>
                  <a:schemeClr val="bg2"/>
                </a:solidFill>
              </a:defRPr>
            </a:lvl1pPr>
          </a:lstStyle>
          <a:p>
            <a:pPr algn="l" indent="0" marL="0">
              <a:buNone/>
            </a:pPr>
            <a:endParaRPr lang="en-US" sz="1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5852160" cy="292608"/>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rtlCol="0"/>
          <a:lstStyle>
            <a:lvl1pPr algn="l" indent="0" marL="0">
              <a:buNone/>
              <a:defRPr lang="en-US" sz="3200" b="1" dirty="0">
                <a:solidFill>
                  <a:schemeClr val="tx2"/>
                </a:solidFill>
                <a:latin typeface="Avenir" pitchFamily="34" charset="0"/>
                <a:ea typeface="Avenir" pitchFamily="34" charset="-122"/>
                <a:cs typeface="Avenir" pitchFamily="34" charset="-120"/>
              </a:defRPr>
            </a:lvl1pPr>
          </a:lstStyle>
          <a:p>
            <a:pPr algn="l" indent="0" marL="0">
              <a:buNone/>
            </a:pPr>
            <a:endParaRPr lang="en-US" sz="32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tx2"/>
                </a:solidFill>
              </a:rPr>
              <a:t>Chapter 4 · Methods Overview · Asasira Martin</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5.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5.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5.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5.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5.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5.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5.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5.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583680" cy="411480"/>
          </a:xfrm>
          <a:prstGeom prst="rect">
            <a:avLst/>
          </a:prstGeom>
          <a:noFill/>
          <a:ln/>
        </p:spPr>
        <p:txBody>
          <a:bodyPr wrap="square" lIns="0" tIns="0" rIns="0" bIns="0" rtlCol="0" anchor="b"/>
          <a:lstStyle/>
          <a:p>
            <a:pPr algn="l" indent="0" marL="0">
              <a:buNone/>
            </a:pPr>
            <a:r>
              <a:rPr lang="en-US" sz="1400" b="1" spc="200" kern="0" dirty="0">
                <a:solidFill>
                  <a:schemeClr val="accent2"/>
                </a:solidFill>
              </a:rPr>
              <a:t>CHAPTER 4 · INTERPRETABLE MACHINE LEARNING</a:t>
            </a:r>
            <a:endParaRPr lang="en-US" sz="1400" dirty="0"/>
          </a:p>
        </p:txBody>
      </p:sp>
      <p:sp>
        <p:nvSpPr>
          <p:cNvPr id="3" name="Text 0"/>
          <p:cNvSpPr/>
          <p:nvPr>
            <p:ph idx="101" type="title" hasCustomPrompt="1"/>
          </p:nvPr>
        </p:nvSpPr>
        <p:spPr>
          <a:xfrm>
            <a:off x="731520" y="1874520"/>
            <a:ext cx="6583680" cy="1737360"/>
          </a:xfrm>
          <a:prstGeom prst="rect">
            <a:avLst/>
          </a:prstGeom>
          <a:noFill/>
          <a:ln/>
        </p:spPr>
        <p:txBody>
          <a:bodyPr wrap="square" lIns="0" tIns="0" rIns="0" bIns="0" rtlCol="0" anchor="t"/>
          <a:lstStyle/>
          <a:p>
            <a:pPr algn="l" indent="0" marL="0">
              <a:buNone/>
            </a:pPr>
            <a:r>
              <a:rPr lang="en-US" sz="5200" b="1" dirty="0">
                <a:solidFill>
                  <a:schemeClr val="bg1"/>
                </a:solidFill>
                <a:latin typeface="Avenir" pitchFamily="34" charset="0"/>
                <a:ea typeface="Avenir" pitchFamily="34" charset="-122"/>
                <a:cs typeface="Avenir" pitchFamily="34" charset="-120"/>
              </a:rPr>
              <a:t>Methods Overview</a:t>
            </a:r>
            <a:endParaRPr lang="en-US" sz="5200" dirty="0"/>
          </a:p>
        </p:txBody>
      </p:sp>
      <p:sp>
        <p:nvSpPr>
          <p:cNvPr id="4" name="Text 0"/>
          <p:cNvSpPr/>
          <p:nvPr>
            <p:ph idx="102" type="body" hasCustomPrompt="1"/>
          </p:nvPr>
        </p:nvSpPr>
        <p:spPr>
          <a:xfrm>
            <a:off x="731520" y="3611880"/>
            <a:ext cx="6400800" cy="1005840"/>
          </a:xfrm>
          <a:prstGeom prst="rect">
            <a:avLst/>
          </a:prstGeom>
          <a:noFill/>
          <a:ln/>
        </p:spPr>
        <p:txBody>
          <a:bodyPr wrap="square" lIns="0" tIns="0" rIns="0" bIns="0" rtlCol="0" anchor="t"/>
          <a:lstStyle/>
          <a:p>
            <a:pPr algn="l" indent="0" marL="0">
              <a:buNone/>
            </a:pPr>
            <a:r>
              <a:rPr lang="en-US" sz="2200" dirty="0">
                <a:solidFill>
                  <a:schemeClr val="bg2"/>
                </a:solidFill>
              </a:rPr>
              <a:t>A roadmap of interpretability methods</a:t>
            </a:r>
            <a:endParaRPr lang="en-US" sz="2200" dirty="0"/>
          </a:p>
        </p:txBody>
      </p:sp>
      <p:sp>
        <p:nvSpPr>
          <p:cNvPr id="5" name="Text 0"/>
          <p:cNvSpPr/>
          <p:nvPr>
            <p:ph idx="103" type="body" hasCustomPrompt="1"/>
          </p:nvPr>
        </p:nvSpPr>
        <p:spPr>
          <a:xfrm>
            <a:off x="731520" y="5074920"/>
            <a:ext cx="6400800" cy="914400"/>
          </a:xfrm>
          <a:prstGeom prst="rect">
            <a:avLst/>
          </a:prstGeom>
          <a:noFill/>
          <a:ln/>
        </p:spPr>
        <p:txBody>
          <a:bodyPr wrap="square" lIns="0" tIns="0" rIns="0" bIns="0" rtlCol="0" anchor="t"/>
          <a:lstStyle/>
          <a:p>
            <a:pPr algn="l" indent="0" marL="0">
              <a:buNone/>
            </a:pPr>
            <a:r>
              <a:rPr lang="en-US" sz="1400" b="1" dirty="0">
                <a:solidFill>
                  <a:schemeClr val="bg2"/>
                </a:solidFill>
              </a:rPr>
              <a:t>Asasira Martin</a:t>
            </a:r>
            <a:endParaRPr lang="en-US" sz="1400" dirty="0"/>
          </a:p>
          <a:p>
            <a:pPr algn="l" indent="0" marL="0">
              <a:buNone/>
            </a:pPr>
            <a:r>
              <a:rPr lang="en-US" sz="1400" dirty="0">
                <a:solidFill>
                  <a:schemeClr val="bg2"/>
                </a:solidFill>
              </a:rPr>
              <a:t>Source: C. Molnar, Interpretable Machine Learning, 3rd ed. (2025)</a:t>
            </a:r>
            <a:endParaRPr lang="en-US" sz="1400" dirty="0"/>
          </a:p>
        </p:txBody>
      </p:sp>
      <p:sp>
        <p:nvSpPr>
          <p:cNvPr id="6" name="cover-card-1"/>
          <p:cNvSpPr/>
          <p:nvPr/>
        </p:nvSpPr>
        <p:spPr>
          <a:xfrm>
            <a:off x="7818120" y="777240"/>
            <a:ext cx="3794760" cy="5303520"/>
          </a:xfrm>
          <a:prstGeom prst="roundRect">
            <a:avLst>
              <a:gd name="adj" fmla="val 3614"/>
            </a:avLst>
          </a:prstGeom>
          <a:solidFill>
            <a:schemeClr val="bg1"/>
          </a:solidFill>
          <a:ln/>
        </p:spPr>
      </p:sp>
      <p:pic>
        <p:nvPicPr>
          <p:cNvPr id="7" name="cover-figure" descr="Layers from the world to data, model, interpretability methods and humans">    </p:cNvPr>
          <p:cNvPicPr>
            <a:picLocks noChangeAspect="1"/>
          </p:cNvPicPr>
          <p:nvPr/>
        </p:nvPicPr>
        <p:blipFill>
          <a:blip r:embed="rId1"/>
          <a:stretch>
            <a:fillRect/>
          </a:stretch>
        </p:blipFill>
        <p:spPr>
          <a:xfrm>
            <a:off x="8001000" y="914400"/>
            <a:ext cx="3429000" cy="3831336"/>
          </a:xfrm>
          <a:prstGeom prst="rect">
            <a:avLst/>
          </a:prstGeom>
        </p:spPr>
      </p:pic>
      <p:sp>
        <p:nvSpPr>
          <p:cNvPr id="8" name="text-2"/>
          <p:cNvSpPr txBox="1"/>
          <p:nvPr/>
        </p:nvSpPr>
        <p:spPr>
          <a:xfrm>
            <a:off x="8046720" y="4892040"/>
            <a:ext cx="3337560" cy="640080"/>
          </a:xfrm>
          <a:prstGeom prst="rect">
            <a:avLst/>
          </a:prstGeom>
          <a:noFill/>
          <a:ln/>
        </p:spPr>
        <p:txBody>
          <a:bodyPr wrap="square" lIns="0" tIns="0" rIns="0" bIns="0" rtlCol="0" anchor="ctr"/>
          <a:lstStyle/>
          <a:p>
            <a:pPr algn="ctr" indent="0" marL="0">
              <a:buNone/>
            </a:pPr>
            <a:r>
              <a:rPr lang="en-US" sz="1200" i="1" dirty="0">
                <a:solidFill>
                  <a:schemeClr val="tx2"/>
                </a:solidFill>
              </a:rPr>
              <a:t>World → data → model → interpretability methods → humans</a:t>
            </a:r>
            <a:endParaRPr lang="en-US" sz="1200" dirty="0"/>
          </a:p>
        </p:txBody>
      </p:sp>
      <p:sp>
        <p:nvSpPr>
          <p:cNvPr id="9" name="text-3"/>
          <p:cNvSpPr txBox="1"/>
          <p:nvPr/>
        </p:nvSpPr>
        <p:spPr>
          <a:xfrm>
            <a:off x="8046720" y="5532120"/>
            <a:ext cx="3337560" cy="274320"/>
          </a:xfrm>
          <a:prstGeom prst="rect">
            <a:avLst/>
          </a:prstGeom>
          <a:noFill/>
          <a:ln/>
        </p:spPr>
        <p:txBody>
          <a:bodyPr wrap="square" lIns="0" tIns="0" rIns="0" bIns="0" rtlCol="0" anchor="t"/>
          <a:lstStyle/>
          <a:p>
            <a:pPr algn="ctr" indent="0" marL="0">
              <a:buNone/>
            </a:pPr>
            <a:r>
              <a:rPr lang="en-US" sz="1000" dirty="0">
                <a:solidFill>
                  <a:schemeClr val="tx2"/>
                </a:solidFill>
              </a:rPr>
              <a:t>Figure: Molnar (2025)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5852160" cy="292608"/>
          </a:xfrm>
          <a:prstGeom prst="rect">
            <a:avLst/>
          </a:prstGeom>
          <a:noFill/>
          <a:ln/>
        </p:spPr>
        <p:txBody>
          <a:bodyPr wrap="square" lIns="0" tIns="0" rIns="0" bIns="0" rtlCol="0" anchor="b"/>
          <a:lstStyle/>
          <a:p>
            <a:pPr algn="l" indent="0" marL="0">
              <a:buNone/>
            </a:pPr>
            <a:r>
              <a:rPr lang="en-US" sz="1200" b="1" spc="200" kern="0" dirty="0">
                <a:solidFill>
                  <a:schemeClr val="accent1"/>
                </a:solidFill>
              </a:rPr>
              <a:t>ROADMAP</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200" b="1" dirty="0">
                <a:solidFill>
                  <a:schemeClr val="tx2"/>
                </a:solidFill>
                <a:latin typeface="Avenir" pitchFamily="34" charset="0"/>
                <a:ea typeface="Avenir" pitchFamily="34" charset="-122"/>
                <a:cs typeface="Avenir" pitchFamily="34" charset="-120"/>
              </a:rPr>
              <a:t>Interpretability splits into two main paths</a:t>
            </a:r>
            <a:endParaRPr lang="en-US" sz="3200" dirty="0"/>
          </a:p>
        </p:txBody>
      </p:sp>
      <p:sp>
        <p:nvSpPr>
          <p:cNvPr id="4" name="line-4"/>
          <p:cNvSpPr/>
          <p:nvPr/>
        </p:nvSpPr>
        <p:spPr>
          <a:xfrm>
            <a:off x="4023360" y="2295144"/>
            <a:ext cx="0" cy="292608"/>
          </a:xfrm>
          <a:prstGeom prst="line">
            <a:avLst/>
          </a:prstGeom>
          <a:noFill/>
          <a:ln w="15875">
            <a:solidFill>
              <a:srgbClr val="9DB7C2"/>
            </a:solidFill>
            <a:prstDash val="solid"/>
          </a:ln>
        </p:spPr>
      </p:sp>
      <p:sp>
        <p:nvSpPr>
          <p:cNvPr id="5" name="line-5"/>
          <p:cNvSpPr/>
          <p:nvPr/>
        </p:nvSpPr>
        <p:spPr>
          <a:xfrm flipH="1">
            <a:off x="1828800" y="2587752"/>
            <a:ext cx="2194560" cy="0"/>
          </a:xfrm>
          <a:prstGeom prst="line">
            <a:avLst/>
          </a:prstGeom>
          <a:noFill/>
          <a:ln w="15875">
            <a:solidFill>
              <a:srgbClr val="9DB7C2"/>
            </a:solidFill>
            <a:prstDash val="solid"/>
          </a:ln>
        </p:spPr>
      </p:sp>
      <p:sp>
        <p:nvSpPr>
          <p:cNvPr id="6" name="line-6"/>
          <p:cNvSpPr/>
          <p:nvPr/>
        </p:nvSpPr>
        <p:spPr>
          <a:xfrm>
            <a:off x="1828800" y="2587752"/>
            <a:ext cx="0" cy="292608"/>
          </a:xfrm>
          <a:prstGeom prst="line">
            <a:avLst/>
          </a:prstGeom>
          <a:noFill/>
          <a:ln w="15875">
            <a:solidFill>
              <a:srgbClr val="9DB7C2"/>
            </a:solidFill>
            <a:prstDash val="solid"/>
            <a:tailEnd type="triangle"/>
          </a:ln>
        </p:spPr>
      </p:sp>
      <p:sp>
        <p:nvSpPr>
          <p:cNvPr id="7" name="line-7"/>
          <p:cNvSpPr/>
          <p:nvPr/>
        </p:nvSpPr>
        <p:spPr>
          <a:xfrm>
            <a:off x="4023360" y="2295144"/>
            <a:ext cx="0" cy="292608"/>
          </a:xfrm>
          <a:prstGeom prst="line">
            <a:avLst/>
          </a:prstGeom>
          <a:noFill/>
          <a:ln w="15875">
            <a:solidFill>
              <a:srgbClr val="9DB7C2"/>
            </a:solidFill>
            <a:prstDash val="solid"/>
          </a:ln>
        </p:spPr>
      </p:sp>
      <p:sp>
        <p:nvSpPr>
          <p:cNvPr id="8" name="line-8"/>
          <p:cNvSpPr/>
          <p:nvPr/>
        </p:nvSpPr>
        <p:spPr>
          <a:xfrm>
            <a:off x="4023360" y="2587752"/>
            <a:ext cx="1463040" cy="0"/>
          </a:xfrm>
          <a:prstGeom prst="line">
            <a:avLst/>
          </a:prstGeom>
          <a:noFill/>
          <a:ln w="15875">
            <a:solidFill>
              <a:srgbClr val="9DB7C2"/>
            </a:solidFill>
            <a:prstDash val="solid"/>
          </a:ln>
        </p:spPr>
      </p:sp>
      <p:sp>
        <p:nvSpPr>
          <p:cNvPr id="9" name="line-9"/>
          <p:cNvSpPr/>
          <p:nvPr/>
        </p:nvSpPr>
        <p:spPr>
          <a:xfrm>
            <a:off x="5486400" y="2587752"/>
            <a:ext cx="0" cy="292608"/>
          </a:xfrm>
          <a:prstGeom prst="line">
            <a:avLst/>
          </a:prstGeom>
          <a:noFill/>
          <a:ln w="15875">
            <a:solidFill>
              <a:srgbClr val="9DB7C2"/>
            </a:solidFill>
            <a:prstDash val="solid"/>
            <a:tailEnd type="triangle"/>
          </a:ln>
        </p:spPr>
      </p:sp>
      <p:sp>
        <p:nvSpPr>
          <p:cNvPr id="10" name="line-10"/>
          <p:cNvSpPr/>
          <p:nvPr/>
        </p:nvSpPr>
        <p:spPr>
          <a:xfrm>
            <a:off x="5486400" y="3483864"/>
            <a:ext cx="0" cy="292608"/>
          </a:xfrm>
          <a:prstGeom prst="line">
            <a:avLst/>
          </a:prstGeom>
          <a:noFill/>
          <a:ln w="15875">
            <a:solidFill>
              <a:srgbClr val="9DB7C2"/>
            </a:solidFill>
            <a:prstDash val="solid"/>
          </a:ln>
        </p:spPr>
      </p:sp>
      <p:sp>
        <p:nvSpPr>
          <p:cNvPr id="11" name="line-11"/>
          <p:cNvSpPr/>
          <p:nvPr/>
        </p:nvSpPr>
        <p:spPr>
          <a:xfrm flipH="1">
            <a:off x="4206240" y="3776472"/>
            <a:ext cx="1280160" cy="0"/>
          </a:xfrm>
          <a:prstGeom prst="line">
            <a:avLst/>
          </a:prstGeom>
          <a:noFill/>
          <a:ln w="15875">
            <a:solidFill>
              <a:srgbClr val="9DB7C2"/>
            </a:solidFill>
            <a:prstDash val="solid"/>
          </a:ln>
        </p:spPr>
      </p:sp>
      <p:sp>
        <p:nvSpPr>
          <p:cNvPr id="12" name="line-12"/>
          <p:cNvSpPr/>
          <p:nvPr/>
        </p:nvSpPr>
        <p:spPr>
          <a:xfrm>
            <a:off x="4206240" y="3776472"/>
            <a:ext cx="0" cy="292608"/>
          </a:xfrm>
          <a:prstGeom prst="line">
            <a:avLst/>
          </a:prstGeom>
          <a:noFill/>
          <a:ln w="15875">
            <a:solidFill>
              <a:srgbClr val="9DB7C2"/>
            </a:solidFill>
            <a:prstDash val="solid"/>
            <a:tailEnd type="triangle"/>
          </a:ln>
        </p:spPr>
      </p:sp>
      <p:sp>
        <p:nvSpPr>
          <p:cNvPr id="13" name="line-13"/>
          <p:cNvSpPr/>
          <p:nvPr/>
        </p:nvSpPr>
        <p:spPr>
          <a:xfrm>
            <a:off x="5486400" y="3483864"/>
            <a:ext cx="0" cy="292608"/>
          </a:xfrm>
          <a:prstGeom prst="line">
            <a:avLst/>
          </a:prstGeom>
          <a:noFill/>
          <a:ln w="15875">
            <a:solidFill>
              <a:srgbClr val="9DB7C2"/>
            </a:solidFill>
            <a:prstDash val="solid"/>
          </a:ln>
        </p:spPr>
      </p:sp>
      <p:sp>
        <p:nvSpPr>
          <p:cNvPr id="14" name="line-14"/>
          <p:cNvSpPr/>
          <p:nvPr/>
        </p:nvSpPr>
        <p:spPr>
          <a:xfrm>
            <a:off x="5486400" y="3776472"/>
            <a:ext cx="1188720" cy="0"/>
          </a:xfrm>
          <a:prstGeom prst="line">
            <a:avLst/>
          </a:prstGeom>
          <a:noFill/>
          <a:ln w="15875">
            <a:solidFill>
              <a:srgbClr val="9DB7C2"/>
            </a:solidFill>
            <a:prstDash val="solid"/>
          </a:ln>
        </p:spPr>
      </p:sp>
      <p:sp>
        <p:nvSpPr>
          <p:cNvPr id="15" name="line-15"/>
          <p:cNvSpPr/>
          <p:nvPr/>
        </p:nvSpPr>
        <p:spPr>
          <a:xfrm>
            <a:off x="6675120" y="3776472"/>
            <a:ext cx="0" cy="292608"/>
          </a:xfrm>
          <a:prstGeom prst="line">
            <a:avLst/>
          </a:prstGeom>
          <a:noFill/>
          <a:ln w="15875">
            <a:solidFill>
              <a:srgbClr val="9DB7C2"/>
            </a:solidFill>
            <a:prstDash val="solid"/>
            <a:tailEnd type="triangle"/>
          </a:ln>
        </p:spPr>
      </p:sp>
      <p:sp>
        <p:nvSpPr>
          <p:cNvPr id="16" name="line-16"/>
          <p:cNvSpPr/>
          <p:nvPr/>
        </p:nvSpPr>
        <p:spPr>
          <a:xfrm>
            <a:off x="4206240" y="4672584"/>
            <a:ext cx="0" cy="292608"/>
          </a:xfrm>
          <a:prstGeom prst="line">
            <a:avLst/>
          </a:prstGeom>
          <a:noFill/>
          <a:ln w="15875">
            <a:solidFill>
              <a:srgbClr val="9DB7C2"/>
            </a:solidFill>
            <a:prstDash val="solid"/>
          </a:ln>
        </p:spPr>
      </p:sp>
      <p:sp>
        <p:nvSpPr>
          <p:cNvPr id="17" name="line-17"/>
          <p:cNvSpPr/>
          <p:nvPr/>
        </p:nvSpPr>
        <p:spPr>
          <a:xfrm flipH="1">
            <a:off x="3246120" y="4965192"/>
            <a:ext cx="960120" cy="0"/>
          </a:xfrm>
          <a:prstGeom prst="line">
            <a:avLst/>
          </a:prstGeom>
          <a:noFill/>
          <a:ln w="15875">
            <a:solidFill>
              <a:srgbClr val="9DB7C2"/>
            </a:solidFill>
            <a:prstDash val="solid"/>
          </a:ln>
        </p:spPr>
      </p:sp>
      <p:sp>
        <p:nvSpPr>
          <p:cNvPr id="18" name="line-18"/>
          <p:cNvSpPr/>
          <p:nvPr/>
        </p:nvSpPr>
        <p:spPr>
          <a:xfrm>
            <a:off x="3246120" y="4965192"/>
            <a:ext cx="0" cy="292608"/>
          </a:xfrm>
          <a:prstGeom prst="line">
            <a:avLst/>
          </a:prstGeom>
          <a:noFill/>
          <a:ln w="15875">
            <a:solidFill>
              <a:srgbClr val="9DB7C2"/>
            </a:solidFill>
            <a:prstDash val="solid"/>
            <a:tailEnd type="triangle"/>
          </a:ln>
        </p:spPr>
      </p:sp>
      <p:sp>
        <p:nvSpPr>
          <p:cNvPr id="19" name="line-19"/>
          <p:cNvSpPr/>
          <p:nvPr/>
        </p:nvSpPr>
        <p:spPr>
          <a:xfrm>
            <a:off x="4206240" y="4672584"/>
            <a:ext cx="0" cy="292608"/>
          </a:xfrm>
          <a:prstGeom prst="line">
            <a:avLst/>
          </a:prstGeom>
          <a:noFill/>
          <a:ln w="15875">
            <a:solidFill>
              <a:srgbClr val="9DB7C2"/>
            </a:solidFill>
            <a:prstDash val="solid"/>
          </a:ln>
        </p:spPr>
      </p:sp>
      <p:sp>
        <p:nvSpPr>
          <p:cNvPr id="20" name="line-20"/>
          <p:cNvSpPr/>
          <p:nvPr/>
        </p:nvSpPr>
        <p:spPr>
          <a:xfrm>
            <a:off x="4206240" y="4965192"/>
            <a:ext cx="960120" cy="0"/>
          </a:xfrm>
          <a:prstGeom prst="line">
            <a:avLst/>
          </a:prstGeom>
          <a:noFill/>
          <a:ln w="15875">
            <a:solidFill>
              <a:srgbClr val="9DB7C2"/>
            </a:solidFill>
            <a:prstDash val="solid"/>
          </a:ln>
        </p:spPr>
      </p:sp>
      <p:sp>
        <p:nvSpPr>
          <p:cNvPr id="21" name="line-21"/>
          <p:cNvSpPr/>
          <p:nvPr/>
        </p:nvSpPr>
        <p:spPr>
          <a:xfrm>
            <a:off x="5166360" y="4965192"/>
            <a:ext cx="0" cy="292608"/>
          </a:xfrm>
          <a:prstGeom prst="line">
            <a:avLst/>
          </a:prstGeom>
          <a:noFill/>
          <a:ln w="15875">
            <a:solidFill>
              <a:srgbClr val="9DB7C2"/>
            </a:solidFill>
            <a:prstDash val="solid"/>
            <a:tailEnd type="triangle"/>
          </a:ln>
        </p:spPr>
      </p:sp>
      <p:sp>
        <p:nvSpPr>
          <p:cNvPr id="22" name="tax-box-22"/>
          <p:cNvSpPr/>
          <p:nvPr/>
        </p:nvSpPr>
        <p:spPr>
          <a:xfrm>
            <a:off x="2651760" y="1691640"/>
            <a:ext cx="2743200" cy="603504"/>
          </a:xfrm>
          <a:prstGeom prst="roundRect">
            <a:avLst>
              <a:gd name="adj" fmla="val 15152"/>
            </a:avLst>
          </a:prstGeom>
          <a:solidFill>
            <a:schemeClr val="tx2"/>
          </a:solidFill>
          <a:ln/>
        </p:spPr>
      </p:sp>
      <p:sp>
        <p:nvSpPr>
          <p:cNvPr id="23" name="tax-label-23"/>
          <p:cNvSpPr txBox="1"/>
          <p:nvPr/>
        </p:nvSpPr>
        <p:spPr>
          <a:xfrm>
            <a:off x="2651760" y="1691640"/>
            <a:ext cx="2743200" cy="603504"/>
          </a:xfrm>
          <a:prstGeom prst="rect">
            <a:avLst/>
          </a:prstGeom>
          <a:noFill/>
          <a:ln/>
        </p:spPr>
        <p:txBody>
          <a:bodyPr wrap="square" lIns="0" tIns="0" rIns="0" bIns="0" rtlCol="0" anchor="ctr"/>
          <a:lstStyle/>
          <a:p>
            <a:pPr algn="ctr" indent="0" marL="0">
              <a:buNone/>
            </a:pPr>
            <a:r>
              <a:rPr lang="en-US" sz="1600" b="1" dirty="0">
                <a:solidFill>
                  <a:schemeClr val="bg1"/>
                </a:solidFill>
              </a:rPr>
              <a:t>ML interpretability</a:t>
            </a:r>
            <a:endParaRPr lang="en-US" sz="1600" dirty="0"/>
          </a:p>
        </p:txBody>
      </p:sp>
      <p:sp>
        <p:nvSpPr>
          <p:cNvPr id="24" name="tax-box-24"/>
          <p:cNvSpPr/>
          <p:nvPr/>
        </p:nvSpPr>
        <p:spPr>
          <a:xfrm>
            <a:off x="640080" y="2880360"/>
            <a:ext cx="2377440" cy="603504"/>
          </a:xfrm>
          <a:prstGeom prst="roundRect">
            <a:avLst>
              <a:gd name="adj" fmla="val 15152"/>
            </a:avLst>
          </a:prstGeom>
          <a:solidFill>
            <a:schemeClr val="accent1"/>
          </a:solidFill>
          <a:ln/>
        </p:spPr>
      </p:sp>
      <p:sp>
        <p:nvSpPr>
          <p:cNvPr id="25" name="tax-label-25"/>
          <p:cNvSpPr txBox="1"/>
          <p:nvPr/>
        </p:nvSpPr>
        <p:spPr>
          <a:xfrm>
            <a:off x="640080" y="2880360"/>
            <a:ext cx="2377440" cy="603504"/>
          </a:xfrm>
          <a:prstGeom prst="rect">
            <a:avLst/>
          </a:prstGeom>
          <a:noFill/>
          <a:ln/>
        </p:spPr>
        <p:txBody>
          <a:bodyPr wrap="square" lIns="0" tIns="0" rIns="0" bIns="0" rtlCol="0" anchor="ctr"/>
          <a:lstStyle/>
          <a:p>
            <a:pPr algn="ctr" indent="0" marL="0">
              <a:buNone/>
            </a:pPr>
            <a:r>
              <a:rPr lang="en-US" sz="1600" b="1" dirty="0">
                <a:solidFill>
                  <a:schemeClr val="bg1"/>
                </a:solidFill>
              </a:rPr>
              <a:t>By design</a:t>
            </a:r>
            <a:endParaRPr lang="en-US" sz="1600" dirty="0"/>
          </a:p>
        </p:txBody>
      </p:sp>
      <p:sp>
        <p:nvSpPr>
          <p:cNvPr id="26" name="tax-box-26"/>
          <p:cNvSpPr/>
          <p:nvPr/>
        </p:nvSpPr>
        <p:spPr>
          <a:xfrm>
            <a:off x="4297680" y="2880360"/>
            <a:ext cx="2377440" cy="603504"/>
          </a:xfrm>
          <a:prstGeom prst="roundRect">
            <a:avLst>
              <a:gd name="adj" fmla="val 15152"/>
            </a:avLst>
          </a:prstGeom>
          <a:solidFill>
            <a:schemeClr val="accent1"/>
          </a:solidFill>
          <a:ln/>
        </p:spPr>
      </p:sp>
      <p:sp>
        <p:nvSpPr>
          <p:cNvPr id="27" name="tax-label-27"/>
          <p:cNvSpPr txBox="1"/>
          <p:nvPr/>
        </p:nvSpPr>
        <p:spPr>
          <a:xfrm>
            <a:off x="4297680" y="2880360"/>
            <a:ext cx="2377440" cy="603504"/>
          </a:xfrm>
          <a:prstGeom prst="rect">
            <a:avLst/>
          </a:prstGeom>
          <a:noFill/>
          <a:ln/>
        </p:spPr>
        <p:txBody>
          <a:bodyPr wrap="square" lIns="0" tIns="0" rIns="0" bIns="0" rtlCol="0" anchor="ctr"/>
          <a:lstStyle/>
          <a:p>
            <a:pPr algn="ctr" indent="0" marL="0">
              <a:buNone/>
            </a:pPr>
            <a:r>
              <a:rPr lang="en-US" sz="1600" b="1" dirty="0">
                <a:solidFill>
                  <a:schemeClr val="bg1"/>
                </a:solidFill>
              </a:rPr>
              <a:t>Post-hoc</a:t>
            </a:r>
            <a:endParaRPr lang="en-US" sz="1600" dirty="0"/>
          </a:p>
        </p:txBody>
      </p:sp>
      <p:sp>
        <p:nvSpPr>
          <p:cNvPr id="28" name="tax-box-28"/>
          <p:cNvSpPr/>
          <p:nvPr/>
        </p:nvSpPr>
        <p:spPr>
          <a:xfrm>
            <a:off x="3017520" y="4069080"/>
            <a:ext cx="2377440" cy="603504"/>
          </a:xfrm>
          <a:prstGeom prst="roundRect">
            <a:avLst>
              <a:gd name="adj" fmla="val 15152"/>
            </a:avLst>
          </a:prstGeom>
          <a:solidFill>
            <a:schemeClr val="bg2"/>
          </a:solidFill>
          <a:ln/>
        </p:spPr>
      </p:sp>
      <p:sp>
        <p:nvSpPr>
          <p:cNvPr id="29" name="tax-label-29"/>
          <p:cNvSpPr txBox="1"/>
          <p:nvPr/>
        </p:nvSpPr>
        <p:spPr>
          <a:xfrm>
            <a:off x="3017520" y="4069080"/>
            <a:ext cx="2377440" cy="603504"/>
          </a:xfrm>
          <a:prstGeom prst="rect">
            <a:avLst/>
          </a:prstGeom>
          <a:noFill/>
          <a:ln/>
        </p:spPr>
        <p:txBody>
          <a:bodyPr wrap="square" lIns="0" tIns="0" rIns="0" bIns="0" rtlCol="0" anchor="ctr"/>
          <a:lstStyle/>
          <a:p>
            <a:pPr algn="ctr" indent="0" marL="0">
              <a:buNone/>
            </a:pPr>
            <a:r>
              <a:rPr lang="en-US" sz="1600" b="1" dirty="0">
                <a:solidFill>
                  <a:schemeClr val="tx2"/>
                </a:solidFill>
              </a:rPr>
              <a:t>Model-agnostic</a:t>
            </a:r>
            <a:endParaRPr lang="en-US" sz="1600" dirty="0"/>
          </a:p>
        </p:txBody>
      </p:sp>
      <p:sp>
        <p:nvSpPr>
          <p:cNvPr id="30" name="tax-box-30"/>
          <p:cNvSpPr/>
          <p:nvPr/>
        </p:nvSpPr>
        <p:spPr>
          <a:xfrm>
            <a:off x="5669280" y="4069080"/>
            <a:ext cx="2011680" cy="603504"/>
          </a:xfrm>
          <a:prstGeom prst="roundRect">
            <a:avLst>
              <a:gd name="adj" fmla="val 15152"/>
            </a:avLst>
          </a:prstGeom>
          <a:solidFill>
            <a:schemeClr val="bg2"/>
          </a:solidFill>
          <a:ln/>
        </p:spPr>
      </p:sp>
      <p:sp>
        <p:nvSpPr>
          <p:cNvPr id="31" name="tax-label-31"/>
          <p:cNvSpPr txBox="1"/>
          <p:nvPr/>
        </p:nvSpPr>
        <p:spPr>
          <a:xfrm>
            <a:off x="5669280" y="4069080"/>
            <a:ext cx="2011680" cy="603504"/>
          </a:xfrm>
          <a:prstGeom prst="rect">
            <a:avLst/>
          </a:prstGeom>
          <a:noFill/>
          <a:ln/>
        </p:spPr>
        <p:txBody>
          <a:bodyPr wrap="square" lIns="0" tIns="0" rIns="0" bIns="0" rtlCol="0" anchor="ctr"/>
          <a:lstStyle/>
          <a:p>
            <a:pPr algn="ctr" indent="0" marL="0">
              <a:buNone/>
            </a:pPr>
            <a:r>
              <a:rPr lang="en-US" sz="1600" b="1" dirty="0">
                <a:solidFill>
                  <a:schemeClr val="tx2"/>
                </a:solidFill>
              </a:rPr>
              <a:t>Model-specific</a:t>
            </a:r>
            <a:endParaRPr lang="en-US" sz="1600" dirty="0"/>
          </a:p>
        </p:txBody>
      </p:sp>
      <p:sp>
        <p:nvSpPr>
          <p:cNvPr id="32" name="tax-box-32"/>
          <p:cNvSpPr/>
          <p:nvPr/>
        </p:nvSpPr>
        <p:spPr>
          <a:xfrm>
            <a:off x="2468880" y="5257800"/>
            <a:ext cx="1554480" cy="603504"/>
          </a:xfrm>
          <a:prstGeom prst="roundRect">
            <a:avLst>
              <a:gd name="adj" fmla="val 15152"/>
            </a:avLst>
          </a:prstGeom>
          <a:solidFill>
            <a:schemeClr val="bg1"/>
          </a:solidFill>
          <a:ln w="15875">
            <a:solidFill>
              <a:schemeClr val="accent1"/>
            </a:solidFill>
            <a:prstDash val="solid"/>
          </a:ln>
        </p:spPr>
      </p:sp>
      <p:sp>
        <p:nvSpPr>
          <p:cNvPr id="33" name="tax-label-33"/>
          <p:cNvSpPr txBox="1"/>
          <p:nvPr/>
        </p:nvSpPr>
        <p:spPr>
          <a:xfrm>
            <a:off x="2468880" y="5257800"/>
            <a:ext cx="1554480" cy="603504"/>
          </a:xfrm>
          <a:prstGeom prst="rect">
            <a:avLst/>
          </a:prstGeom>
          <a:noFill/>
          <a:ln/>
        </p:spPr>
        <p:txBody>
          <a:bodyPr wrap="square" lIns="0" tIns="0" rIns="0" bIns="0" rtlCol="0" anchor="ctr"/>
          <a:lstStyle/>
          <a:p>
            <a:pPr algn="ctr" indent="0" marL="0">
              <a:buNone/>
            </a:pPr>
            <a:r>
              <a:rPr lang="en-US" sz="1600" b="1" dirty="0">
                <a:solidFill>
                  <a:schemeClr val="accent1"/>
                </a:solidFill>
              </a:rPr>
              <a:t>Local</a:t>
            </a:r>
            <a:endParaRPr lang="en-US" sz="1600" dirty="0"/>
          </a:p>
        </p:txBody>
      </p:sp>
      <p:sp>
        <p:nvSpPr>
          <p:cNvPr id="34" name="tax-box-34"/>
          <p:cNvSpPr/>
          <p:nvPr/>
        </p:nvSpPr>
        <p:spPr>
          <a:xfrm>
            <a:off x="4389120" y="5257800"/>
            <a:ext cx="1554480" cy="603504"/>
          </a:xfrm>
          <a:prstGeom prst="roundRect">
            <a:avLst>
              <a:gd name="adj" fmla="val 15152"/>
            </a:avLst>
          </a:prstGeom>
          <a:solidFill>
            <a:schemeClr val="bg1"/>
          </a:solidFill>
          <a:ln w="15875">
            <a:solidFill>
              <a:schemeClr val="accent1"/>
            </a:solidFill>
            <a:prstDash val="solid"/>
          </a:ln>
        </p:spPr>
      </p:sp>
      <p:sp>
        <p:nvSpPr>
          <p:cNvPr id="35" name="tax-label-35"/>
          <p:cNvSpPr txBox="1"/>
          <p:nvPr/>
        </p:nvSpPr>
        <p:spPr>
          <a:xfrm>
            <a:off x="4389120" y="5257800"/>
            <a:ext cx="1554480" cy="603504"/>
          </a:xfrm>
          <a:prstGeom prst="rect">
            <a:avLst/>
          </a:prstGeom>
          <a:noFill/>
          <a:ln/>
        </p:spPr>
        <p:txBody>
          <a:bodyPr wrap="square" lIns="0" tIns="0" rIns="0" bIns="0" rtlCol="0" anchor="ctr"/>
          <a:lstStyle/>
          <a:p>
            <a:pPr algn="ctr" indent="0" marL="0">
              <a:buNone/>
            </a:pPr>
            <a:r>
              <a:rPr lang="en-US" sz="1600" b="1" dirty="0">
                <a:solidFill>
                  <a:schemeClr val="accent1"/>
                </a:solidFill>
              </a:rPr>
              <a:t>Global</a:t>
            </a:r>
            <a:endParaRPr lang="en-US" sz="1600" dirty="0"/>
          </a:p>
        </p:txBody>
      </p:sp>
      <p:sp>
        <p:nvSpPr>
          <p:cNvPr id="36" name="pill-36"/>
          <p:cNvSpPr/>
          <p:nvPr/>
        </p:nvSpPr>
        <p:spPr>
          <a:xfrm>
            <a:off x="457200" y="2697480"/>
            <a:ext cx="438912" cy="438912"/>
          </a:xfrm>
          <a:prstGeom prst="roundRect">
            <a:avLst>
              <a:gd name="adj" fmla="val 50000"/>
            </a:avLst>
          </a:prstGeom>
          <a:solidFill>
            <a:schemeClr val="accent2"/>
          </a:solidFill>
          <a:ln/>
        </p:spPr>
      </p:sp>
      <p:sp>
        <p:nvSpPr>
          <p:cNvPr id="37" name="pill-text-37"/>
          <p:cNvSpPr txBox="1"/>
          <p:nvPr/>
        </p:nvSpPr>
        <p:spPr>
          <a:xfrm>
            <a:off x="457200" y="2697480"/>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rPr>
              <a:t>01</a:t>
            </a:r>
            <a:endParaRPr lang="en-US" sz="1300" dirty="0"/>
          </a:p>
        </p:txBody>
      </p:sp>
      <p:sp>
        <p:nvSpPr>
          <p:cNvPr id="38" name="pill-38"/>
          <p:cNvSpPr/>
          <p:nvPr/>
        </p:nvSpPr>
        <p:spPr>
          <a:xfrm>
            <a:off x="2834640" y="3886200"/>
            <a:ext cx="438912" cy="438912"/>
          </a:xfrm>
          <a:prstGeom prst="roundRect">
            <a:avLst>
              <a:gd name="adj" fmla="val 50000"/>
            </a:avLst>
          </a:prstGeom>
          <a:solidFill>
            <a:schemeClr val="accent2"/>
          </a:solidFill>
          <a:ln/>
        </p:spPr>
      </p:sp>
      <p:sp>
        <p:nvSpPr>
          <p:cNvPr id="39" name="pill-text-39"/>
          <p:cNvSpPr txBox="1"/>
          <p:nvPr/>
        </p:nvSpPr>
        <p:spPr>
          <a:xfrm>
            <a:off x="2834640" y="3886200"/>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rPr>
              <a:t>02</a:t>
            </a:r>
            <a:endParaRPr lang="en-US" sz="1300" dirty="0"/>
          </a:p>
        </p:txBody>
      </p:sp>
      <p:sp>
        <p:nvSpPr>
          <p:cNvPr id="40" name="pill-40"/>
          <p:cNvSpPr/>
          <p:nvPr/>
        </p:nvSpPr>
        <p:spPr>
          <a:xfrm>
            <a:off x="5486400" y="3886200"/>
            <a:ext cx="438912" cy="438912"/>
          </a:xfrm>
          <a:prstGeom prst="roundRect">
            <a:avLst>
              <a:gd name="adj" fmla="val 50000"/>
            </a:avLst>
          </a:prstGeom>
          <a:solidFill>
            <a:schemeClr val="accent2"/>
          </a:solidFill>
          <a:ln/>
        </p:spPr>
      </p:sp>
      <p:sp>
        <p:nvSpPr>
          <p:cNvPr id="41" name="pill-text-41"/>
          <p:cNvSpPr txBox="1"/>
          <p:nvPr/>
        </p:nvSpPr>
        <p:spPr>
          <a:xfrm>
            <a:off x="5486400" y="3886200"/>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rPr>
              <a:t>03</a:t>
            </a:r>
            <a:endParaRPr lang="en-US" sz="1300" dirty="0"/>
          </a:p>
        </p:txBody>
      </p:sp>
      <p:sp>
        <p:nvSpPr>
          <p:cNvPr id="42" name="section-card-42"/>
          <p:cNvSpPr/>
          <p:nvPr/>
        </p:nvSpPr>
        <p:spPr>
          <a:xfrm>
            <a:off x="8001000" y="1645920"/>
            <a:ext cx="3642055" cy="960120"/>
          </a:xfrm>
          <a:prstGeom prst="roundRect">
            <a:avLst>
              <a:gd name="adj" fmla="val 9524"/>
            </a:avLst>
          </a:prstGeom>
          <a:solidFill>
            <a:schemeClr val="bg2"/>
          </a:solidFill>
          <a:ln/>
        </p:spPr>
      </p:sp>
      <p:sp>
        <p:nvSpPr>
          <p:cNvPr id="43" name="section-num-43"/>
          <p:cNvSpPr txBox="1"/>
          <p:nvPr/>
        </p:nvSpPr>
        <p:spPr>
          <a:xfrm>
            <a:off x="8183880" y="1645920"/>
            <a:ext cx="731520" cy="960120"/>
          </a:xfrm>
          <a:prstGeom prst="rect">
            <a:avLst/>
          </a:prstGeom>
          <a:noFill/>
          <a:ln/>
        </p:spPr>
        <p:txBody>
          <a:bodyPr wrap="square" lIns="0" tIns="0" rIns="0" bIns="0" rtlCol="0" anchor="ctr"/>
          <a:lstStyle/>
          <a:p>
            <a:pPr indent="0" marL="0">
              <a:buNone/>
            </a:pPr>
            <a:r>
              <a:rPr lang="en-US" sz="2600" b="1" dirty="0">
                <a:solidFill>
                  <a:schemeClr val="accent2"/>
                </a:solidFill>
                <a:latin typeface="Avenir" pitchFamily="34" charset="0"/>
                <a:ea typeface="Avenir" pitchFamily="34" charset="-122"/>
                <a:cs typeface="Avenir" pitchFamily="34" charset="-120"/>
              </a:rPr>
              <a:t>01</a:t>
            </a:r>
            <a:endParaRPr lang="en-US" sz="2600" dirty="0"/>
          </a:p>
        </p:txBody>
      </p:sp>
      <p:sp>
        <p:nvSpPr>
          <p:cNvPr id="44" name="section-text-44"/>
          <p:cNvSpPr txBox="1"/>
          <p:nvPr/>
        </p:nvSpPr>
        <p:spPr>
          <a:xfrm>
            <a:off x="8915400" y="1645920"/>
            <a:ext cx="2590495" cy="960120"/>
          </a:xfrm>
          <a:prstGeom prst="rect">
            <a:avLst/>
          </a:prstGeom>
          <a:noFill/>
          <a:ln/>
        </p:spPr>
        <p:txBody>
          <a:bodyPr wrap="square" lIns="0" tIns="0" rIns="0" bIns="0" rtlCol="0" anchor="ctr"/>
          <a:lstStyle/>
          <a:p>
            <a:pPr indent="0" marL="0">
              <a:buNone/>
            </a:pPr>
            <a:r>
              <a:rPr lang="en-US" sz="1600" b="1" dirty="0">
                <a:solidFill>
                  <a:schemeClr val="tx2"/>
                </a:solidFill>
              </a:rPr>
              <a:t>Interpretability by design</a:t>
            </a:r>
            <a:endParaRPr lang="en-US" sz="1600" dirty="0"/>
          </a:p>
          <a:p>
            <a:pPr indent="0" marL="0">
              <a:buNone/>
            </a:pPr>
            <a:r>
              <a:rPr lang="en-US" sz="1300" dirty="0">
                <a:solidFill>
                  <a:schemeClr val="tx1"/>
                </a:solidFill>
              </a:rPr>
              <a:t>Interpretable models and their scope</a:t>
            </a:r>
            <a:endParaRPr lang="en-US" sz="1600" dirty="0"/>
          </a:p>
        </p:txBody>
      </p:sp>
      <p:sp>
        <p:nvSpPr>
          <p:cNvPr id="45" name="section-card-45"/>
          <p:cNvSpPr/>
          <p:nvPr/>
        </p:nvSpPr>
        <p:spPr>
          <a:xfrm>
            <a:off x="8001000" y="2761488"/>
            <a:ext cx="3642055" cy="960120"/>
          </a:xfrm>
          <a:prstGeom prst="roundRect">
            <a:avLst>
              <a:gd name="adj" fmla="val 9524"/>
            </a:avLst>
          </a:prstGeom>
          <a:solidFill>
            <a:schemeClr val="bg2"/>
          </a:solidFill>
          <a:ln/>
        </p:spPr>
      </p:sp>
      <p:sp>
        <p:nvSpPr>
          <p:cNvPr id="46" name="section-num-46"/>
          <p:cNvSpPr txBox="1"/>
          <p:nvPr/>
        </p:nvSpPr>
        <p:spPr>
          <a:xfrm>
            <a:off x="8183880" y="2761488"/>
            <a:ext cx="731520" cy="960120"/>
          </a:xfrm>
          <a:prstGeom prst="rect">
            <a:avLst/>
          </a:prstGeom>
          <a:noFill/>
          <a:ln/>
        </p:spPr>
        <p:txBody>
          <a:bodyPr wrap="square" lIns="0" tIns="0" rIns="0" bIns="0" rtlCol="0" anchor="ctr"/>
          <a:lstStyle/>
          <a:p>
            <a:pPr indent="0" marL="0">
              <a:buNone/>
            </a:pPr>
            <a:r>
              <a:rPr lang="en-US" sz="2600" b="1" dirty="0">
                <a:solidFill>
                  <a:schemeClr val="accent2"/>
                </a:solidFill>
                <a:latin typeface="Avenir" pitchFamily="34" charset="0"/>
                <a:ea typeface="Avenir" pitchFamily="34" charset="-122"/>
                <a:cs typeface="Avenir" pitchFamily="34" charset="-120"/>
              </a:rPr>
              <a:t>02</a:t>
            </a:r>
            <a:endParaRPr lang="en-US" sz="2600" dirty="0"/>
          </a:p>
        </p:txBody>
      </p:sp>
      <p:sp>
        <p:nvSpPr>
          <p:cNvPr id="47" name="section-text-47"/>
          <p:cNvSpPr txBox="1"/>
          <p:nvPr/>
        </p:nvSpPr>
        <p:spPr>
          <a:xfrm>
            <a:off x="8915400" y="2761488"/>
            <a:ext cx="2590495" cy="960120"/>
          </a:xfrm>
          <a:prstGeom prst="rect">
            <a:avLst/>
          </a:prstGeom>
          <a:noFill/>
          <a:ln/>
        </p:spPr>
        <p:txBody>
          <a:bodyPr wrap="square" lIns="0" tIns="0" rIns="0" bIns="0" rtlCol="0" anchor="ctr"/>
          <a:lstStyle/>
          <a:p>
            <a:pPr indent="0" marL="0">
              <a:buNone/>
            </a:pPr>
            <a:r>
              <a:rPr lang="en-US" sz="1600" b="1" dirty="0">
                <a:solidFill>
                  <a:schemeClr val="tx2"/>
                </a:solidFill>
              </a:rPr>
              <a:t>Model-agnostic methods</a:t>
            </a:r>
            <a:endParaRPr lang="en-US" sz="1600" dirty="0"/>
          </a:p>
          <a:p>
            <a:pPr indent="0" marL="0">
              <a:buNone/>
            </a:pPr>
            <a:r>
              <a:rPr lang="en-US" sz="1300" dirty="0">
                <a:solidFill>
                  <a:schemeClr val="tx1"/>
                </a:solidFill>
              </a:rPr>
              <a:t>SIPA, local and global methods</a:t>
            </a:r>
            <a:endParaRPr lang="en-US" sz="1600" dirty="0"/>
          </a:p>
        </p:txBody>
      </p:sp>
      <p:sp>
        <p:nvSpPr>
          <p:cNvPr id="48" name="section-card-48"/>
          <p:cNvSpPr/>
          <p:nvPr/>
        </p:nvSpPr>
        <p:spPr>
          <a:xfrm>
            <a:off x="8001000" y="3877056"/>
            <a:ext cx="3642055" cy="960120"/>
          </a:xfrm>
          <a:prstGeom prst="roundRect">
            <a:avLst>
              <a:gd name="adj" fmla="val 9524"/>
            </a:avLst>
          </a:prstGeom>
          <a:solidFill>
            <a:schemeClr val="bg2"/>
          </a:solidFill>
          <a:ln/>
        </p:spPr>
      </p:sp>
      <p:sp>
        <p:nvSpPr>
          <p:cNvPr id="49" name="section-num-49"/>
          <p:cNvSpPr txBox="1"/>
          <p:nvPr/>
        </p:nvSpPr>
        <p:spPr>
          <a:xfrm>
            <a:off x="8183880" y="3877056"/>
            <a:ext cx="731520" cy="960120"/>
          </a:xfrm>
          <a:prstGeom prst="rect">
            <a:avLst/>
          </a:prstGeom>
          <a:noFill/>
          <a:ln/>
        </p:spPr>
        <p:txBody>
          <a:bodyPr wrap="square" lIns="0" tIns="0" rIns="0" bIns="0" rtlCol="0" anchor="ctr"/>
          <a:lstStyle/>
          <a:p>
            <a:pPr indent="0" marL="0">
              <a:buNone/>
            </a:pPr>
            <a:r>
              <a:rPr lang="en-US" sz="2600" b="1" dirty="0">
                <a:solidFill>
                  <a:schemeClr val="accent2"/>
                </a:solidFill>
                <a:latin typeface="Avenir" pitchFamily="34" charset="0"/>
                <a:ea typeface="Avenir" pitchFamily="34" charset="-122"/>
                <a:cs typeface="Avenir" pitchFamily="34" charset="-120"/>
              </a:rPr>
              <a:t>03</a:t>
            </a:r>
            <a:endParaRPr lang="en-US" sz="2600" dirty="0"/>
          </a:p>
        </p:txBody>
      </p:sp>
      <p:sp>
        <p:nvSpPr>
          <p:cNvPr id="50" name="section-text-50"/>
          <p:cNvSpPr txBox="1"/>
          <p:nvPr/>
        </p:nvSpPr>
        <p:spPr>
          <a:xfrm>
            <a:off x="8915400" y="3877056"/>
            <a:ext cx="2590495" cy="960120"/>
          </a:xfrm>
          <a:prstGeom prst="rect">
            <a:avLst/>
          </a:prstGeom>
          <a:noFill/>
          <a:ln/>
        </p:spPr>
        <p:txBody>
          <a:bodyPr wrap="square" lIns="0" tIns="0" rIns="0" bIns="0" rtlCol="0" anchor="ctr"/>
          <a:lstStyle/>
          <a:p>
            <a:pPr indent="0" marL="0">
              <a:buNone/>
            </a:pPr>
            <a:r>
              <a:rPr lang="en-US" sz="1600" b="1" dirty="0">
                <a:solidFill>
                  <a:schemeClr val="tx2"/>
                </a:solidFill>
              </a:rPr>
              <a:t>Model-specific methods</a:t>
            </a:r>
            <a:endParaRPr lang="en-US" sz="1600" dirty="0"/>
          </a:p>
          <a:p>
            <a:pPr indent="0" marL="0">
              <a:buNone/>
            </a:pPr>
            <a:r>
              <a:rPr lang="en-US" sz="1300" dirty="0">
                <a:solidFill>
                  <a:schemeClr val="tx1"/>
                </a:solidFill>
              </a:rPr>
              <a:t>Looking inside neural networks</a:t>
            </a:r>
            <a:endParaRPr lang="en-US" sz="1600" dirty="0"/>
          </a:p>
        </p:txBody>
      </p:sp>
      <p:sp>
        <p:nvSpPr>
          <p:cNvPr id="51" name="section-card-51"/>
          <p:cNvSpPr/>
          <p:nvPr/>
        </p:nvSpPr>
        <p:spPr>
          <a:xfrm>
            <a:off x="8001000" y="4992624"/>
            <a:ext cx="3642055" cy="960120"/>
          </a:xfrm>
          <a:prstGeom prst="roundRect">
            <a:avLst>
              <a:gd name="adj" fmla="val 9524"/>
            </a:avLst>
          </a:prstGeom>
          <a:solidFill>
            <a:schemeClr val="bg1"/>
          </a:solidFill>
          <a:ln w="12700">
            <a:solidFill>
              <a:schemeClr val="bg2"/>
            </a:solidFill>
            <a:prstDash val="solid"/>
          </a:ln>
        </p:spPr>
      </p:sp>
      <p:sp>
        <p:nvSpPr>
          <p:cNvPr id="52" name="section-num-52"/>
          <p:cNvSpPr txBox="1"/>
          <p:nvPr/>
        </p:nvSpPr>
        <p:spPr>
          <a:xfrm>
            <a:off x="8183880" y="4992624"/>
            <a:ext cx="731520" cy="960120"/>
          </a:xfrm>
          <a:prstGeom prst="rect">
            <a:avLst/>
          </a:prstGeom>
          <a:noFill/>
          <a:ln/>
        </p:spPr>
        <p:txBody>
          <a:bodyPr wrap="square" lIns="0" tIns="0" rIns="0" bIns="0" rtlCol="0" anchor="ctr"/>
          <a:lstStyle/>
          <a:p>
            <a:pPr indent="0" marL="0">
              <a:buNone/>
            </a:pPr>
            <a:r>
              <a:rPr lang="en-US" sz="2600" b="1" dirty="0">
                <a:solidFill>
                  <a:schemeClr val="accent2"/>
                </a:solidFill>
                <a:latin typeface="Avenir" pitchFamily="34" charset="0"/>
                <a:ea typeface="Avenir" pitchFamily="34" charset="-122"/>
                <a:cs typeface="Avenir" pitchFamily="34" charset="-120"/>
              </a:rPr>
              <a:t>04</a:t>
            </a:r>
            <a:endParaRPr lang="en-US" sz="2600" dirty="0"/>
          </a:p>
        </p:txBody>
      </p:sp>
      <p:sp>
        <p:nvSpPr>
          <p:cNvPr id="53" name="section-text-53"/>
          <p:cNvSpPr txBox="1"/>
          <p:nvPr/>
        </p:nvSpPr>
        <p:spPr>
          <a:xfrm>
            <a:off x="8915400" y="4992624"/>
            <a:ext cx="2590495" cy="960120"/>
          </a:xfrm>
          <a:prstGeom prst="rect">
            <a:avLst/>
          </a:prstGeom>
          <a:noFill/>
          <a:ln/>
        </p:spPr>
        <p:txBody>
          <a:bodyPr wrap="square" lIns="0" tIns="0" rIns="0" bIns="0" rtlCol="0" anchor="ctr"/>
          <a:lstStyle/>
          <a:p>
            <a:pPr indent="0" marL="0">
              <a:buNone/>
            </a:pPr>
            <a:r>
              <a:rPr lang="en-US" sz="1600" b="1" dirty="0">
                <a:solidFill>
                  <a:schemeClr val="tx2"/>
                </a:solidFill>
              </a:rPr>
              <a:t>Synthesis</a:t>
            </a:r>
            <a:endParaRPr lang="en-US" sz="1600" dirty="0"/>
          </a:p>
          <a:p>
            <a:pPr indent="0" marL="0">
              <a:buNone/>
            </a:pPr>
            <a:r>
              <a:rPr lang="en-US" sz="1300" dirty="0">
                <a:solidFill>
                  <a:schemeClr val="tx1"/>
                </a:solidFill>
              </a:rPr>
              <a:t>Goals and blurry lines</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3657600" cy="1463040"/>
          </a:xfrm>
          <a:prstGeom prst="rect">
            <a:avLst/>
          </a:prstGeom>
          <a:noFill/>
          <a:ln/>
        </p:spPr>
        <p:txBody>
          <a:bodyPr wrap="square" lIns="0" tIns="0" rIns="0" bIns="0" rtlCol="0" anchor="b"/>
          <a:lstStyle/>
          <a:p>
            <a:pPr algn="l" indent="0" marL="0">
              <a:buNone/>
            </a:pPr>
            <a:r>
              <a:rPr lang="en-US" sz="9600" b="1" dirty="0">
                <a:solidFill>
                  <a:schemeClr val="accent2"/>
                </a:solidFill>
                <a:latin typeface="Avenir" pitchFamily="34" charset="0"/>
                <a:ea typeface="Avenir" pitchFamily="34" charset="-122"/>
                <a:cs typeface="Avenir" pitchFamily="34" charset="-120"/>
              </a:rPr>
              <a:t>01</a:t>
            </a:r>
            <a:endParaRPr lang="en-US" sz="9600" dirty="0"/>
          </a:p>
        </p:txBody>
      </p:sp>
      <p:sp>
        <p:nvSpPr>
          <p:cNvPr id="3" name="Text 0"/>
          <p:cNvSpPr/>
          <p:nvPr>
            <p:ph idx="101" type="title" hasCustomPrompt="1"/>
          </p:nvPr>
        </p:nvSpPr>
        <p:spPr>
          <a:xfrm>
            <a:off x="731520" y="3063240"/>
            <a:ext cx="10058400" cy="1005840"/>
          </a:xfrm>
          <a:prstGeom prst="rect">
            <a:avLst/>
          </a:prstGeom>
          <a:noFill/>
          <a:ln/>
        </p:spPr>
        <p:txBody>
          <a:bodyPr wrap="square" lIns="0" tIns="0" rIns="0" bIns="0" rtlCol="0" anchor="t"/>
          <a:lstStyle/>
          <a:p>
            <a:pPr algn="l" indent="0" marL="0">
              <a:buNone/>
            </a:pPr>
            <a:r>
              <a:rPr lang="en-US" sz="4400" b="1" dirty="0">
                <a:solidFill>
                  <a:schemeClr val="bg1"/>
                </a:solidFill>
                <a:latin typeface="Avenir" pitchFamily="34" charset="0"/>
                <a:ea typeface="Avenir" pitchFamily="34" charset="-122"/>
                <a:cs typeface="Avenir" pitchFamily="34" charset="-120"/>
              </a:rPr>
              <a:t>Interpretability by design</a:t>
            </a:r>
            <a:endParaRPr lang="en-US" sz="4400" dirty="0"/>
          </a:p>
        </p:txBody>
      </p:sp>
      <p:sp>
        <p:nvSpPr>
          <p:cNvPr id="4" name="Text 0"/>
          <p:cNvSpPr/>
          <p:nvPr>
            <p:ph idx="102" type="body" hasCustomPrompt="1"/>
          </p:nvPr>
        </p:nvSpPr>
        <p:spPr>
          <a:xfrm>
            <a:off x="731520" y="4114800"/>
            <a:ext cx="9144000" cy="914400"/>
          </a:xfrm>
          <a:prstGeom prst="rect">
            <a:avLst/>
          </a:prstGeom>
          <a:noFill/>
          <a:ln/>
        </p:spPr>
        <p:txBody>
          <a:bodyPr wrap="square" lIns="0" tIns="0" rIns="0" bIns="0" rtlCol="0" anchor="t"/>
          <a:lstStyle/>
          <a:p>
            <a:pPr algn="l" indent="0" marL="0">
              <a:buNone/>
            </a:pPr>
            <a:r>
              <a:rPr lang="en-US" sz="2000" dirty="0">
                <a:solidFill>
                  <a:schemeClr val="bg2"/>
                </a:solidFill>
              </a:rPr>
              <a:t>Training interpretable models from the start</a:t>
            </a:r>
            <a:endParaRPr lang="en-US" sz="2000" dirty="0"/>
          </a:p>
        </p:txBody>
      </p:sp>
      <p:sp>
        <p:nvSpPr>
          <p:cNvPr id="5" name="pill-54"/>
          <p:cNvSpPr/>
          <p:nvPr/>
        </p:nvSpPr>
        <p:spPr>
          <a:xfrm>
            <a:off x="731520" y="5120640"/>
            <a:ext cx="1357884" cy="384048"/>
          </a:xfrm>
          <a:prstGeom prst="roundRect">
            <a:avLst>
              <a:gd name="adj" fmla="val 50000"/>
            </a:avLst>
          </a:prstGeom>
          <a:solidFill>
            <a:schemeClr val="accent1"/>
          </a:solidFill>
          <a:ln/>
        </p:spPr>
      </p:sp>
      <p:sp>
        <p:nvSpPr>
          <p:cNvPr id="6" name="pill-text-55"/>
          <p:cNvSpPr txBox="1"/>
          <p:nvPr/>
        </p:nvSpPr>
        <p:spPr>
          <a:xfrm>
            <a:off x="731520" y="5120640"/>
            <a:ext cx="1357884" cy="384048"/>
          </a:xfrm>
          <a:prstGeom prst="rect">
            <a:avLst/>
          </a:prstGeom>
          <a:noFill/>
          <a:ln/>
        </p:spPr>
        <p:txBody>
          <a:bodyPr wrap="square" lIns="0" tIns="0" rIns="0" bIns="0" rtlCol="0" anchor="ctr"/>
          <a:lstStyle/>
          <a:p>
            <a:pPr algn="ctr" indent="0" marL="0">
              <a:buNone/>
            </a:pPr>
            <a:r>
              <a:rPr lang="en-US" sz="1300" b="1" dirty="0">
                <a:solidFill>
                  <a:schemeClr val="bg1"/>
                </a:solidFill>
              </a:rPr>
              <a:t>The algorithm</a:t>
            </a:r>
            <a:endParaRPr lang="en-US" sz="1300" dirty="0"/>
          </a:p>
        </p:txBody>
      </p:sp>
      <p:sp>
        <p:nvSpPr>
          <p:cNvPr id="7" name="pill-56"/>
          <p:cNvSpPr/>
          <p:nvPr/>
        </p:nvSpPr>
        <p:spPr>
          <a:xfrm>
            <a:off x="2226564" y="5120640"/>
            <a:ext cx="662940" cy="384048"/>
          </a:xfrm>
          <a:prstGeom prst="roundRect">
            <a:avLst>
              <a:gd name="adj" fmla="val 50000"/>
            </a:avLst>
          </a:prstGeom>
          <a:solidFill>
            <a:schemeClr val="accent1"/>
          </a:solidFill>
          <a:ln/>
        </p:spPr>
      </p:sp>
      <p:sp>
        <p:nvSpPr>
          <p:cNvPr id="8" name="pill-text-57"/>
          <p:cNvSpPr txBox="1"/>
          <p:nvPr/>
        </p:nvSpPr>
        <p:spPr>
          <a:xfrm>
            <a:off x="2226564" y="5120640"/>
            <a:ext cx="662940" cy="384048"/>
          </a:xfrm>
          <a:prstGeom prst="rect">
            <a:avLst/>
          </a:prstGeom>
          <a:noFill/>
          <a:ln/>
        </p:spPr>
        <p:txBody>
          <a:bodyPr wrap="square" lIns="0" tIns="0" rIns="0" bIns="0" rtlCol="0" anchor="ctr"/>
          <a:lstStyle/>
          <a:p>
            <a:pPr algn="ctr" indent="0" marL="0">
              <a:buNone/>
            </a:pPr>
            <a:r>
              <a:rPr lang="en-US" sz="1300" b="1" dirty="0">
                <a:solidFill>
                  <a:schemeClr val="bg1"/>
                </a:solidFill>
              </a:rPr>
              <a:t>Scope</a:t>
            </a:r>
            <a:endParaRPr lang="en-US" sz="1300" dirty="0"/>
          </a:p>
        </p:txBody>
      </p:sp>
      <p:sp>
        <p:nvSpPr>
          <p:cNvPr id="9" name="pill-58"/>
          <p:cNvSpPr/>
          <p:nvPr/>
        </p:nvSpPr>
        <p:spPr>
          <a:xfrm>
            <a:off x="3026664" y="5120640"/>
            <a:ext cx="1010412" cy="384048"/>
          </a:xfrm>
          <a:prstGeom prst="roundRect">
            <a:avLst>
              <a:gd name="adj" fmla="val 50000"/>
            </a:avLst>
          </a:prstGeom>
          <a:solidFill>
            <a:schemeClr val="accent1"/>
          </a:solidFill>
          <a:ln/>
        </p:spPr>
      </p:sp>
      <p:sp>
        <p:nvSpPr>
          <p:cNvPr id="10" name="pill-text-59"/>
          <p:cNvSpPr txBox="1"/>
          <p:nvPr/>
        </p:nvSpPr>
        <p:spPr>
          <a:xfrm>
            <a:off x="3026664" y="5120640"/>
            <a:ext cx="1010412" cy="384048"/>
          </a:xfrm>
          <a:prstGeom prst="rect">
            <a:avLst/>
          </a:prstGeom>
          <a:noFill/>
          <a:ln/>
        </p:spPr>
        <p:txBody>
          <a:bodyPr wrap="square" lIns="0" tIns="0" rIns="0" bIns="0" rtlCol="0" anchor="ctr"/>
          <a:lstStyle/>
          <a:p>
            <a:pPr algn="ctr" indent="0" marL="0">
              <a:buNone/>
            </a:pPr>
            <a:r>
              <a:rPr lang="en-US" sz="1300" b="1" dirty="0">
                <a:solidFill>
                  <a:schemeClr val="bg1"/>
                </a:solidFill>
              </a:rPr>
              <a:t>Strengths</a:t>
            </a:r>
            <a:endParaRPr lang="en-US" sz="1300" dirty="0"/>
          </a:p>
        </p:txBody>
      </p:sp>
      <p:sp>
        <p:nvSpPr>
          <p:cNvPr id="11" name="line-60"/>
          <p:cNvSpPr/>
          <p:nvPr/>
        </p:nvSpPr>
        <p:spPr>
          <a:xfrm>
            <a:off x="9587484" y="2435047"/>
            <a:ext cx="0" cy="160934"/>
          </a:xfrm>
          <a:prstGeom prst="line">
            <a:avLst/>
          </a:prstGeom>
          <a:noFill/>
          <a:ln w="15875">
            <a:solidFill>
              <a:srgbClr val="9DB7C2"/>
            </a:solidFill>
            <a:prstDash val="solid"/>
          </a:ln>
        </p:spPr>
      </p:sp>
      <p:sp>
        <p:nvSpPr>
          <p:cNvPr id="12" name="line-61"/>
          <p:cNvSpPr/>
          <p:nvPr/>
        </p:nvSpPr>
        <p:spPr>
          <a:xfrm flipH="1">
            <a:off x="8380476" y="2595982"/>
            <a:ext cx="1207008" cy="0"/>
          </a:xfrm>
          <a:prstGeom prst="line">
            <a:avLst/>
          </a:prstGeom>
          <a:noFill/>
          <a:ln w="15875">
            <a:solidFill>
              <a:srgbClr val="9DB7C2"/>
            </a:solidFill>
            <a:prstDash val="solid"/>
          </a:ln>
        </p:spPr>
      </p:sp>
      <p:sp>
        <p:nvSpPr>
          <p:cNvPr id="13" name="line-62"/>
          <p:cNvSpPr/>
          <p:nvPr/>
        </p:nvSpPr>
        <p:spPr>
          <a:xfrm>
            <a:off x="8380476" y="2595982"/>
            <a:ext cx="0" cy="160934"/>
          </a:xfrm>
          <a:prstGeom prst="line">
            <a:avLst/>
          </a:prstGeom>
          <a:noFill/>
          <a:ln w="15875">
            <a:solidFill>
              <a:srgbClr val="9DB7C2"/>
            </a:solidFill>
            <a:prstDash val="solid"/>
            <a:tailEnd type="triangle"/>
          </a:ln>
        </p:spPr>
      </p:sp>
      <p:sp>
        <p:nvSpPr>
          <p:cNvPr id="14" name="line-63"/>
          <p:cNvSpPr/>
          <p:nvPr/>
        </p:nvSpPr>
        <p:spPr>
          <a:xfrm>
            <a:off x="9587484" y="2435047"/>
            <a:ext cx="0" cy="160934"/>
          </a:xfrm>
          <a:prstGeom prst="line">
            <a:avLst/>
          </a:prstGeom>
          <a:noFill/>
          <a:ln w="15875">
            <a:solidFill>
              <a:srgbClr val="9DB7C2"/>
            </a:solidFill>
            <a:prstDash val="solid"/>
          </a:ln>
        </p:spPr>
      </p:sp>
      <p:sp>
        <p:nvSpPr>
          <p:cNvPr id="15" name="line-64"/>
          <p:cNvSpPr/>
          <p:nvPr/>
        </p:nvSpPr>
        <p:spPr>
          <a:xfrm>
            <a:off x="9587484" y="2595982"/>
            <a:ext cx="804672" cy="0"/>
          </a:xfrm>
          <a:prstGeom prst="line">
            <a:avLst/>
          </a:prstGeom>
          <a:noFill/>
          <a:ln w="15875">
            <a:solidFill>
              <a:srgbClr val="9DB7C2"/>
            </a:solidFill>
            <a:prstDash val="solid"/>
          </a:ln>
        </p:spPr>
      </p:sp>
      <p:sp>
        <p:nvSpPr>
          <p:cNvPr id="16" name="line-65"/>
          <p:cNvSpPr/>
          <p:nvPr/>
        </p:nvSpPr>
        <p:spPr>
          <a:xfrm>
            <a:off x="10392156" y="2595982"/>
            <a:ext cx="0" cy="160934"/>
          </a:xfrm>
          <a:prstGeom prst="line">
            <a:avLst/>
          </a:prstGeom>
          <a:noFill/>
          <a:ln w="15875">
            <a:solidFill>
              <a:srgbClr val="9DB7C2"/>
            </a:solidFill>
            <a:prstDash val="solid"/>
            <a:tailEnd type="triangle"/>
          </a:ln>
        </p:spPr>
      </p:sp>
      <p:sp>
        <p:nvSpPr>
          <p:cNvPr id="17" name="line-66"/>
          <p:cNvSpPr/>
          <p:nvPr/>
        </p:nvSpPr>
        <p:spPr>
          <a:xfrm>
            <a:off x="10392156" y="3088843"/>
            <a:ext cx="0" cy="160934"/>
          </a:xfrm>
          <a:prstGeom prst="line">
            <a:avLst/>
          </a:prstGeom>
          <a:noFill/>
          <a:ln w="15875">
            <a:solidFill>
              <a:srgbClr val="9DB7C2"/>
            </a:solidFill>
            <a:prstDash val="solid"/>
          </a:ln>
        </p:spPr>
      </p:sp>
      <p:sp>
        <p:nvSpPr>
          <p:cNvPr id="18" name="line-67"/>
          <p:cNvSpPr/>
          <p:nvPr/>
        </p:nvSpPr>
        <p:spPr>
          <a:xfrm flipH="1">
            <a:off x="9688068" y="3249778"/>
            <a:ext cx="704088" cy="0"/>
          </a:xfrm>
          <a:prstGeom prst="line">
            <a:avLst/>
          </a:prstGeom>
          <a:noFill/>
          <a:ln w="15875">
            <a:solidFill>
              <a:srgbClr val="9DB7C2"/>
            </a:solidFill>
            <a:prstDash val="solid"/>
          </a:ln>
        </p:spPr>
      </p:sp>
      <p:sp>
        <p:nvSpPr>
          <p:cNvPr id="19" name="line-68"/>
          <p:cNvSpPr/>
          <p:nvPr/>
        </p:nvSpPr>
        <p:spPr>
          <a:xfrm>
            <a:off x="9688068" y="3249778"/>
            <a:ext cx="0" cy="160934"/>
          </a:xfrm>
          <a:prstGeom prst="line">
            <a:avLst/>
          </a:prstGeom>
          <a:noFill/>
          <a:ln w="15875">
            <a:solidFill>
              <a:srgbClr val="9DB7C2"/>
            </a:solidFill>
            <a:prstDash val="solid"/>
            <a:tailEnd type="triangle"/>
          </a:ln>
        </p:spPr>
      </p:sp>
      <p:sp>
        <p:nvSpPr>
          <p:cNvPr id="20" name="line-69"/>
          <p:cNvSpPr/>
          <p:nvPr/>
        </p:nvSpPr>
        <p:spPr>
          <a:xfrm>
            <a:off x="10392156" y="3088843"/>
            <a:ext cx="0" cy="160934"/>
          </a:xfrm>
          <a:prstGeom prst="line">
            <a:avLst/>
          </a:prstGeom>
          <a:noFill/>
          <a:ln w="15875">
            <a:solidFill>
              <a:srgbClr val="9DB7C2"/>
            </a:solidFill>
            <a:prstDash val="solid"/>
          </a:ln>
        </p:spPr>
      </p:sp>
      <p:sp>
        <p:nvSpPr>
          <p:cNvPr id="21" name="line-70"/>
          <p:cNvSpPr/>
          <p:nvPr/>
        </p:nvSpPr>
        <p:spPr>
          <a:xfrm>
            <a:off x="10392156" y="3249778"/>
            <a:ext cx="653796" cy="0"/>
          </a:xfrm>
          <a:prstGeom prst="line">
            <a:avLst/>
          </a:prstGeom>
          <a:noFill/>
          <a:ln w="15875">
            <a:solidFill>
              <a:srgbClr val="9DB7C2"/>
            </a:solidFill>
            <a:prstDash val="solid"/>
          </a:ln>
        </p:spPr>
      </p:sp>
      <p:sp>
        <p:nvSpPr>
          <p:cNvPr id="22" name="line-71"/>
          <p:cNvSpPr/>
          <p:nvPr/>
        </p:nvSpPr>
        <p:spPr>
          <a:xfrm>
            <a:off x="11045952" y="3249778"/>
            <a:ext cx="0" cy="160934"/>
          </a:xfrm>
          <a:prstGeom prst="line">
            <a:avLst/>
          </a:prstGeom>
          <a:noFill/>
          <a:ln w="15875">
            <a:solidFill>
              <a:srgbClr val="9DB7C2"/>
            </a:solidFill>
            <a:prstDash val="solid"/>
            <a:tailEnd type="triangle"/>
          </a:ln>
        </p:spPr>
      </p:sp>
      <p:sp>
        <p:nvSpPr>
          <p:cNvPr id="23" name="line-72"/>
          <p:cNvSpPr/>
          <p:nvPr/>
        </p:nvSpPr>
        <p:spPr>
          <a:xfrm>
            <a:off x="9688068" y="3742639"/>
            <a:ext cx="0" cy="160934"/>
          </a:xfrm>
          <a:prstGeom prst="line">
            <a:avLst/>
          </a:prstGeom>
          <a:noFill/>
          <a:ln w="15875">
            <a:solidFill>
              <a:srgbClr val="9DB7C2"/>
            </a:solidFill>
            <a:prstDash val="solid"/>
          </a:ln>
        </p:spPr>
      </p:sp>
      <p:sp>
        <p:nvSpPr>
          <p:cNvPr id="24" name="line-73"/>
          <p:cNvSpPr/>
          <p:nvPr/>
        </p:nvSpPr>
        <p:spPr>
          <a:xfrm flipH="1">
            <a:off x="9160002" y="3903574"/>
            <a:ext cx="528066" cy="0"/>
          </a:xfrm>
          <a:prstGeom prst="line">
            <a:avLst/>
          </a:prstGeom>
          <a:noFill/>
          <a:ln w="15875">
            <a:solidFill>
              <a:srgbClr val="9DB7C2"/>
            </a:solidFill>
            <a:prstDash val="solid"/>
          </a:ln>
        </p:spPr>
      </p:sp>
      <p:sp>
        <p:nvSpPr>
          <p:cNvPr id="25" name="line-74"/>
          <p:cNvSpPr/>
          <p:nvPr/>
        </p:nvSpPr>
        <p:spPr>
          <a:xfrm>
            <a:off x="9160002" y="3903574"/>
            <a:ext cx="0" cy="160934"/>
          </a:xfrm>
          <a:prstGeom prst="line">
            <a:avLst/>
          </a:prstGeom>
          <a:noFill/>
          <a:ln w="15875">
            <a:solidFill>
              <a:srgbClr val="9DB7C2"/>
            </a:solidFill>
            <a:prstDash val="solid"/>
            <a:tailEnd type="triangle"/>
          </a:ln>
        </p:spPr>
      </p:sp>
      <p:sp>
        <p:nvSpPr>
          <p:cNvPr id="26" name="line-75"/>
          <p:cNvSpPr/>
          <p:nvPr/>
        </p:nvSpPr>
        <p:spPr>
          <a:xfrm>
            <a:off x="9688068" y="3742639"/>
            <a:ext cx="0" cy="160934"/>
          </a:xfrm>
          <a:prstGeom prst="line">
            <a:avLst/>
          </a:prstGeom>
          <a:noFill/>
          <a:ln w="15875">
            <a:solidFill>
              <a:srgbClr val="9DB7C2"/>
            </a:solidFill>
            <a:prstDash val="solid"/>
          </a:ln>
        </p:spPr>
      </p:sp>
      <p:sp>
        <p:nvSpPr>
          <p:cNvPr id="27" name="line-76"/>
          <p:cNvSpPr/>
          <p:nvPr/>
        </p:nvSpPr>
        <p:spPr>
          <a:xfrm>
            <a:off x="9688068" y="3903574"/>
            <a:ext cx="528066" cy="0"/>
          </a:xfrm>
          <a:prstGeom prst="line">
            <a:avLst/>
          </a:prstGeom>
          <a:noFill/>
          <a:ln w="15875">
            <a:solidFill>
              <a:srgbClr val="9DB7C2"/>
            </a:solidFill>
            <a:prstDash val="solid"/>
          </a:ln>
        </p:spPr>
      </p:sp>
      <p:sp>
        <p:nvSpPr>
          <p:cNvPr id="28" name="line-77"/>
          <p:cNvSpPr/>
          <p:nvPr/>
        </p:nvSpPr>
        <p:spPr>
          <a:xfrm>
            <a:off x="10216134" y="3903574"/>
            <a:ext cx="0" cy="160934"/>
          </a:xfrm>
          <a:prstGeom prst="line">
            <a:avLst/>
          </a:prstGeom>
          <a:noFill/>
          <a:ln w="15875">
            <a:solidFill>
              <a:srgbClr val="9DB7C2"/>
            </a:solidFill>
            <a:prstDash val="solid"/>
            <a:tailEnd type="triangle"/>
          </a:ln>
        </p:spPr>
      </p:sp>
      <p:sp>
        <p:nvSpPr>
          <p:cNvPr id="29" name="tax-box-78"/>
          <p:cNvSpPr/>
          <p:nvPr/>
        </p:nvSpPr>
        <p:spPr>
          <a:xfrm>
            <a:off x="8833104" y="2103120"/>
            <a:ext cx="1508760" cy="331927"/>
          </a:xfrm>
          <a:prstGeom prst="roundRect">
            <a:avLst>
              <a:gd name="adj" fmla="val 15152"/>
            </a:avLst>
          </a:prstGeom>
          <a:solidFill>
            <a:schemeClr val="tx2"/>
          </a:solidFill>
          <a:ln w="15875">
            <a:solidFill>
              <a:schemeClr val="accent6"/>
            </a:solidFill>
            <a:prstDash val="solid"/>
          </a:ln>
        </p:spPr>
      </p:sp>
      <p:sp>
        <p:nvSpPr>
          <p:cNvPr id="30" name="tax-label-79"/>
          <p:cNvSpPr txBox="1"/>
          <p:nvPr/>
        </p:nvSpPr>
        <p:spPr>
          <a:xfrm>
            <a:off x="8833104" y="2103120"/>
            <a:ext cx="1508760" cy="331927"/>
          </a:xfrm>
          <a:prstGeom prst="rect">
            <a:avLst/>
          </a:prstGeom>
          <a:noFill/>
          <a:ln/>
        </p:spPr>
        <p:txBody>
          <a:bodyPr wrap="square" lIns="0" tIns="0" rIns="0" bIns="0" rtlCol="0" anchor="ctr"/>
          <a:lstStyle/>
          <a:p>
            <a:pPr algn="ctr" indent="0" marL="0">
              <a:buNone/>
            </a:pPr>
            <a:r>
              <a:rPr lang="en-US" sz="1000" b="1" dirty="0">
                <a:solidFill>
                  <a:schemeClr val="bg2"/>
                </a:solidFill>
              </a:rPr>
              <a:t>ML interpretability</a:t>
            </a:r>
            <a:endParaRPr lang="en-US" sz="1000" dirty="0"/>
          </a:p>
        </p:txBody>
      </p:sp>
      <p:sp>
        <p:nvSpPr>
          <p:cNvPr id="31" name="tax-box-80"/>
          <p:cNvSpPr/>
          <p:nvPr/>
        </p:nvSpPr>
        <p:spPr>
          <a:xfrm>
            <a:off x="7726680" y="2756916"/>
            <a:ext cx="1307592" cy="331927"/>
          </a:xfrm>
          <a:prstGeom prst="roundRect">
            <a:avLst>
              <a:gd name="adj" fmla="val 15152"/>
            </a:avLst>
          </a:prstGeom>
          <a:solidFill>
            <a:schemeClr val="accent2"/>
          </a:solidFill>
          <a:ln/>
        </p:spPr>
      </p:sp>
      <p:sp>
        <p:nvSpPr>
          <p:cNvPr id="32" name="tax-label-81"/>
          <p:cNvSpPr txBox="1"/>
          <p:nvPr/>
        </p:nvSpPr>
        <p:spPr>
          <a:xfrm>
            <a:off x="7726680" y="2756916"/>
            <a:ext cx="1307592" cy="331927"/>
          </a:xfrm>
          <a:prstGeom prst="rect">
            <a:avLst/>
          </a:prstGeom>
          <a:noFill/>
          <a:ln/>
        </p:spPr>
        <p:txBody>
          <a:bodyPr wrap="square" lIns="0" tIns="0" rIns="0" bIns="0" rtlCol="0" anchor="ctr"/>
          <a:lstStyle/>
          <a:p>
            <a:pPr algn="ctr" indent="0" marL="0">
              <a:buNone/>
            </a:pPr>
            <a:r>
              <a:rPr lang="en-US" sz="1000" b="1" dirty="0">
                <a:solidFill>
                  <a:schemeClr val="bg1"/>
                </a:solidFill>
              </a:rPr>
              <a:t>By design</a:t>
            </a:r>
            <a:endParaRPr lang="en-US" sz="1000" dirty="0"/>
          </a:p>
        </p:txBody>
      </p:sp>
      <p:sp>
        <p:nvSpPr>
          <p:cNvPr id="33" name="tax-box-82"/>
          <p:cNvSpPr/>
          <p:nvPr/>
        </p:nvSpPr>
        <p:spPr>
          <a:xfrm>
            <a:off x="9738360" y="2756916"/>
            <a:ext cx="1307592" cy="331927"/>
          </a:xfrm>
          <a:prstGeom prst="roundRect">
            <a:avLst>
              <a:gd name="adj" fmla="val 15152"/>
            </a:avLst>
          </a:prstGeom>
          <a:solidFill>
            <a:schemeClr val="tx2"/>
          </a:solidFill>
          <a:ln w="15875">
            <a:solidFill>
              <a:schemeClr val="accent6"/>
            </a:solidFill>
            <a:prstDash val="solid"/>
          </a:ln>
        </p:spPr>
      </p:sp>
      <p:sp>
        <p:nvSpPr>
          <p:cNvPr id="34" name="tax-label-83"/>
          <p:cNvSpPr txBox="1"/>
          <p:nvPr/>
        </p:nvSpPr>
        <p:spPr>
          <a:xfrm>
            <a:off x="9738360" y="2756916"/>
            <a:ext cx="1307592" cy="331927"/>
          </a:xfrm>
          <a:prstGeom prst="rect">
            <a:avLst/>
          </a:prstGeom>
          <a:noFill/>
          <a:ln/>
        </p:spPr>
        <p:txBody>
          <a:bodyPr wrap="square" lIns="0" tIns="0" rIns="0" bIns="0" rtlCol="0" anchor="ctr"/>
          <a:lstStyle/>
          <a:p>
            <a:pPr algn="ctr" indent="0" marL="0">
              <a:buNone/>
            </a:pPr>
            <a:r>
              <a:rPr lang="en-US" sz="1000" b="1" dirty="0">
                <a:solidFill>
                  <a:schemeClr val="bg2"/>
                </a:solidFill>
              </a:rPr>
              <a:t>Post-hoc</a:t>
            </a:r>
            <a:endParaRPr lang="en-US" sz="1000" dirty="0"/>
          </a:p>
        </p:txBody>
      </p:sp>
      <p:sp>
        <p:nvSpPr>
          <p:cNvPr id="35" name="tax-box-84"/>
          <p:cNvSpPr/>
          <p:nvPr/>
        </p:nvSpPr>
        <p:spPr>
          <a:xfrm>
            <a:off x="9034272" y="3410712"/>
            <a:ext cx="1307592" cy="331927"/>
          </a:xfrm>
          <a:prstGeom prst="roundRect">
            <a:avLst>
              <a:gd name="adj" fmla="val 15152"/>
            </a:avLst>
          </a:prstGeom>
          <a:solidFill>
            <a:schemeClr val="tx2"/>
          </a:solidFill>
          <a:ln w="15875">
            <a:solidFill>
              <a:schemeClr val="accent6"/>
            </a:solidFill>
            <a:prstDash val="solid"/>
          </a:ln>
        </p:spPr>
      </p:sp>
      <p:sp>
        <p:nvSpPr>
          <p:cNvPr id="36" name="tax-label-85"/>
          <p:cNvSpPr txBox="1"/>
          <p:nvPr/>
        </p:nvSpPr>
        <p:spPr>
          <a:xfrm>
            <a:off x="9034272" y="3410712"/>
            <a:ext cx="1307592" cy="331927"/>
          </a:xfrm>
          <a:prstGeom prst="rect">
            <a:avLst/>
          </a:prstGeom>
          <a:noFill/>
          <a:ln/>
        </p:spPr>
        <p:txBody>
          <a:bodyPr wrap="square" lIns="0" tIns="0" rIns="0" bIns="0" rtlCol="0" anchor="ctr"/>
          <a:lstStyle/>
          <a:p>
            <a:pPr algn="ctr" indent="0" marL="0">
              <a:buNone/>
            </a:pPr>
            <a:r>
              <a:rPr lang="en-US" sz="1000" b="1" dirty="0">
                <a:solidFill>
                  <a:schemeClr val="bg2"/>
                </a:solidFill>
              </a:rPr>
              <a:t>Model-agnostic</a:t>
            </a:r>
            <a:endParaRPr lang="en-US" sz="1000" dirty="0"/>
          </a:p>
        </p:txBody>
      </p:sp>
      <p:sp>
        <p:nvSpPr>
          <p:cNvPr id="37" name="tax-box-86"/>
          <p:cNvSpPr/>
          <p:nvPr/>
        </p:nvSpPr>
        <p:spPr>
          <a:xfrm>
            <a:off x="10492740" y="3410712"/>
            <a:ext cx="1106424" cy="331927"/>
          </a:xfrm>
          <a:prstGeom prst="roundRect">
            <a:avLst>
              <a:gd name="adj" fmla="val 15152"/>
            </a:avLst>
          </a:prstGeom>
          <a:solidFill>
            <a:schemeClr val="tx2"/>
          </a:solidFill>
          <a:ln w="15875">
            <a:solidFill>
              <a:schemeClr val="accent6"/>
            </a:solidFill>
            <a:prstDash val="solid"/>
          </a:ln>
        </p:spPr>
      </p:sp>
      <p:sp>
        <p:nvSpPr>
          <p:cNvPr id="38" name="tax-label-87"/>
          <p:cNvSpPr txBox="1"/>
          <p:nvPr/>
        </p:nvSpPr>
        <p:spPr>
          <a:xfrm>
            <a:off x="10492740" y="3410712"/>
            <a:ext cx="1106424" cy="331927"/>
          </a:xfrm>
          <a:prstGeom prst="rect">
            <a:avLst/>
          </a:prstGeom>
          <a:noFill/>
          <a:ln/>
        </p:spPr>
        <p:txBody>
          <a:bodyPr wrap="square" lIns="0" tIns="0" rIns="0" bIns="0" rtlCol="0" anchor="ctr"/>
          <a:lstStyle/>
          <a:p>
            <a:pPr algn="ctr" indent="0" marL="0">
              <a:buNone/>
            </a:pPr>
            <a:r>
              <a:rPr lang="en-US" sz="1000" b="1" dirty="0">
                <a:solidFill>
                  <a:schemeClr val="bg2"/>
                </a:solidFill>
              </a:rPr>
              <a:t>Model-specific</a:t>
            </a:r>
            <a:endParaRPr lang="en-US" sz="1000" dirty="0"/>
          </a:p>
        </p:txBody>
      </p:sp>
      <p:sp>
        <p:nvSpPr>
          <p:cNvPr id="39" name="tax-box-88"/>
          <p:cNvSpPr/>
          <p:nvPr/>
        </p:nvSpPr>
        <p:spPr>
          <a:xfrm>
            <a:off x="8732520" y="4064508"/>
            <a:ext cx="854964" cy="331927"/>
          </a:xfrm>
          <a:prstGeom prst="roundRect">
            <a:avLst>
              <a:gd name="adj" fmla="val 15152"/>
            </a:avLst>
          </a:prstGeom>
          <a:solidFill>
            <a:schemeClr val="tx2"/>
          </a:solidFill>
          <a:ln w="15875">
            <a:solidFill>
              <a:schemeClr val="accent6"/>
            </a:solidFill>
            <a:prstDash val="solid"/>
          </a:ln>
        </p:spPr>
      </p:sp>
      <p:sp>
        <p:nvSpPr>
          <p:cNvPr id="40" name="tax-label-89"/>
          <p:cNvSpPr txBox="1"/>
          <p:nvPr/>
        </p:nvSpPr>
        <p:spPr>
          <a:xfrm>
            <a:off x="8732520" y="4064508"/>
            <a:ext cx="854964" cy="331927"/>
          </a:xfrm>
          <a:prstGeom prst="rect">
            <a:avLst/>
          </a:prstGeom>
          <a:noFill/>
          <a:ln/>
        </p:spPr>
        <p:txBody>
          <a:bodyPr wrap="square" lIns="0" tIns="0" rIns="0" bIns="0" rtlCol="0" anchor="ctr"/>
          <a:lstStyle/>
          <a:p>
            <a:pPr algn="ctr" indent="0" marL="0">
              <a:buNone/>
            </a:pPr>
            <a:r>
              <a:rPr lang="en-US" sz="1000" b="1" dirty="0">
                <a:solidFill>
                  <a:schemeClr val="bg2"/>
                </a:solidFill>
              </a:rPr>
              <a:t>Local</a:t>
            </a:r>
            <a:endParaRPr lang="en-US" sz="1000" dirty="0"/>
          </a:p>
        </p:txBody>
      </p:sp>
      <p:sp>
        <p:nvSpPr>
          <p:cNvPr id="41" name="tax-box-90"/>
          <p:cNvSpPr/>
          <p:nvPr/>
        </p:nvSpPr>
        <p:spPr>
          <a:xfrm>
            <a:off x="9788652" y="4064508"/>
            <a:ext cx="854964" cy="331927"/>
          </a:xfrm>
          <a:prstGeom prst="roundRect">
            <a:avLst>
              <a:gd name="adj" fmla="val 15152"/>
            </a:avLst>
          </a:prstGeom>
          <a:solidFill>
            <a:schemeClr val="tx2"/>
          </a:solidFill>
          <a:ln w="15875">
            <a:solidFill>
              <a:schemeClr val="accent6"/>
            </a:solidFill>
            <a:prstDash val="solid"/>
          </a:ln>
        </p:spPr>
      </p:sp>
      <p:sp>
        <p:nvSpPr>
          <p:cNvPr id="42" name="tax-label-91"/>
          <p:cNvSpPr txBox="1"/>
          <p:nvPr/>
        </p:nvSpPr>
        <p:spPr>
          <a:xfrm>
            <a:off x="9788652" y="4064508"/>
            <a:ext cx="854964" cy="331927"/>
          </a:xfrm>
          <a:prstGeom prst="rect">
            <a:avLst/>
          </a:prstGeom>
          <a:noFill/>
          <a:ln/>
        </p:spPr>
        <p:txBody>
          <a:bodyPr wrap="square" lIns="0" tIns="0" rIns="0" bIns="0" rtlCol="0" anchor="ctr"/>
          <a:lstStyle/>
          <a:p>
            <a:pPr algn="ctr" indent="0" marL="0">
              <a:buNone/>
            </a:pPr>
            <a:r>
              <a:rPr lang="en-US" sz="1000" b="1" dirty="0">
                <a:solidFill>
                  <a:schemeClr val="bg2"/>
                </a:solidFill>
              </a:rPr>
              <a:t>Global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5852160" cy="292608"/>
          </a:xfrm>
          <a:prstGeom prst="rect">
            <a:avLst/>
          </a:prstGeom>
          <a:noFill/>
          <a:ln/>
        </p:spPr>
        <p:txBody>
          <a:bodyPr wrap="square" lIns="0" tIns="0" rIns="0" bIns="0" rtlCol="0" anchor="b"/>
          <a:lstStyle/>
          <a:p>
            <a:pPr algn="l" indent="0" marL="0">
              <a:buNone/>
            </a:pPr>
            <a:r>
              <a:rPr lang="en-US" sz="1200" b="1" spc="200" kern="0" dirty="0">
                <a:solidFill>
                  <a:schemeClr val="accent1"/>
                </a:solidFill>
              </a:rPr>
              <a:t>THE ALGORITHM</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200" b="1" dirty="0">
                <a:solidFill>
                  <a:schemeClr val="tx2"/>
                </a:solidFill>
                <a:latin typeface="Avenir" pitchFamily="34" charset="0"/>
                <a:ea typeface="Avenir" pitchFamily="34" charset="-122"/>
                <a:cs typeface="Avenir" pitchFamily="34" charset="-120"/>
              </a:rPr>
              <a:t>The learning algorithm searches only interpretable models</a:t>
            </a:r>
            <a:endParaRPr lang="en-US" sz="3200" dirty="0"/>
          </a:p>
        </p:txBody>
      </p:sp>
      <p:sp>
        <p:nvSpPr>
          <p:cNvPr id="4" name="pill-92"/>
          <p:cNvSpPr/>
          <p:nvPr/>
        </p:nvSpPr>
        <p:spPr>
          <a:xfrm>
            <a:off x="6357823" y="274320"/>
            <a:ext cx="1280160" cy="274320"/>
          </a:xfrm>
          <a:prstGeom prst="roundRect">
            <a:avLst>
              <a:gd name="adj" fmla="val 50000"/>
            </a:avLst>
          </a:prstGeom>
          <a:solidFill>
            <a:schemeClr val="accent1"/>
          </a:solidFill>
          <a:ln/>
        </p:spPr>
      </p:sp>
      <p:sp>
        <p:nvSpPr>
          <p:cNvPr id="5" name="pill-text-93"/>
          <p:cNvSpPr txBox="1"/>
          <p:nvPr/>
        </p:nvSpPr>
        <p:spPr>
          <a:xfrm>
            <a:off x="6357823" y="274320"/>
            <a:ext cx="1280160" cy="274320"/>
          </a:xfrm>
          <a:prstGeom prst="rect">
            <a:avLst/>
          </a:prstGeom>
          <a:noFill/>
          <a:ln/>
        </p:spPr>
        <p:txBody>
          <a:bodyPr wrap="square" lIns="0" tIns="0" rIns="0" bIns="0" rtlCol="0" anchor="ctr"/>
          <a:lstStyle/>
          <a:p>
            <a:pPr algn="ctr" indent="0" marL="0">
              <a:buNone/>
            </a:pPr>
            <a:r>
              <a:rPr lang="en-US" sz="1000" b="1" dirty="0">
                <a:solidFill>
                  <a:schemeClr val="bg1"/>
                </a:solidFill>
              </a:rPr>
              <a:t>By design</a:t>
            </a:r>
            <a:endParaRPr lang="en-US" sz="1000" dirty="0"/>
          </a:p>
        </p:txBody>
      </p:sp>
      <p:sp>
        <p:nvSpPr>
          <p:cNvPr id="6" name="pill-94"/>
          <p:cNvSpPr/>
          <p:nvPr/>
        </p:nvSpPr>
        <p:spPr>
          <a:xfrm>
            <a:off x="7692847" y="274320"/>
            <a:ext cx="1280160" cy="274320"/>
          </a:xfrm>
          <a:prstGeom prst="roundRect">
            <a:avLst>
              <a:gd name="adj" fmla="val 50000"/>
            </a:avLst>
          </a:prstGeom>
          <a:solidFill>
            <a:schemeClr val="bg2"/>
          </a:solidFill>
          <a:ln/>
        </p:spPr>
      </p:sp>
      <p:sp>
        <p:nvSpPr>
          <p:cNvPr id="7" name="pill-text-95"/>
          <p:cNvSpPr txBox="1"/>
          <p:nvPr/>
        </p:nvSpPr>
        <p:spPr>
          <a:xfrm>
            <a:off x="7692847"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Model-agnostic</a:t>
            </a:r>
            <a:endParaRPr lang="en-US" sz="1000" dirty="0"/>
          </a:p>
        </p:txBody>
      </p:sp>
      <p:sp>
        <p:nvSpPr>
          <p:cNvPr id="8" name="pill-96"/>
          <p:cNvSpPr/>
          <p:nvPr/>
        </p:nvSpPr>
        <p:spPr>
          <a:xfrm>
            <a:off x="9027871" y="274320"/>
            <a:ext cx="1280160" cy="274320"/>
          </a:xfrm>
          <a:prstGeom prst="roundRect">
            <a:avLst>
              <a:gd name="adj" fmla="val 50000"/>
            </a:avLst>
          </a:prstGeom>
          <a:solidFill>
            <a:schemeClr val="bg2"/>
          </a:solidFill>
          <a:ln/>
        </p:spPr>
      </p:sp>
      <p:sp>
        <p:nvSpPr>
          <p:cNvPr id="9" name="pill-text-97"/>
          <p:cNvSpPr txBox="1"/>
          <p:nvPr/>
        </p:nvSpPr>
        <p:spPr>
          <a:xfrm>
            <a:off x="9027871"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Model-specific</a:t>
            </a:r>
            <a:endParaRPr lang="en-US" sz="1000" dirty="0"/>
          </a:p>
        </p:txBody>
      </p:sp>
      <p:sp>
        <p:nvSpPr>
          <p:cNvPr id="10" name="pill-98"/>
          <p:cNvSpPr/>
          <p:nvPr/>
        </p:nvSpPr>
        <p:spPr>
          <a:xfrm>
            <a:off x="10362895" y="274320"/>
            <a:ext cx="1280160" cy="274320"/>
          </a:xfrm>
          <a:prstGeom prst="roundRect">
            <a:avLst>
              <a:gd name="adj" fmla="val 50000"/>
            </a:avLst>
          </a:prstGeom>
          <a:solidFill>
            <a:schemeClr val="bg2"/>
          </a:solidFill>
          <a:ln/>
        </p:spPr>
      </p:sp>
      <p:sp>
        <p:nvSpPr>
          <p:cNvPr id="11" name="pill-text-99"/>
          <p:cNvSpPr txBox="1"/>
          <p:nvPr/>
        </p:nvSpPr>
        <p:spPr>
          <a:xfrm>
            <a:off x="10362895"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Synthesis</a:t>
            </a:r>
            <a:endParaRPr lang="en-US" sz="1000" dirty="0"/>
          </a:p>
        </p:txBody>
      </p:sp>
      <p:sp>
        <p:nvSpPr>
          <p:cNvPr id="12" name="all-models-100"/>
          <p:cNvSpPr/>
          <p:nvPr/>
        </p:nvSpPr>
        <p:spPr>
          <a:xfrm>
            <a:off x="548640" y="1508760"/>
            <a:ext cx="5486400" cy="2240280"/>
          </a:xfrm>
          <a:prstGeom prst="roundRect">
            <a:avLst>
              <a:gd name="adj" fmla="val 4082"/>
            </a:avLst>
          </a:prstGeom>
          <a:solidFill>
            <a:schemeClr val="bg2"/>
          </a:solidFill>
          <a:ln/>
        </p:spPr>
      </p:sp>
      <p:sp>
        <p:nvSpPr>
          <p:cNvPr id="13" name="all-label-101"/>
          <p:cNvSpPr txBox="1"/>
          <p:nvPr/>
        </p:nvSpPr>
        <p:spPr>
          <a:xfrm>
            <a:off x="777240" y="1645920"/>
            <a:ext cx="2606040" cy="1097280"/>
          </a:xfrm>
          <a:prstGeom prst="rect">
            <a:avLst/>
          </a:prstGeom>
          <a:noFill/>
          <a:ln/>
        </p:spPr>
        <p:txBody>
          <a:bodyPr wrap="square" lIns="0" tIns="0" rIns="0" bIns="0" rtlCol="0" anchor="t"/>
          <a:lstStyle/>
          <a:p>
            <a:pPr indent="0" marL="0">
              <a:buNone/>
            </a:pPr>
            <a:r>
              <a:rPr lang="en-US" sz="1600" b="1" dirty="0">
                <a:solidFill>
                  <a:schemeClr val="tx2"/>
                </a:solidFill>
              </a:rPr>
              <a:t>All possible models</a:t>
            </a:r>
            <a:endParaRPr lang="en-US" sz="1600" dirty="0"/>
          </a:p>
          <a:p>
            <a:pPr indent="0" marL="0">
              <a:buNone/>
            </a:pPr>
            <a:r>
              <a:rPr lang="en-US" sz="1300" i="1" dirty="0">
                <a:solidFill>
                  <a:schemeClr val="tx1"/>
                </a:solidFill>
              </a:rPr>
              <a:t>e.g. random forests, boosting, neural networks</a:t>
            </a:r>
            <a:endParaRPr lang="en-US" sz="1600" dirty="0"/>
          </a:p>
        </p:txBody>
      </p:sp>
      <p:sp>
        <p:nvSpPr>
          <p:cNvPr id="14" name="interpretable-set-102"/>
          <p:cNvSpPr/>
          <p:nvPr/>
        </p:nvSpPr>
        <p:spPr>
          <a:xfrm>
            <a:off x="3429000" y="1691640"/>
            <a:ext cx="2423160" cy="1874520"/>
          </a:xfrm>
          <a:prstGeom prst="roundRect">
            <a:avLst>
              <a:gd name="adj" fmla="val 9756"/>
            </a:avLst>
          </a:prstGeom>
          <a:solidFill>
            <a:schemeClr val="accent1"/>
          </a:solidFill>
          <a:ln/>
        </p:spPr>
      </p:sp>
      <p:sp>
        <p:nvSpPr>
          <p:cNvPr id="15" name="interpretable-label-103"/>
          <p:cNvSpPr txBox="1"/>
          <p:nvPr/>
        </p:nvSpPr>
        <p:spPr>
          <a:xfrm>
            <a:off x="3566160" y="1691640"/>
            <a:ext cx="2148840" cy="1874520"/>
          </a:xfrm>
          <a:prstGeom prst="rect">
            <a:avLst/>
          </a:prstGeom>
          <a:noFill/>
          <a:ln/>
        </p:spPr>
        <p:txBody>
          <a:bodyPr wrap="square" lIns="0" tIns="0" rIns="0" bIns="0" rtlCol="0" anchor="ctr"/>
          <a:lstStyle/>
          <a:p>
            <a:pPr algn="ctr" indent="0" marL="0">
              <a:buNone/>
            </a:pPr>
            <a:r>
              <a:rPr lang="en-US" sz="1600" b="1" dirty="0">
                <a:solidFill>
                  <a:schemeClr val="bg1"/>
                </a:solidFill>
              </a:rPr>
              <a:t>Interpretable models</a:t>
            </a:r>
            <a:endParaRPr lang="en-US" sz="1600" dirty="0"/>
          </a:p>
          <a:p>
            <a:pPr algn="ctr" indent="0" marL="0">
              <a:buNone/>
            </a:pPr>
            <a:r>
              <a:rPr lang="en-US" sz="1300" dirty="0">
                <a:solidFill>
                  <a:schemeClr val="bg1"/>
                </a:solidFill>
              </a:rPr>
              <a:t>linear models, trees, rules</a:t>
            </a:r>
            <a:endParaRPr lang="en-US" sz="1600" dirty="0"/>
          </a:p>
        </p:txBody>
      </p:sp>
      <p:sp>
        <p:nvSpPr>
          <p:cNvPr id="16" name="pill-104"/>
          <p:cNvSpPr/>
          <p:nvPr/>
        </p:nvSpPr>
        <p:spPr>
          <a:xfrm>
            <a:off x="777240" y="3108960"/>
            <a:ext cx="2331720" cy="365760"/>
          </a:xfrm>
          <a:prstGeom prst="roundRect">
            <a:avLst>
              <a:gd name="adj" fmla="val 50000"/>
            </a:avLst>
          </a:prstGeom>
          <a:solidFill>
            <a:schemeClr val="accent2"/>
          </a:solidFill>
          <a:ln/>
        </p:spPr>
      </p:sp>
      <p:sp>
        <p:nvSpPr>
          <p:cNvPr id="17" name="pill-text-105"/>
          <p:cNvSpPr txBox="1"/>
          <p:nvPr/>
        </p:nvSpPr>
        <p:spPr>
          <a:xfrm>
            <a:off x="777240" y="3108960"/>
            <a:ext cx="2331720" cy="365760"/>
          </a:xfrm>
          <a:prstGeom prst="rect">
            <a:avLst/>
          </a:prstGeom>
          <a:noFill/>
          <a:ln/>
        </p:spPr>
        <p:txBody>
          <a:bodyPr wrap="square" lIns="0" tIns="0" rIns="0" bIns="0" rtlCol="0" anchor="ctr"/>
          <a:lstStyle/>
          <a:p>
            <a:pPr algn="ctr" indent="0" marL="0">
              <a:buNone/>
            </a:pPr>
            <a:r>
              <a:rPr lang="en-US" sz="1200" b="1" dirty="0">
                <a:solidFill>
                  <a:schemeClr val="bg1"/>
                </a:solidFill>
              </a:rPr>
              <a:t>the algorithm searches here</a:t>
            </a:r>
            <a:endParaRPr lang="en-US" sz="1200" dirty="0"/>
          </a:p>
        </p:txBody>
      </p:sp>
      <p:sp>
        <p:nvSpPr>
          <p:cNvPr id="18" name="line-106"/>
          <p:cNvSpPr/>
          <p:nvPr/>
        </p:nvSpPr>
        <p:spPr>
          <a:xfrm>
            <a:off x="3108960" y="3291840"/>
            <a:ext cx="320040" cy="0"/>
          </a:xfrm>
          <a:prstGeom prst="line">
            <a:avLst/>
          </a:prstGeom>
          <a:noFill/>
          <a:ln w="25400">
            <a:solidFill>
              <a:srgbClr val="E07A1F"/>
            </a:solidFill>
            <a:prstDash val="solid"/>
            <a:tailEnd type="triangle"/>
          </a:ln>
        </p:spPr>
      </p:sp>
      <p:sp>
        <p:nvSpPr>
          <p:cNvPr id="19" name="explain-107"/>
          <p:cNvSpPr txBox="1"/>
          <p:nvPr/>
        </p:nvSpPr>
        <p:spPr>
          <a:xfrm>
            <a:off x="6400800" y="1600200"/>
            <a:ext cx="5242255" cy="2103120"/>
          </a:xfrm>
          <a:prstGeom prst="rect">
            <a:avLst/>
          </a:prstGeom>
          <a:noFill/>
          <a:ln/>
        </p:spPr>
        <p:txBody>
          <a:bodyPr wrap="square" lIns="0" tIns="0" rIns="0" bIns="0" rtlCol="0" anchor="t"/>
          <a:lstStyle/>
          <a:p>
            <a:pPr indent="0" marL="0">
              <a:spcAft>
                <a:spcPts val="800"/>
              </a:spcAft>
              <a:buNone/>
            </a:pPr>
            <a:r>
              <a:rPr lang="en-US" sz="1600" b="1" dirty="0">
                <a:solidFill>
                  <a:schemeClr val="tx2"/>
                </a:solidFill>
              </a:rPr>
              <a:t>Interpretability is decided at the level of the algorithm.</a:t>
            </a:r>
            <a:endParaRPr lang="en-US" sz="1600" dirty="0"/>
          </a:p>
          <a:p>
            <a:pPr indent="0" marL="0">
              <a:spcAft>
                <a:spcPts val="800"/>
              </a:spcAft>
              <a:buNone/>
            </a:pPr>
            <a:r>
              <a:rPr lang="en-US" sz="1600" dirty="0">
                <a:solidFill>
                  <a:schemeClr val="tx1"/>
                </a:solidFill>
              </a:rPr>
              <a:t>Example: ordinary least squares only finds models that are linear in the features.</a:t>
            </a:r>
            <a:endParaRPr lang="en-US" sz="1600" dirty="0"/>
          </a:p>
          <a:p>
            <a:pPr indent="0" marL="0">
              <a:spcAft>
                <a:spcPts val="800"/>
              </a:spcAft>
              <a:buNone/>
            </a:pPr>
            <a:r>
              <a:rPr lang="en-US" sz="1600" b="1" dirty="0">
                <a:solidFill>
                  <a:schemeClr val="accent1"/>
                </a:solidFill>
              </a:rPr>
              <a:t>Also called: </a:t>
            </a:r>
            <a:pPr indent="0" marL="0">
              <a:spcAft>
                <a:spcPts val="800"/>
              </a:spcAft>
              <a:buNone/>
            </a:pPr>
            <a:r>
              <a:rPr lang="en-US" sz="1600" dirty="0">
                <a:solidFill>
                  <a:schemeClr val="tx1"/>
                </a:solidFill>
              </a:rPr>
              <a:t>intrinsically or inherently interpretable models.</a:t>
            </a:r>
            <a:endParaRPr lang="en-US" sz="1600" dirty="0"/>
          </a:p>
        </p:txBody>
      </p:sp>
      <p:sp>
        <p:nvSpPr>
          <p:cNvPr id="20" name="models-title-108"/>
          <p:cNvSpPr txBox="1"/>
          <p:nvPr/>
        </p:nvSpPr>
        <p:spPr>
          <a:xfrm>
            <a:off x="548640" y="3931920"/>
            <a:ext cx="7315200" cy="320040"/>
          </a:xfrm>
          <a:prstGeom prst="rect">
            <a:avLst/>
          </a:prstGeom>
          <a:noFill/>
          <a:ln/>
        </p:spPr>
        <p:txBody>
          <a:bodyPr wrap="square" lIns="0" tIns="0" rIns="0" bIns="0" rtlCol="0" anchor="t"/>
          <a:lstStyle/>
          <a:p>
            <a:pPr indent="0" marL="0">
              <a:buNone/>
            </a:pPr>
            <a:r>
              <a:rPr lang="en-US" sz="1400" b="1" dirty="0">
                <a:solidFill>
                  <a:schemeClr val="tx2"/>
                </a:solidFill>
              </a:rPr>
              <a:t>The six approaches the book covers</a:t>
            </a:r>
            <a:endParaRPr lang="en-US" sz="1400" dirty="0"/>
          </a:p>
        </p:txBody>
      </p:sp>
      <p:sp>
        <p:nvSpPr>
          <p:cNvPr id="21" name="model-card-109"/>
          <p:cNvSpPr/>
          <p:nvPr/>
        </p:nvSpPr>
        <p:spPr>
          <a:xfrm>
            <a:off x="548640" y="4343400"/>
            <a:ext cx="1696669" cy="1828800"/>
          </a:xfrm>
          <a:prstGeom prst="roundRect">
            <a:avLst>
              <a:gd name="adj" fmla="val 5389"/>
            </a:avLst>
          </a:prstGeom>
          <a:solidFill>
            <a:schemeClr val="bg1"/>
          </a:solidFill>
          <a:ln w="15875">
            <a:solidFill>
              <a:schemeClr val="bg2"/>
            </a:solidFill>
            <a:prstDash val="solid"/>
          </a:ln>
          <a:effectLst>
            <a:outerShdw sx="100000" sy="100000" kx="0" ky="0" algn="bl" rotWithShape="0" blurRad="101600" dist="25400" dir="5400000">
              <a:srgbClr val="1C2B36">
                <a:alpha val="12000"/>
              </a:srgbClr>
            </a:outerShdw>
          </a:effectLst>
        </p:spPr>
      </p:sp>
      <p:sp>
        <p:nvSpPr>
          <p:cNvPr id="22" name="icon-bg-110"/>
          <p:cNvSpPr/>
          <p:nvPr/>
        </p:nvSpPr>
        <p:spPr>
          <a:xfrm>
            <a:off x="713232" y="4507992"/>
            <a:ext cx="530352" cy="530352"/>
          </a:xfrm>
          <a:prstGeom prst="ellipse">
            <a:avLst/>
          </a:prstGeom>
          <a:solidFill>
            <a:schemeClr val="accent1"/>
          </a:solidFill>
          <a:ln/>
        </p:spPr>
      </p:sp>
      <p:pic>
        <p:nvPicPr>
          <p:cNvPr id="23" name="icon-111" descr="LuTrendingUp">    </p:cNvPr>
          <p:cNvPicPr>
            <a:picLocks noChangeAspect="1"/>
          </p:cNvPicPr>
          <p:nvPr/>
        </p:nvPicPr>
        <p:blipFill>
          <a:blip r:embed="rId1"/>
          <a:stretch>
            <a:fillRect/>
          </a:stretch>
        </p:blipFill>
        <p:spPr>
          <a:xfrm>
            <a:off x="851124" y="4645884"/>
            <a:ext cx="254569" cy="254569"/>
          </a:xfrm>
          <a:prstGeom prst="rect">
            <a:avLst/>
          </a:prstGeom>
        </p:spPr>
      </p:pic>
      <p:sp>
        <p:nvSpPr>
          <p:cNvPr id="24" name="model-name-112"/>
          <p:cNvSpPr txBox="1"/>
          <p:nvPr/>
        </p:nvSpPr>
        <p:spPr>
          <a:xfrm>
            <a:off x="713232" y="5120640"/>
            <a:ext cx="1422349" cy="502920"/>
          </a:xfrm>
          <a:prstGeom prst="rect">
            <a:avLst/>
          </a:prstGeom>
          <a:noFill/>
          <a:ln/>
        </p:spPr>
        <p:txBody>
          <a:bodyPr wrap="square" lIns="0" tIns="0" rIns="0" bIns="0" rtlCol="0" anchor="t"/>
          <a:lstStyle/>
          <a:p>
            <a:pPr indent="0" marL="0">
              <a:buNone/>
            </a:pPr>
            <a:r>
              <a:rPr lang="en-US" sz="1400" b="1" dirty="0">
                <a:solidFill>
                  <a:schemeClr val="tx2"/>
                </a:solidFill>
              </a:rPr>
              <a:t>Linear regression</a:t>
            </a:r>
            <a:endParaRPr lang="en-US" sz="1400" dirty="0"/>
          </a:p>
        </p:txBody>
      </p:sp>
      <p:sp>
        <p:nvSpPr>
          <p:cNvPr id="25" name="model-desc-113"/>
          <p:cNvSpPr txBox="1"/>
          <p:nvPr/>
        </p:nvSpPr>
        <p:spPr>
          <a:xfrm>
            <a:off x="713232" y="5605272"/>
            <a:ext cx="1422349" cy="502920"/>
          </a:xfrm>
          <a:prstGeom prst="rect">
            <a:avLst/>
          </a:prstGeom>
          <a:noFill/>
          <a:ln/>
        </p:spPr>
        <p:txBody>
          <a:bodyPr wrap="square" lIns="0" tIns="0" rIns="0" bIns="0" rtlCol="0" anchor="t"/>
          <a:lstStyle/>
          <a:p>
            <a:pPr indent="0" marL="0">
              <a:buNone/>
            </a:pPr>
            <a:r>
              <a:rPr lang="en-US" sz="1200" dirty="0">
                <a:solidFill>
                  <a:schemeClr val="tx1"/>
                </a:solidFill>
              </a:rPr>
              <a:t>Minimizes squared errors</a:t>
            </a:r>
            <a:endParaRPr lang="en-US" sz="1200" dirty="0"/>
          </a:p>
        </p:txBody>
      </p:sp>
      <p:sp>
        <p:nvSpPr>
          <p:cNvPr id="26" name="model-card-114"/>
          <p:cNvSpPr/>
          <p:nvPr/>
        </p:nvSpPr>
        <p:spPr>
          <a:xfrm>
            <a:off x="2428189" y="4343400"/>
            <a:ext cx="1696669" cy="1828800"/>
          </a:xfrm>
          <a:prstGeom prst="roundRect">
            <a:avLst>
              <a:gd name="adj" fmla="val 5389"/>
            </a:avLst>
          </a:prstGeom>
          <a:solidFill>
            <a:schemeClr val="bg1"/>
          </a:solidFill>
          <a:ln w="15875">
            <a:solidFill>
              <a:schemeClr val="bg2"/>
            </a:solidFill>
            <a:prstDash val="solid"/>
          </a:ln>
          <a:effectLst>
            <a:outerShdw sx="100000" sy="100000" kx="0" ky="0" algn="bl" rotWithShape="0" blurRad="101600" dist="25400" dir="5400000">
              <a:srgbClr val="1C2B36">
                <a:alpha val="12000"/>
              </a:srgbClr>
            </a:outerShdw>
          </a:effectLst>
        </p:spPr>
      </p:sp>
      <p:sp>
        <p:nvSpPr>
          <p:cNvPr id="27" name="icon-bg-115"/>
          <p:cNvSpPr/>
          <p:nvPr/>
        </p:nvSpPr>
        <p:spPr>
          <a:xfrm>
            <a:off x="2592781" y="4507992"/>
            <a:ext cx="530352" cy="530352"/>
          </a:xfrm>
          <a:prstGeom prst="ellipse">
            <a:avLst/>
          </a:prstGeom>
          <a:solidFill>
            <a:schemeClr val="accent1"/>
          </a:solidFill>
          <a:ln/>
        </p:spPr>
      </p:sp>
      <p:pic>
        <p:nvPicPr>
          <p:cNvPr id="28" name="icon-116" descr="LuPercent">    </p:cNvPr>
          <p:cNvPicPr>
            <a:picLocks noChangeAspect="1"/>
          </p:cNvPicPr>
          <p:nvPr/>
        </p:nvPicPr>
        <p:blipFill>
          <a:blip r:embed="rId2"/>
          <a:stretch>
            <a:fillRect/>
          </a:stretch>
        </p:blipFill>
        <p:spPr>
          <a:xfrm>
            <a:off x="2730673" y="4645884"/>
            <a:ext cx="254569" cy="254569"/>
          </a:xfrm>
          <a:prstGeom prst="rect">
            <a:avLst/>
          </a:prstGeom>
        </p:spPr>
      </p:pic>
      <p:sp>
        <p:nvSpPr>
          <p:cNvPr id="29" name="model-name-117"/>
          <p:cNvSpPr txBox="1"/>
          <p:nvPr/>
        </p:nvSpPr>
        <p:spPr>
          <a:xfrm>
            <a:off x="2592781" y="5120640"/>
            <a:ext cx="1422349" cy="502920"/>
          </a:xfrm>
          <a:prstGeom prst="rect">
            <a:avLst/>
          </a:prstGeom>
          <a:noFill/>
          <a:ln/>
        </p:spPr>
        <p:txBody>
          <a:bodyPr wrap="square" lIns="0" tIns="0" rIns="0" bIns="0" rtlCol="0" anchor="t"/>
          <a:lstStyle/>
          <a:p>
            <a:pPr indent="0" marL="0">
              <a:buNone/>
            </a:pPr>
            <a:r>
              <a:rPr lang="en-US" sz="1400" b="1" dirty="0">
                <a:solidFill>
                  <a:schemeClr val="tx2"/>
                </a:solidFill>
              </a:rPr>
              <a:t>Logistic regression</a:t>
            </a:r>
            <a:endParaRPr lang="en-US" sz="1400" dirty="0"/>
          </a:p>
        </p:txBody>
      </p:sp>
      <p:sp>
        <p:nvSpPr>
          <p:cNvPr id="30" name="model-desc-118"/>
          <p:cNvSpPr txBox="1"/>
          <p:nvPr/>
        </p:nvSpPr>
        <p:spPr>
          <a:xfrm>
            <a:off x="2592781" y="5605272"/>
            <a:ext cx="1422349" cy="502920"/>
          </a:xfrm>
          <a:prstGeom prst="rect">
            <a:avLst/>
          </a:prstGeom>
          <a:noFill/>
          <a:ln/>
        </p:spPr>
        <p:txBody>
          <a:bodyPr wrap="square" lIns="0" tIns="0" rIns="0" bIns="0" rtlCol="0" anchor="t"/>
          <a:lstStyle/>
          <a:p>
            <a:pPr indent="0" marL="0">
              <a:buNone/>
            </a:pPr>
            <a:r>
              <a:rPr lang="en-US" sz="1200" dirty="0">
                <a:solidFill>
                  <a:schemeClr val="tx1"/>
                </a:solidFill>
              </a:rPr>
              <a:t>Linear model for classification</a:t>
            </a:r>
            <a:endParaRPr lang="en-US" sz="1200" dirty="0"/>
          </a:p>
        </p:txBody>
      </p:sp>
      <p:sp>
        <p:nvSpPr>
          <p:cNvPr id="31" name="model-card-119"/>
          <p:cNvSpPr/>
          <p:nvPr/>
        </p:nvSpPr>
        <p:spPr>
          <a:xfrm>
            <a:off x="4307738" y="4343400"/>
            <a:ext cx="1696669" cy="1828800"/>
          </a:xfrm>
          <a:prstGeom prst="roundRect">
            <a:avLst>
              <a:gd name="adj" fmla="val 5389"/>
            </a:avLst>
          </a:prstGeom>
          <a:solidFill>
            <a:schemeClr val="bg1"/>
          </a:solidFill>
          <a:ln w="15875">
            <a:solidFill>
              <a:schemeClr val="bg2"/>
            </a:solidFill>
            <a:prstDash val="solid"/>
          </a:ln>
          <a:effectLst>
            <a:outerShdw sx="100000" sy="100000" kx="0" ky="0" algn="bl" rotWithShape="0" blurRad="101600" dist="25400" dir="5400000">
              <a:srgbClr val="1C2B36">
                <a:alpha val="12000"/>
              </a:srgbClr>
            </a:outerShdw>
          </a:effectLst>
        </p:spPr>
      </p:sp>
      <p:sp>
        <p:nvSpPr>
          <p:cNvPr id="32" name="icon-bg-120"/>
          <p:cNvSpPr/>
          <p:nvPr/>
        </p:nvSpPr>
        <p:spPr>
          <a:xfrm>
            <a:off x="4472330" y="4507992"/>
            <a:ext cx="530352" cy="530352"/>
          </a:xfrm>
          <a:prstGeom prst="ellipse">
            <a:avLst/>
          </a:prstGeom>
          <a:solidFill>
            <a:schemeClr val="accent1"/>
          </a:solidFill>
          <a:ln/>
        </p:spPr>
      </p:sp>
      <p:pic>
        <p:nvPicPr>
          <p:cNvPr id="33" name="icon-121" descr="LuPuzzle">    </p:cNvPr>
          <p:cNvPicPr>
            <a:picLocks noChangeAspect="1"/>
          </p:cNvPicPr>
          <p:nvPr/>
        </p:nvPicPr>
        <p:blipFill>
          <a:blip r:embed="rId3"/>
          <a:stretch>
            <a:fillRect/>
          </a:stretch>
        </p:blipFill>
        <p:spPr>
          <a:xfrm>
            <a:off x="4610222" y="4645884"/>
            <a:ext cx="254569" cy="254569"/>
          </a:xfrm>
          <a:prstGeom prst="rect">
            <a:avLst/>
          </a:prstGeom>
        </p:spPr>
      </p:pic>
      <p:sp>
        <p:nvSpPr>
          <p:cNvPr id="34" name="model-name-122"/>
          <p:cNvSpPr txBox="1"/>
          <p:nvPr/>
        </p:nvSpPr>
        <p:spPr>
          <a:xfrm>
            <a:off x="4472330" y="5120640"/>
            <a:ext cx="1422349" cy="502920"/>
          </a:xfrm>
          <a:prstGeom prst="rect">
            <a:avLst/>
          </a:prstGeom>
          <a:noFill/>
          <a:ln/>
        </p:spPr>
        <p:txBody>
          <a:bodyPr wrap="square" lIns="0" tIns="0" rIns="0" bIns="0" rtlCol="0" anchor="t"/>
          <a:lstStyle/>
          <a:p>
            <a:pPr indent="0" marL="0">
              <a:buNone/>
            </a:pPr>
            <a:r>
              <a:rPr lang="en-US" sz="1400" b="1" dirty="0">
                <a:solidFill>
                  <a:schemeClr val="tx2"/>
                </a:solidFill>
              </a:rPr>
              <a:t>Linear model extensions</a:t>
            </a:r>
            <a:endParaRPr lang="en-US" sz="1400" dirty="0"/>
          </a:p>
        </p:txBody>
      </p:sp>
      <p:sp>
        <p:nvSpPr>
          <p:cNvPr id="35" name="model-desc-123"/>
          <p:cNvSpPr txBox="1"/>
          <p:nvPr/>
        </p:nvSpPr>
        <p:spPr>
          <a:xfrm>
            <a:off x="4472330" y="5605272"/>
            <a:ext cx="1422349" cy="502920"/>
          </a:xfrm>
          <a:prstGeom prst="rect">
            <a:avLst/>
          </a:prstGeom>
          <a:noFill/>
          <a:ln/>
        </p:spPr>
        <p:txBody>
          <a:bodyPr wrap="square" lIns="0" tIns="0" rIns="0" bIns="0" rtlCol="0" anchor="t"/>
          <a:lstStyle/>
          <a:p>
            <a:pPr indent="0" marL="0">
              <a:buNone/>
            </a:pPr>
            <a:r>
              <a:rPr lang="en-US" sz="1200" dirty="0">
                <a:solidFill>
                  <a:schemeClr val="tx1"/>
                </a:solidFill>
              </a:rPr>
              <a:t>Penalties, interactions, non-linear terms</a:t>
            </a:r>
            <a:endParaRPr lang="en-US" sz="1200" dirty="0"/>
          </a:p>
        </p:txBody>
      </p:sp>
      <p:sp>
        <p:nvSpPr>
          <p:cNvPr id="36" name="model-card-124"/>
          <p:cNvSpPr/>
          <p:nvPr/>
        </p:nvSpPr>
        <p:spPr>
          <a:xfrm>
            <a:off x="6187288" y="4343400"/>
            <a:ext cx="1696669" cy="1828800"/>
          </a:xfrm>
          <a:prstGeom prst="roundRect">
            <a:avLst>
              <a:gd name="adj" fmla="val 5389"/>
            </a:avLst>
          </a:prstGeom>
          <a:solidFill>
            <a:schemeClr val="bg1"/>
          </a:solidFill>
          <a:ln w="15875">
            <a:solidFill>
              <a:schemeClr val="bg2"/>
            </a:solidFill>
            <a:prstDash val="solid"/>
          </a:ln>
          <a:effectLst>
            <a:outerShdw sx="100000" sy="100000" kx="0" ky="0" algn="bl" rotWithShape="0" blurRad="101600" dist="25400" dir="5400000">
              <a:srgbClr val="1C2B36">
                <a:alpha val="12000"/>
              </a:srgbClr>
            </a:outerShdw>
          </a:effectLst>
        </p:spPr>
      </p:sp>
      <p:sp>
        <p:nvSpPr>
          <p:cNvPr id="37" name="icon-bg-125"/>
          <p:cNvSpPr/>
          <p:nvPr/>
        </p:nvSpPr>
        <p:spPr>
          <a:xfrm>
            <a:off x="6351880" y="4507992"/>
            <a:ext cx="530352" cy="530352"/>
          </a:xfrm>
          <a:prstGeom prst="ellipse">
            <a:avLst/>
          </a:prstGeom>
          <a:solidFill>
            <a:schemeClr val="accent1"/>
          </a:solidFill>
          <a:ln/>
        </p:spPr>
      </p:sp>
      <p:pic>
        <p:nvPicPr>
          <p:cNvPr id="38" name="icon-126" descr="LuNetwork">    </p:cNvPr>
          <p:cNvPicPr>
            <a:picLocks noChangeAspect="1"/>
          </p:cNvPicPr>
          <p:nvPr/>
        </p:nvPicPr>
        <p:blipFill>
          <a:blip r:embed="rId4"/>
          <a:stretch>
            <a:fillRect/>
          </a:stretch>
        </p:blipFill>
        <p:spPr>
          <a:xfrm>
            <a:off x="6489771" y="4645884"/>
            <a:ext cx="254569" cy="254569"/>
          </a:xfrm>
          <a:prstGeom prst="rect">
            <a:avLst/>
          </a:prstGeom>
        </p:spPr>
      </p:pic>
      <p:sp>
        <p:nvSpPr>
          <p:cNvPr id="39" name="model-name-127"/>
          <p:cNvSpPr txBox="1"/>
          <p:nvPr/>
        </p:nvSpPr>
        <p:spPr>
          <a:xfrm>
            <a:off x="6351880" y="5120640"/>
            <a:ext cx="1422349" cy="502920"/>
          </a:xfrm>
          <a:prstGeom prst="rect">
            <a:avLst/>
          </a:prstGeom>
          <a:noFill/>
          <a:ln/>
        </p:spPr>
        <p:txBody>
          <a:bodyPr wrap="square" lIns="0" tIns="0" rIns="0" bIns="0" rtlCol="0" anchor="t"/>
          <a:lstStyle/>
          <a:p>
            <a:pPr indent="0" marL="0">
              <a:buNone/>
            </a:pPr>
            <a:r>
              <a:rPr lang="en-US" sz="1400" b="1" dirty="0">
                <a:solidFill>
                  <a:schemeClr val="tx2"/>
                </a:solidFill>
              </a:rPr>
              <a:t>Decision trees</a:t>
            </a:r>
            <a:endParaRPr lang="en-US" sz="1400" dirty="0"/>
          </a:p>
        </p:txBody>
      </p:sp>
      <p:sp>
        <p:nvSpPr>
          <p:cNvPr id="40" name="model-desc-128"/>
          <p:cNvSpPr txBox="1"/>
          <p:nvPr/>
        </p:nvSpPr>
        <p:spPr>
          <a:xfrm>
            <a:off x="6351880" y="5605272"/>
            <a:ext cx="1422349" cy="502920"/>
          </a:xfrm>
          <a:prstGeom prst="rect">
            <a:avLst/>
          </a:prstGeom>
          <a:noFill/>
          <a:ln/>
        </p:spPr>
        <p:txBody>
          <a:bodyPr wrap="square" lIns="0" tIns="0" rIns="0" bIns="0" rtlCol="0" anchor="t"/>
          <a:lstStyle/>
          <a:p>
            <a:pPr indent="0" marL="0">
              <a:buNone/>
            </a:pPr>
            <a:r>
              <a:rPr lang="en-US" sz="1200" dirty="0">
                <a:solidFill>
                  <a:schemeClr val="tx1"/>
                </a:solidFill>
              </a:rPr>
              <a:t>Split the data recursively</a:t>
            </a:r>
            <a:endParaRPr lang="en-US" sz="1200" dirty="0"/>
          </a:p>
        </p:txBody>
      </p:sp>
      <p:sp>
        <p:nvSpPr>
          <p:cNvPr id="41" name="model-card-129"/>
          <p:cNvSpPr/>
          <p:nvPr/>
        </p:nvSpPr>
        <p:spPr>
          <a:xfrm>
            <a:off x="8066837" y="4343400"/>
            <a:ext cx="1696669" cy="1828800"/>
          </a:xfrm>
          <a:prstGeom prst="roundRect">
            <a:avLst>
              <a:gd name="adj" fmla="val 5389"/>
            </a:avLst>
          </a:prstGeom>
          <a:solidFill>
            <a:schemeClr val="bg1"/>
          </a:solidFill>
          <a:ln w="15875">
            <a:solidFill>
              <a:schemeClr val="bg2"/>
            </a:solidFill>
            <a:prstDash val="solid"/>
          </a:ln>
          <a:effectLst>
            <a:outerShdw sx="100000" sy="100000" kx="0" ky="0" algn="bl" rotWithShape="0" blurRad="101600" dist="25400" dir="5400000">
              <a:srgbClr val="1C2B36">
                <a:alpha val="12000"/>
              </a:srgbClr>
            </a:outerShdw>
          </a:effectLst>
        </p:spPr>
      </p:sp>
      <p:sp>
        <p:nvSpPr>
          <p:cNvPr id="42" name="icon-bg-130"/>
          <p:cNvSpPr/>
          <p:nvPr/>
        </p:nvSpPr>
        <p:spPr>
          <a:xfrm>
            <a:off x="8231429" y="4507992"/>
            <a:ext cx="530352" cy="530352"/>
          </a:xfrm>
          <a:prstGeom prst="ellipse">
            <a:avLst/>
          </a:prstGeom>
          <a:solidFill>
            <a:schemeClr val="accent1"/>
          </a:solidFill>
          <a:ln/>
        </p:spPr>
      </p:sp>
      <p:pic>
        <p:nvPicPr>
          <p:cNvPr id="43" name="icon-131" descr="LuListChecks">    </p:cNvPr>
          <p:cNvPicPr>
            <a:picLocks noChangeAspect="1"/>
          </p:cNvPicPr>
          <p:nvPr/>
        </p:nvPicPr>
        <p:blipFill>
          <a:blip r:embed="rId5"/>
          <a:stretch>
            <a:fillRect/>
          </a:stretch>
        </p:blipFill>
        <p:spPr>
          <a:xfrm>
            <a:off x="8369320" y="4645884"/>
            <a:ext cx="254569" cy="254569"/>
          </a:xfrm>
          <a:prstGeom prst="rect">
            <a:avLst/>
          </a:prstGeom>
        </p:spPr>
      </p:pic>
      <p:sp>
        <p:nvSpPr>
          <p:cNvPr id="44" name="model-name-132"/>
          <p:cNvSpPr txBox="1"/>
          <p:nvPr/>
        </p:nvSpPr>
        <p:spPr>
          <a:xfrm>
            <a:off x="8231429" y="5120640"/>
            <a:ext cx="1422349" cy="502920"/>
          </a:xfrm>
          <a:prstGeom prst="rect">
            <a:avLst/>
          </a:prstGeom>
          <a:noFill/>
          <a:ln/>
        </p:spPr>
        <p:txBody>
          <a:bodyPr wrap="square" lIns="0" tIns="0" rIns="0" bIns="0" rtlCol="0" anchor="t"/>
          <a:lstStyle/>
          <a:p>
            <a:pPr indent="0" marL="0">
              <a:buNone/>
            </a:pPr>
            <a:r>
              <a:rPr lang="en-US" sz="1400" b="1" dirty="0">
                <a:solidFill>
                  <a:schemeClr val="tx2"/>
                </a:solidFill>
              </a:rPr>
              <a:t>Decision rules</a:t>
            </a:r>
            <a:endParaRPr lang="en-US" sz="1400" dirty="0"/>
          </a:p>
        </p:txBody>
      </p:sp>
      <p:sp>
        <p:nvSpPr>
          <p:cNvPr id="45" name="model-desc-133"/>
          <p:cNvSpPr txBox="1"/>
          <p:nvPr/>
        </p:nvSpPr>
        <p:spPr>
          <a:xfrm>
            <a:off x="8231429" y="5605272"/>
            <a:ext cx="1422349" cy="502920"/>
          </a:xfrm>
          <a:prstGeom prst="rect">
            <a:avLst/>
          </a:prstGeom>
          <a:noFill/>
          <a:ln/>
        </p:spPr>
        <p:txBody>
          <a:bodyPr wrap="square" lIns="0" tIns="0" rIns="0" bIns="0" rtlCol="0" anchor="t"/>
          <a:lstStyle/>
          <a:p>
            <a:pPr indent="0" marL="0">
              <a:buNone/>
            </a:pPr>
            <a:r>
              <a:rPr lang="en-US" sz="1200" dirty="0">
                <a:solidFill>
                  <a:schemeClr val="tx1"/>
                </a:solidFill>
              </a:rPr>
              <a:t>If-then rules from data</a:t>
            </a:r>
            <a:endParaRPr lang="en-US" sz="1200" dirty="0"/>
          </a:p>
        </p:txBody>
      </p:sp>
      <p:sp>
        <p:nvSpPr>
          <p:cNvPr id="46" name="model-card-134"/>
          <p:cNvSpPr/>
          <p:nvPr/>
        </p:nvSpPr>
        <p:spPr>
          <a:xfrm>
            <a:off x="9946386" y="4343400"/>
            <a:ext cx="1696669" cy="1828800"/>
          </a:xfrm>
          <a:prstGeom prst="roundRect">
            <a:avLst>
              <a:gd name="adj" fmla="val 5389"/>
            </a:avLst>
          </a:prstGeom>
          <a:solidFill>
            <a:schemeClr val="bg1"/>
          </a:solidFill>
          <a:ln w="15875">
            <a:solidFill>
              <a:schemeClr val="bg2"/>
            </a:solidFill>
            <a:prstDash val="solid"/>
          </a:ln>
          <a:effectLst>
            <a:outerShdw sx="100000" sy="100000" kx="0" ky="0" algn="bl" rotWithShape="0" blurRad="101600" dist="25400" dir="5400000">
              <a:srgbClr val="1C2B36">
                <a:alpha val="12000"/>
              </a:srgbClr>
            </a:outerShdw>
          </a:effectLst>
        </p:spPr>
      </p:sp>
      <p:sp>
        <p:nvSpPr>
          <p:cNvPr id="47" name="icon-bg-135"/>
          <p:cNvSpPr/>
          <p:nvPr/>
        </p:nvSpPr>
        <p:spPr>
          <a:xfrm>
            <a:off x="10110978" y="4507992"/>
            <a:ext cx="530352" cy="530352"/>
          </a:xfrm>
          <a:prstGeom prst="ellipse">
            <a:avLst/>
          </a:prstGeom>
          <a:solidFill>
            <a:schemeClr val="accent1"/>
          </a:solidFill>
          <a:ln/>
        </p:spPr>
      </p:sp>
      <p:pic>
        <p:nvPicPr>
          <p:cNvPr id="48" name="icon-136" descr="LuCombine">    </p:cNvPr>
          <p:cNvPicPr>
            <a:picLocks noChangeAspect="1"/>
          </p:cNvPicPr>
          <p:nvPr/>
        </p:nvPicPr>
        <p:blipFill>
          <a:blip r:embed="rId6"/>
          <a:stretch>
            <a:fillRect/>
          </a:stretch>
        </p:blipFill>
        <p:spPr>
          <a:xfrm>
            <a:off x="10248870" y="4645884"/>
            <a:ext cx="254569" cy="254569"/>
          </a:xfrm>
          <a:prstGeom prst="rect">
            <a:avLst/>
          </a:prstGeom>
        </p:spPr>
      </p:pic>
      <p:sp>
        <p:nvSpPr>
          <p:cNvPr id="49" name="model-name-137"/>
          <p:cNvSpPr txBox="1"/>
          <p:nvPr/>
        </p:nvSpPr>
        <p:spPr>
          <a:xfrm>
            <a:off x="10110978" y="5120640"/>
            <a:ext cx="1422349" cy="502920"/>
          </a:xfrm>
          <a:prstGeom prst="rect">
            <a:avLst/>
          </a:prstGeom>
          <a:noFill/>
          <a:ln/>
        </p:spPr>
        <p:txBody>
          <a:bodyPr wrap="square" lIns="0" tIns="0" rIns="0" bIns="0" rtlCol="0" anchor="t"/>
          <a:lstStyle/>
          <a:p>
            <a:pPr indent="0" marL="0">
              <a:buNone/>
            </a:pPr>
            <a:r>
              <a:rPr lang="en-US" sz="1400" b="1" dirty="0">
                <a:solidFill>
                  <a:schemeClr val="tx2"/>
                </a:solidFill>
              </a:rPr>
              <a:t>RuleFit</a:t>
            </a:r>
            <a:endParaRPr lang="en-US" sz="1400" dirty="0"/>
          </a:p>
        </p:txBody>
      </p:sp>
      <p:sp>
        <p:nvSpPr>
          <p:cNvPr id="50" name="model-desc-138"/>
          <p:cNvSpPr txBox="1"/>
          <p:nvPr/>
        </p:nvSpPr>
        <p:spPr>
          <a:xfrm>
            <a:off x="10110978" y="5605272"/>
            <a:ext cx="1422349" cy="502920"/>
          </a:xfrm>
          <a:prstGeom prst="rect">
            <a:avLst/>
          </a:prstGeom>
          <a:noFill/>
          <a:ln/>
        </p:spPr>
        <p:txBody>
          <a:bodyPr wrap="square" lIns="0" tIns="0" rIns="0" bIns="0" rtlCol="0" anchor="t"/>
          <a:lstStyle/>
          <a:p>
            <a:pPr indent="0" marL="0">
              <a:buNone/>
            </a:pPr>
            <a:r>
              <a:rPr lang="en-US" sz="1200" dirty="0">
                <a:solidFill>
                  <a:schemeClr val="tx1"/>
                </a:solidFill>
              </a:rPr>
              <a:t>Tree rules + Lasso</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5852160" cy="292608"/>
          </a:xfrm>
          <a:prstGeom prst="rect">
            <a:avLst/>
          </a:prstGeom>
          <a:noFill/>
          <a:ln/>
        </p:spPr>
        <p:txBody>
          <a:bodyPr wrap="square" lIns="0" tIns="0" rIns="0" bIns="0" rtlCol="0" anchor="b"/>
          <a:lstStyle/>
          <a:p>
            <a:pPr algn="l" indent="0" marL="0">
              <a:buNone/>
            </a:pPr>
            <a:r>
              <a:rPr lang="en-US" sz="1200" b="1" spc="200" kern="0" dirty="0">
                <a:solidFill>
                  <a:schemeClr val="accent1"/>
                </a:solidFill>
              </a:rPr>
              <a:t>BEYOND THE BASICS</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200" b="1" dirty="0">
                <a:solidFill>
                  <a:schemeClr val="tx2"/>
                </a:solidFill>
                <a:latin typeface="Avenir" pitchFamily="34" charset="0"/>
                <a:ea typeface="Avenir" pitchFamily="34" charset="-122"/>
                <a:cs typeface="Avenir" pitchFamily="34" charset="-120"/>
              </a:rPr>
              <a:t>Four more interpretable approaches</a:t>
            </a:r>
            <a:endParaRPr lang="en-US" sz="3200" dirty="0"/>
          </a:p>
        </p:txBody>
      </p:sp>
      <p:sp>
        <p:nvSpPr>
          <p:cNvPr id="4" name="pill-139"/>
          <p:cNvSpPr/>
          <p:nvPr/>
        </p:nvSpPr>
        <p:spPr>
          <a:xfrm>
            <a:off x="6357823" y="274320"/>
            <a:ext cx="1280160" cy="274320"/>
          </a:xfrm>
          <a:prstGeom prst="roundRect">
            <a:avLst>
              <a:gd name="adj" fmla="val 50000"/>
            </a:avLst>
          </a:prstGeom>
          <a:solidFill>
            <a:schemeClr val="accent1"/>
          </a:solidFill>
          <a:ln/>
        </p:spPr>
      </p:sp>
      <p:sp>
        <p:nvSpPr>
          <p:cNvPr id="5" name="pill-text-140"/>
          <p:cNvSpPr txBox="1"/>
          <p:nvPr/>
        </p:nvSpPr>
        <p:spPr>
          <a:xfrm>
            <a:off x="6357823" y="274320"/>
            <a:ext cx="1280160" cy="274320"/>
          </a:xfrm>
          <a:prstGeom prst="rect">
            <a:avLst/>
          </a:prstGeom>
          <a:noFill/>
          <a:ln/>
        </p:spPr>
        <p:txBody>
          <a:bodyPr wrap="square" lIns="0" tIns="0" rIns="0" bIns="0" rtlCol="0" anchor="ctr"/>
          <a:lstStyle/>
          <a:p>
            <a:pPr algn="ctr" indent="0" marL="0">
              <a:buNone/>
            </a:pPr>
            <a:r>
              <a:rPr lang="en-US" sz="1000" b="1" dirty="0">
                <a:solidFill>
                  <a:schemeClr val="bg1"/>
                </a:solidFill>
              </a:rPr>
              <a:t>By design</a:t>
            </a:r>
            <a:endParaRPr lang="en-US" sz="1000" dirty="0"/>
          </a:p>
        </p:txBody>
      </p:sp>
      <p:sp>
        <p:nvSpPr>
          <p:cNvPr id="6" name="pill-141"/>
          <p:cNvSpPr/>
          <p:nvPr/>
        </p:nvSpPr>
        <p:spPr>
          <a:xfrm>
            <a:off x="7692847" y="274320"/>
            <a:ext cx="1280160" cy="274320"/>
          </a:xfrm>
          <a:prstGeom prst="roundRect">
            <a:avLst>
              <a:gd name="adj" fmla="val 50000"/>
            </a:avLst>
          </a:prstGeom>
          <a:solidFill>
            <a:schemeClr val="bg2"/>
          </a:solidFill>
          <a:ln/>
        </p:spPr>
      </p:sp>
      <p:sp>
        <p:nvSpPr>
          <p:cNvPr id="7" name="pill-text-142"/>
          <p:cNvSpPr txBox="1"/>
          <p:nvPr/>
        </p:nvSpPr>
        <p:spPr>
          <a:xfrm>
            <a:off x="7692847"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Model-agnostic</a:t>
            </a:r>
            <a:endParaRPr lang="en-US" sz="1000" dirty="0"/>
          </a:p>
        </p:txBody>
      </p:sp>
      <p:sp>
        <p:nvSpPr>
          <p:cNvPr id="8" name="pill-143"/>
          <p:cNvSpPr/>
          <p:nvPr/>
        </p:nvSpPr>
        <p:spPr>
          <a:xfrm>
            <a:off x="9027871" y="274320"/>
            <a:ext cx="1280160" cy="274320"/>
          </a:xfrm>
          <a:prstGeom prst="roundRect">
            <a:avLst>
              <a:gd name="adj" fmla="val 50000"/>
            </a:avLst>
          </a:prstGeom>
          <a:solidFill>
            <a:schemeClr val="bg2"/>
          </a:solidFill>
          <a:ln/>
        </p:spPr>
      </p:sp>
      <p:sp>
        <p:nvSpPr>
          <p:cNvPr id="9" name="pill-text-144"/>
          <p:cNvSpPr txBox="1"/>
          <p:nvPr/>
        </p:nvSpPr>
        <p:spPr>
          <a:xfrm>
            <a:off x="9027871"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Model-specific</a:t>
            </a:r>
            <a:endParaRPr lang="en-US" sz="1000" dirty="0"/>
          </a:p>
        </p:txBody>
      </p:sp>
      <p:sp>
        <p:nvSpPr>
          <p:cNvPr id="10" name="pill-145"/>
          <p:cNvSpPr/>
          <p:nvPr/>
        </p:nvSpPr>
        <p:spPr>
          <a:xfrm>
            <a:off x="10362895" y="274320"/>
            <a:ext cx="1280160" cy="274320"/>
          </a:xfrm>
          <a:prstGeom prst="roundRect">
            <a:avLst>
              <a:gd name="adj" fmla="val 50000"/>
            </a:avLst>
          </a:prstGeom>
          <a:solidFill>
            <a:schemeClr val="bg2"/>
          </a:solidFill>
          <a:ln/>
        </p:spPr>
      </p:sp>
      <p:sp>
        <p:nvSpPr>
          <p:cNvPr id="11" name="pill-text-146"/>
          <p:cNvSpPr txBox="1"/>
          <p:nvPr/>
        </p:nvSpPr>
        <p:spPr>
          <a:xfrm>
            <a:off x="10362895"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Synthesis</a:t>
            </a:r>
            <a:endParaRPr lang="en-US" sz="1000" dirty="0"/>
          </a:p>
        </p:txBody>
      </p:sp>
      <p:sp>
        <p:nvSpPr>
          <p:cNvPr id="12" name="approach-card-147"/>
          <p:cNvSpPr/>
          <p:nvPr/>
        </p:nvSpPr>
        <p:spPr>
          <a:xfrm>
            <a:off x="548640" y="1554480"/>
            <a:ext cx="2602154" cy="3840480"/>
          </a:xfrm>
          <a:prstGeom prst="roundRect">
            <a:avLst>
              <a:gd name="adj" fmla="val 3514"/>
            </a:avLst>
          </a:prstGeom>
          <a:solidFill>
            <a:schemeClr val="bg2"/>
          </a:solidFill>
          <a:ln/>
        </p:spPr>
      </p:sp>
      <p:sp>
        <p:nvSpPr>
          <p:cNvPr id="13" name="icon-bg-148"/>
          <p:cNvSpPr/>
          <p:nvPr/>
        </p:nvSpPr>
        <p:spPr>
          <a:xfrm>
            <a:off x="822960" y="1828800"/>
            <a:ext cx="868680" cy="868680"/>
          </a:xfrm>
          <a:prstGeom prst="ellipse">
            <a:avLst/>
          </a:prstGeom>
          <a:solidFill>
            <a:schemeClr val="accent1"/>
          </a:solidFill>
          <a:ln/>
        </p:spPr>
      </p:sp>
      <p:pic>
        <p:nvPicPr>
          <p:cNvPr id="14" name="icon-149" descr="LuImage">    </p:cNvPr>
          <p:cNvPicPr>
            <a:picLocks noChangeAspect="1"/>
          </p:cNvPicPr>
          <p:nvPr/>
        </p:nvPicPr>
        <p:blipFill>
          <a:blip r:embed="rId1"/>
          <a:stretch>
            <a:fillRect/>
          </a:stretch>
        </p:blipFill>
        <p:spPr>
          <a:xfrm>
            <a:off x="1048817" y="2054657"/>
            <a:ext cx="416966" cy="416966"/>
          </a:xfrm>
          <a:prstGeom prst="rect">
            <a:avLst/>
          </a:prstGeom>
        </p:spPr>
      </p:pic>
      <p:sp>
        <p:nvSpPr>
          <p:cNvPr id="15" name="approach-title-150"/>
          <p:cNvSpPr txBox="1"/>
          <p:nvPr/>
        </p:nvSpPr>
        <p:spPr>
          <a:xfrm>
            <a:off x="822960" y="2880360"/>
            <a:ext cx="2144954" cy="685800"/>
          </a:xfrm>
          <a:prstGeom prst="rect">
            <a:avLst/>
          </a:prstGeom>
          <a:noFill/>
          <a:ln/>
        </p:spPr>
        <p:txBody>
          <a:bodyPr wrap="square" lIns="0" tIns="0" rIns="0" bIns="0" rtlCol="0" anchor="t"/>
          <a:lstStyle/>
          <a:p>
            <a:pPr indent="0" marL="0">
              <a:buNone/>
            </a:pPr>
            <a:r>
              <a:rPr lang="en-US" sz="1800" b="1" dirty="0">
                <a:solidFill>
                  <a:schemeClr val="tx2"/>
                </a:solidFill>
                <a:latin typeface="Avenir" pitchFamily="34" charset="0"/>
                <a:ea typeface="Avenir" pitchFamily="34" charset="-122"/>
                <a:cs typeface="Avenir" pitchFamily="34" charset="-120"/>
              </a:rPr>
              <a:t>ProtoViT</a:t>
            </a:r>
            <a:endParaRPr lang="en-US" sz="1800" dirty="0"/>
          </a:p>
        </p:txBody>
      </p:sp>
      <p:sp>
        <p:nvSpPr>
          <p:cNvPr id="16" name="approach-ref-151"/>
          <p:cNvSpPr txBox="1"/>
          <p:nvPr/>
        </p:nvSpPr>
        <p:spPr>
          <a:xfrm>
            <a:off x="822960" y="3566160"/>
            <a:ext cx="2144954" cy="274320"/>
          </a:xfrm>
          <a:prstGeom prst="rect">
            <a:avLst/>
          </a:prstGeom>
          <a:noFill/>
          <a:ln/>
        </p:spPr>
        <p:txBody>
          <a:bodyPr wrap="square" lIns="0" tIns="0" rIns="0" bIns="0" rtlCol="0" anchor="t"/>
          <a:lstStyle/>
          <a:p>
            <a:pPr indent="0" marL="0">
              <a:buNone/>
            </a:pPr>
            <a:r>
              <a:rPr lang="en-US" sz="1200" i="1" dirty="0">
                <a:solidFill>
                  <a:schemeClr val="accent1"/>
                </a:solidFill>
              </a:rPr>
              <a:t>Ma et al. (2024)</a:t>
            </a:r>
            <a:endParaRPr lang="en-US" sz="1200" dirty="0"/>
          </a:p>
        </p:txBody>
      </p:sp>
      <p:sp>
        <p:nvSpPr>
          <p:cNvPr id="17" name="approach-desc-152"/>
          <p:cNvSpPr txBox="1"/>
          <p:nvPr/>
        </p:nvSpPr>
        <p:spPr>
          <a:xfrm>
            <a:off x="822960" y="3977640"/>
            <a:ext cx="2144954" cy="1280160"/>
          </a:xfrm>
          <a:prstGeom prst="rect">
            <a:avLst/>
          </a:prstGeom>
          <a:noFill/>
          <a:ln/>
        </p:spPr>
        <p:txBody>
          <a:bodyPr wrap="square" lIns="0" tIns="0" rIns="0" bIns="0" rtlCol="0" anchor="t"/>
          <a:lstStyle/>
          <a:p>
            <a:pPr indent="0" marL="0">
              <a:buNone/>
            </a:pPr>
            <a:r>
              <a:rPr lang="en-US" sz="1500" dirty="0">
                <a:solidFill>
                  <a:schemeClr val="tx1"/>
                </a:solidFill>
              </a:rPr>
              <a:t>Classifies images as a weighted sum of prototypes from the training data.</a:t>
            </a:r>
            <a:endParaRPr lang="en-US" sz="1500" dirty="0"/>
          </a:p>
        </p:txBody>
      </p:sp>
      <p:sp>
        <p:nvSpPr>
          <p:cNvPr id="18" name="approach-card-153"/>
          <p:cNvSpPr/>
          <p:nvPr/>
        </p:nvSpPr>
        <p:spPr>
          <a:xfrm>
            <a:off x="3379394" y="1554480"/>
            <a:ext cx="2602154" cy="3840480"/>
          </a:xfrm>
          <a:prstGeom prst="roundRect">
            <a:avLst>
              <a:gd name="adj" fmla="val 3514"/>
            </a:avLst>
          </a:prstGeom>
          <a:solidFill>
            <a:schemeClr val="bg2"/>
          </a:solidFill>
          <a:ln/>
        </p:spPr>
      </p:sp>
      <p:sp>
        <p:nvSpPr>
          <p:cNvPr id="19" name="icon-bg-154"/>
          <p:cNvSpPr/>
          <p:nvPr/>
        </p:nvSpPr>
        <p:spPr>
          <a:xfrm>
            <a:off x="3653714" y="1828800"/>
            <a:ext cx="868680" cy="868680"/>
          </a:xfrm>
          <a:prstGeom prst="ellipse">
            <a:avLst/>
          </a:prstGeom>
          <a:solidFill>
            <a:schemeClr val="accent1"/>
          </a:solidFill>
          <a:ln/>
        </p:spPr>
      </p:sp>
      <p:pic>
        <p:nvPicPr>
          <p:cNvPr id="20" name="icon-155" descr="LuTrees">    </p:cNvPr>
          <p:cNvPicPr>
            <a:picLocks noChangeAspect="1"/>
          </p:cNvPicPr>
          <p:nvPr/>
        </p:nvPicPr>
        <p:blipFill>
          <a:blip r:embed="rId2"/>
          <a:stretch>
            <a:fillRect/>
          </a:stretch>
        </p:blipFill>
        <p:spPr>
          <a:xfrm>
            <a:off x="3879571" y="2054657"/>
            <a:ext cx="416966" cy="416966"/>
          </a:xfrm>
          <a:prstGeom prst="rect">
            <a:avLst/>
          </a:prstGeom>
        </p:spPr>
      </p:pic>
      <p:sp>
        <p:nvSpPr>
          <p:cNvPr id="21" name="approach-title-156"/>
          <p:cNvSpPr txBox="1"/>
          <p:nvPr/>
        </p:nvSpPr>
        <p:spPr>
          <a:xfrm>
            <a:off x="3653714" y="2880360"/>
            <a:ext cx="2144954" cy="685800"/>
          </a:xfrm>
          <a:prstGeom prst="rect">
            <a:avLst/>
          </a:prstGeom>
          <a:noFill/>
          <a:ln/>
        </p:spPr>
        <p:txBody>
          <a:bodyPr wrap="square" lIns="0" tIns="0" rIns="0" bIns="0" rtlCol="0" anchor="t"/>
          <a:lstStyle/>
          <a:p>
            <a:pPr indent="0" marL="0">
              <a:buNone/>
            </a:pPr>
            <a:r>
              <a:rPr lang="en-US" sz="1800" b="1" dirty="0">
                <a:solidFill>
                  <a:schemeClr val="tx2"/>
                </a:solidFill>
                <a:latin typeface="Avenir" pitchFamily="34" charset="0"/>
                <a:ea typeface="Avenir" pitchFamily="34" charset="-122"/>
                <a:cs typeface="Avenir" pitchFamily="34" charset="-120"/>
              </a:rPr>
              <a:t>Interpretable tree ensembles</a:t>
            </a:r>
            <a:endParaRPr lang="en-US" sz="1800" dirty="0"/>
          </a:p>
        </p:txBody>
      </p:sp>
      <p:sp>
        <p:nvSpPr>
          <p:cNvPr id="22" name="approach-ref-157"/>
          <p:cNvSpPr txBox="1"/>
          <p:nvPr/>
        </p:nvSpPr>
        <p:spPr>
          <a:xfrm>
            <a:off x="3653714" y="3566160"/>
            <a:ext cx="2144954" cy="274320"/>
          </a:xfrm>
          <a:prstGeom prst="rect">
            <a:avLst/>
          </a:prstGeom>
          <a:noFill/>
          <a:ln/>
        </p:spPr>
        <p:txBody>
          <a:bodyPr wrap="square" lIns="0" tIns="0" rIns="0" bIns="0" rtlCol="0" anchor="t"/>
          <a:lstStyle/>
          <a:p>
            <a:pPr indent="0" marL="0">
              <a:buNone/>
            </a:pPr>
            <a:r>
              <a:rPr lang="en-US" sz="1200" i="1" dirty="0">
                <a:solidFill>
                  <a:schemeClr val="accent1"/>
                </a:solidFill>
              </a:rPr>
              <a:t>Yang et al. (2024)</a:t>
            </a:r>
            <a:endParaRPr lang="en-US" sz="1200" dirty="0"/>
          </a:p>
        </p:txBody>
      </p:sp>
      <p:sp>
        <p:nvSpPr>
          <p:cNvPr id="23" name="approach-desc-158"/>
          <p:cNvSpPr txBox="1"/>
          <p:nvPr/>
        </p:nvSpPr>
        <p:spPr>
          <a:xfrm>
            <a:off x="3653714" y="3977640"/>
            <a:ext cx="2144954" cy="1280160"/>
          </a:xfrm>
          <a:prstGeom prst="rect">
            <a:avLst/>
          </a:prstGeom>
          <a:noFill/>
          <a:ln/>
        </p:spPr>
        <p:txBody>
          <a:bodyPr wrap="square" lIns="0" tIns="0" rIns="0" bIns="0" rtlCol="0" anchor="t"/>
          <a:lstStyle/>
          <a:p>
            <a:pPr indent="0" marL="0">
              <a:buNone/>
            </a:pPr>
            <a:r>
              <a:rPr lang="en-US" sz="1500" dirty="0">
                <a:solidFill>
                  <a:schemeClr val="tx1"/>
                </a:solidFill>
              </a:rPr>
              <a:t>Shallow trees, effects sorted into main effects and interactions, pruning.</a:t>
            </a:r>
            <a:endParaRPr lang="en-US" sz="1500" dirty="0"/>
          </a:p>
        </p:txBody>
      </p:sp>
      <p:sp>
        <p:nvSpPr>
          <p:cNvPr id="24" name="approach-card-159"/>
          <p:cNvSpPr/>
          <p:nvPr/>
        </p:nvSpPr>
        <p:spPr>
          <a:xfrm>
            <a:off x="6210148" y="1554480"/>
            <a:ext cx="2602154" cy="3840480"/>
          </a:xfrm>
          <a:prstGeom prst="roundRect">
            <a:avLst>
              <a:gd name="adj" fmla="val 3514"/>
            </a:avLst>
          </a:prstGeom>
          <a:solidFill>
            <a:schemeClr val="bg2"/>
          </a:solidFill>
          <a:ln/>
        </p:spPr>
      </p:sp>
      <p:sp>
        <p:nvSpPr>
          <p:cNvPr id="25" name="icon-bg-160"/>
          <p:cNvSpPr/>
          <p:nvPr/>
        </p:nvSpPr>
        <p:spPr>
          <a:xfrm>
            <a:off x="6484468" y="1828800"/>
            <a:ext cx="868680" cy="868680"/>
          </a:xfrm>
          <a:prstGeom prst="ellipse">
            <a:avLst/>
          </a:prstGeom>
          <a:solidFill>
            <a:schemeClr val="accent1"/>
          </a:solidFill>
          <a:ln/>
        </p:spPr>
      </p:sp>
      <p:pic>
        <p:nvPicPr>
          <p:cNvPr id="26" name="icon-161" descr="LuBlocks">    </p:cNvPr>
          <p:cNvPicPr>
            <a:picLocks noChangeAspect="1"/>
          </p:cNvPicPr>
          <p:nvPr/>
        </p:nvPicPr>
        <p:blipFill>
          <a:blip r:embed="rId3"/>
          <a:stretch>
            <a:fillRect/>
          </a:stretch>
        </p:blipFill>
        <p:spPr>
          <a:xfrm>
            <a:off x="6710324" y="2054657"/>
            <a:ext cx="416966" cy="416966"/>
          </a:xfrm>
          <a:prstGeom prst="rect">
            <a:avLst/>
          </a:prstGeom>
        </p:spPr>
      </p:pic>
      <p:sp>
        <p:nvSpPr>
          <p:cNvPr id="27" name="approach-title-162"/>
          <p:cNvSpPr txBox="1"/>
          <p:nvPr/>
        </p:nvSpPr>
        <p:spPr>
          <a:xfrm>
            <a:off x="6484468" y="2880360"/>
            <a:ext cx="2144954" cy="685800"/>
          </a:xfrm>
          <a:prstGeom prst="rect">
            <a:avLst/>
          </a:prstGeom>
          <a:noFill/>
          <a:ln/>
        </p:spPr>
        <p:txBody>
          <a:bodyPr wrap="square" lIns="0" tIns="0" rIns="0" bIns="0" rtlCol="0" anchor="t"/>
          <a:lstStyle/>
          <a:p>
            <a:pPr indent="0" marL="0">
              <a:buNone/>
            </a:pPr>
            <a:r>
              <a:rPr lang="en-US" sz="1800" b="1" dirty="0">
                <a:solidFill>
                  <a:schemeClr val="tx2"/>
                </a:solidFill>
                <a:latin typeface="Avenir" pitchFamily="34" charset="0"/>
                <a:ea typeface="Avenir" pitchFamily="34" charset="-122"/>
                <a:cs typeface="Avenir" pitchFamily="34" charset="-120"/>
              </a:rPr>
              <a:t>Model-based boosting</a:t>
            </a:r>
            <a:endParaRPr lang="en-US" sz="1800" dirty="0"/>
          </a:p>
        </p:txBody>
      </p:sp>
      <p:sp>
        <p:nvSpPr>
          <p:cNvPr id="28" name="approach-ref-163"/>
          <p:cNvSpPr txBox="1"/>
          <p:nvPr/>
        </p:nvSpPr>
        <p:spPr>
          <a:xfrm>
            <a:off x="6484468" y="3566160"/>
            <a:ext cx="2144954" cy="274320"/>
          </a:xfrm>
          <a:prstGeom prst="rect">
            <a:avLst/>
          </a:prstGeom>
          <a:noFill/>
          <a:ln/>
        </p:spPr>
        <p:txBody>
          <a:bodyPr wrap="square" lIns="0" tIns="0" rIns="0" bIns="0" rtlCol="0" anchor="t"/>
          <a:lstStyle/>
          <a:p>
            <a:pPr indent="0" marL="0">
              <a:buNone/>
            </a:pPr>
            <a:r>
              <a:rPr lang="en-US" sz="1200" i="1" dirty="0">
                <a:solidFill>
                  <a:schemeClr val="accent1"/>
                </a:solidFill>
              </a:rPr>
              <a:t>Bühlmann &amp; Hothorn (2007)</a:t>
            </a:r>
            <a:endParaRPr lang="en-US" sz="1200" dirty="0"/>
          </a:p>
        </p:txBody>
      </p:sp>
      <p:sp>
        <p:nvSpPr>
          <p:cNvPr id="29" name="approach-desc-164"/>
          <p:cNvSpPr txBox="1"/>
          <p:nvPr/>
        </p:nvSpPr>
        <p:spPr>
          <a:xfrm>
            <a:off x="6484468" y="3977640"/>
            <a:ext cx="2144954" cy="1280160"/>
          </a:xfrm>
          <a:prstGeom prst="rect">
            <a:avLst/>
          </a:prstGeom>
          <a:noFill/>
          <a:ln/>
        </p:spPr>
        <p:txBody>
          <a:bodyPr wrap="square" lIns="0" tIns="0" rIns="0" bIns="0" rtlCol="0" anchor="t"/>
          <a:lstStyle/>
          <a:p>
            <a:pPr indent="0" marL="0">
              <a:buNone/>
            </a:pPr>
            <a:r>
              <a:rPr lang="en-US" sz="1500" dirty="0">
                <a:solidFill>
                  <a:schemeClr val="tx1"/>
                </a:solidFill>
              </a:rPr>
              <a:t>Weighted sum of linear effects, splines, tree stumps and other weak learners.</a:t>
            </a:r>
            <a:endParaRPr lang="en-US" sz="1500" dirty="0"/>
          </a:p>
        </p:txBody>
      </p:sp>
      <p:sp>
        <p:nvSpPr>
          <p:cNvPr id="30" name="approach-card-165"/>
          <p:cNvSpPr/>
          <p:nvPr/>
        </p:nvSpPr>
        <p:spPr>
          <a:xfrm>
            <a:off x="9040901" y="1554480"/>
            <a:ext cx="2602154" cy="3840480"/>
          </a:xfrm>
          <a:prstGeom prst="roundRect">
            <a:avLst>
              <a:gd name="adj" fmla="val 3514"/>
            </a:avLst>
          </a:prstGeom>
          <a:solidFill>
            <a:schemeClr val="bg2"/>
          </a:solidFill>
          <a:ln/>
        </p:spPr>
      </p:sp>
      <p:sp>
        <p:nvSpPr>
          <p:cNvPr id="31" name="icon-bg-166"/>
          <p:cNvSpPr/>
          <p:nvPr/>
        </p:nvSpPr>
        <p:spPr>
          <a:xfrm>
            <a:off x="9315221" y="1828800"/>
            <a:ext cx="868680" cy="868680"/>
          </a:xfrm>
          <a:prstGeom prst="ellipse">
            <a:avLst/>
          </a:prstGeom>
          <a:solidFill>
            <a:schemeClr val="accent1"/>
          </a:solidFill>
          <a:ln/>
        </p:spPr>
      </p:sp>
      <p:pic>
        <p:nvPicPr>
          <p:cNvPr id="32" name="icon-167" descr="LuSquareFunction">    </p:cNvPr>
          <p:cNvPicPr>
            <a:picLocks noChangeAspect="1"/>
          </p:cNvPicPr>
          <p:nvPr/>
        </p:nvPicPr>
        <p:blipFill>
          <a:blip r:embed="rId4"/>
          <a:stretch>
            <a:fillRect/>
          </a:stretch>
        </p:blipFill>
        <p:spPr>
          <a:xfrm>
            <a:off x="9541078" y="2054657"/>
            <a:ext cx="416966" cy="416966"/>
          </a:xfrm>
          <a:prstGeom prst="rect">
            <a:avLst/>
          </a:prstGeom>
        </p:spPr>
      </p:pic>
      <p:sp>
        <p:nvSpPr>
          <p:cNvPr id="33" name="approach-title-168"/>
          <p:cNvSpPr txBox="1"/>
          <p:nvPr/>
        </p:nvSpPr>
        <p:spPr>
          <a:xfrm>
            <a:off x="9315221" y="2880360"/>
            <a:ext cx="2144954" cy="685800"/>
          </a:xfrm>
          <a:prstGeom prst="rect">
            <a:avLst/>
          </a:prstGeom>
          <a:noFill/>
          <a:ln/>
        </p:spPr>
        <p:txBody>
          <a:bodyPr wrap="square" lIns="0" tIns="0" rIns="0" bIns="0" rtlCol="0" anchor="t"/>
          <a:lstStyle/>
          <a:p>
            <a:pPr indent="0" marL="0">
              <a:buNone/>
            </a:pPr>
            <a:r>
              <a:rPr lang="en-US" sz="1800" b="1" dirty="0">
                <a:solidFill>
                  <a:schemeClr val="tx2"/>
                </a:solidFill>
                <a:latin typeface="Avenir" pitchFamily="34" charset="0"/>
                <a:ea typeface="Avenir" pitchFamily="34" charset="-122"/>
                <a:cs typeface="Avenir" pitchFamily="34" charset="-120"/>
              </a:rPr>
              <a:t>GAMs with interactions</a:t>
            </a:r>
            <a:endParaRPr lang="en-US" sz="1800" dirty="0"/>
          </a:p>
        </p:txBody>
      </p:sp>
      <p:sp>
        <p:nvSpPr>
          <p:cNvPr id="34" name="approach-ref-169"/>
          <p:cNvSpPr txBox="1"/>
          <p:nvPr/>
        </p:nvSpPr>
        <p:spPr>
          <a:xfrm>
            <a:off x="9315221" y="3566160"/>
            <a:ext cx="2144954" cy="274320"/>
          </a:xfrm>
          <a:prstGeom prst="rect">
            <a:avLst/>
          </a:prstGeom>
          <a:noFill/>
          <a:ln/>
        </p:spPr>
        <p:txBody>
          <a:bodyPr wrap="square" lIns="0" tIns="0" rIns="0" bIns="0" rtlCol="0" anchor="t"/>
          <a:lstStyle/>
          <a:p>
            <a:pPr indent="0" marL="0">
              <a:buNone/>
            </a:pPr>
            <a:r>
              <a:rPr lang="en-US" sz="1200" i="1" dirty="0">
                <a:solidFill>
                  <a:schemeClr val="accent1"/>
                </a:solidFill>
              </a:rPr>
              <a:t>Caruana et al. (2015)</a:t>
            </a:r>
            <a:endParaRPr lang="en-US" sz="1200" dirty="0"/>
          </a:p>
        </p:txBody>
      </p:sp>
      <p:sp>
        <p:nvSpPr>
          <p:cNvPr id="35" name="approach-desc-170"/>
          <p:cNvSpPr txBox="1"/>
          <p:nvPr/>
        </p:nvSpPr>
        <p:spPr>
          <a:xfrm>
            <a:off x="9315221" y="3977640"/>
            <a:ext cx="2144954" cy="1280160"/>
          </a:xfrm>
          <a:prstGeom prst="rect">
            <a:avLst/>
          </a:prstGeom>
          <a:noFill/>
          <a:ln/>
        </p:spPr>
        <p:txBody>
          <a:bodyPr wrap="square" lIns="0" tIns="0" rIns="0" bIns="0" rtlCol="0" anchor="t"/>
          <a:lstStyle/>
          <a:p>
            <a:pPr indent="0" marL="0">
              <a:buNone/>
            </a:pPr>
            <a:r>
              <a:rPr lang="en-US" sz="1500" dirty="0">
                <a:solidFill>
                  <a:schemeClr val="tx1"/>
                </a:solidFill>
              </a:rPr>
              <a:t>Generalized additive models with automatic interaction detection.</a:t>
            </a:r>
            <a:endParaRPr lang="en-US" sz="1500" dirty="0"/>
          </a:p>
        </p:txBody>
      </p:sp>
      <p:sp>
        <p:nvSpPr>
          <p:cNvPr id="36" name="note-card-171"/>
          <p:cNvSpPr/>
          <p:nvPr/>
        </p:nvSpPr>
        <p:spPr>
          <a:xfrm>
            <a:off x="548640" y="5577840"/>
            <a:ext cx="11094415" cy="594360"/>
          </a:xfrm>
          <a:prstGeom prst="roundRect">
            <a:avLst>
              <a:gd name="adj" fmla="val 15385"/>
            </a:avLst>
          </a:prstGeom>
          <a:solidFill>
            <a:schemeClr val="bg1"/>
          </a:solidFill>
          <a:ln w="15875">
            <a:solidFill>
              <a:schemeClr val="accent2"/>
            </a:solidFill>
            <a:prstDash val="solid"/>
          </a:ln>
        </p:spPr>
      </p:sp>
      <p:sp>
        <p:nvSpPr>
          <p:cNvPr id="37" name="note-text-172"/>
          <p:cNvSpPr txBox="1"/>
          <p:nvPr/>
        </p:nvSpPr>
        <p:spPr>
          <a:xfrm>
            <a:off x="777240" y="5577840"/>
            <a:ext cx="10637215" cy="594360"/>
          </a:xfrm>
          <a:prstGeom prst="rect">
            <a:avLst/>
          </a:prstGeom>
          <a:noFill/>
          <a:ln/>
        </p:spPr>
        <p:txBody>
          <a:bodyPr wrap="square" lIns="0" tIns="0" rIns="0" bIns="0" rtlCol="0" anchor="ctr"/>
          <a:lstStyle/>
          <a:p>
            <a:pPr indent="0" marL="0">
              <a:buNone/>
            </a:pPr>
            <a:r>
              <a:rPr lang="en-US" sz="1500" b="1" dirty="0">
                <a:solidFill>
                  <a:schemeClr val="accent2"/>
                </a:solidFill>
              </a:rPr>
              <a:t>Note: </a:t>
            </a:r>
            <a:pPr indent="0" marL="0">
              <a:buNone/>
            </a:pPr>
            <a:r>
              <a:rPr lang="en-US" sz="1500" dirty="0">
                <a:solidFill>
                  <a:schemeClr val="tx1"/>
                </a:solidFill>
              </a:rPr>
              <a:t>Yang et al.'s tree ensembles mix interpretability by design with post-hoc interpretability.</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5852160" cy="292608"/>
          </a:xfrm>
          <a:prstGeom prst="rect">
            <a:avLst/>
          </a:prstGeom>
          <a:noFill/>
          <a:ln/>
        </p:spPr>
        <p:txBody>
          <a:bodyPr wrap="square" lIns="0" tIns="0" rIns="0" bIns="0" rtlCol="0" anchor="b"/>
          <a:lstStyle/>
          <a:p>
            <a:pPr algn="l" indent="0" marL="0">
              <a:buNone/>
            </a:pPr>
            <a:r>
              <a:rPr lang="en-US" sz="1200" b="1" spc="200" kern="0" dirty="0">
                <a:solidFill>
                  <a:schemeClr val="accent1"/>
                </a:solidFill>
              </a:rPr>
              <a:t>SCOPE</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200" b="1" dirty="0">
                <a:solidFill>
                  <a:schemeClr val="tx2"/>
                </a:solidFill>
                <a:latin typeface="Avenir" pitchFamily="34" charset="0"/>
                <a:ea typeface="Avenir" pitchFamily="34" charset="-122"/>
                <a:cs typeface="Avenir" pitchFamily="34" charset="-120"/>
              </a:rPr>
              <a:t>How interpretable? It depends on the scope</a:t>
            </a:r>
            <a:endParaRPr lang="en-US" sz="3200" dirty="0"/>
          </a:p>
        </p:txBody>
      </p:sp>
      <p:sp>
        <p:nvSpPr>
          <p:cNvPr id="4" name="pill-173"/>
          <p:cNvSpPr/>
          <p:nvPr/>
        </p:nvSpPr>
        <p:spPr>
          <a:xfrm>
            <a:off x="6357823" y="274320"/>
            <a:ext cx="1280160" cy="274320"/>
          </a:xfrm>
          <a:prstGeom prst="roundRect">
            <a:avLst>
              <a:gd name="adj" fmla="val 50000"/>
            </a:avLst>
          </a:prstGeom>
          <a:solidFill>
            <a:schemeClr val="accent1"/>
          </a:solidFill>
          <a:ln/>
        </p:spPr>
      </p:sp>
      <p:sp>
        <p:nvSpPr>
          <p:cNvPr id="5" name="pill-text-174"/>
          <p:cNvSpPr txBox="1"/>
          <p:nvPr/>
        </p:nvSpPr>
        <p:spPr>
          <a:xfrm>
            <a:off x="6357823" y="274320"/>
            <a:ext cx="1280160" cy="274320"/>
          </a:xfrm>
          <a:prstGeom prst="rect">
            <a:avLst/>
          </a:prstGeom>
          <a:noFill/>
          <a:ln/>
        </p:spPr>
        <p:txBody>
          <a:bodyPr wrap="square" lIns="0" tIns="0" rIns="0" bIns="0" rtlCol="0" anchor="ctr"/>
          <a:lstStyle/>
          <a:p>
            <a:pPr algn="ctr" indent="0" marL="0">
              <a:buNone/>
            </a:pPr>
            <a:r>
              <a:rPr lang="en-US" sz="1000" b="1" dirty="0">
                <a:solidFill>
                  <a:schemeClr val="bg1"/>
                </a:solidFill>
              </a:rPr>
              <a:t>By design</a:t>
            </a:r>
            <a:endParaRPr lang="en-US" sz="1000" dirty="0"/>
          </a:p>
        </p:txBody>
      </p:sp>
      <p:sp>
        <p:nvSpPr>
          <p:cNvPr id="6" name="pill-175"/>
          <p:cNvSpPr/>
          <p:nvPr/>
        </p:nvSpPr>
        <p:spPr>
          <a:xfrm>
            <a:off x="7692847" y="274320"/>
            <a:ext cx="1280160" cy="274320"/>
          </a:xfrm>
          <a:prstGeom prst="roundRect">
            <a:avLst>
              <a:gd name="adj" fmla="val 50000"/>
            </a:avLst>
          </a:prstGeom>
          <a:solidFill>
            <a:schemeClr val="bg2"/>
          </a:solidFill>
          <a:ln/>
        </p:spPr>
      </p:sp>
      <p:sp>
        <p:nvSpPr>
          <p:cNvPr id="7" name="pill-text-176"/>
          <p:cNvSpPr txBox="1"/>
          <p:nvPr/>
        </p:nvSpPr>
        <p:spPr>
          <a:xfrm>
            <a:off x="7692847"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Model-agnostic</a:t>
            </a:r>
            <a:endParaRPr lang="en-US" sz="1000" dirty="0"/>
          </a:p>
        </p:txBody>
      </p:sp>
      <p:sp>
        <p:nvSpPr>
          <p:cNvPr id="8" name="pill-177"/>
          <p:cNvSpPr/>
          <p:nvPr/>
        </p:nvSpPr>
        <p:spPr>
          <a:xfrm>
            <a:off x="9027871" y="274320"/>
            <a:ext cx="1280160" cy="274320"/>
          </a:xfrm>
          <a:prstGeom prst="roundRect">
            <a:avLst>
              <a:gd name="adj" fmla="val 50000"/>
            </a:avLst>
          </a:prstGeom>
          <a:solidFill>
            <a:schemeClr val="bg2"/>
          </a:solidFill>
          <a:ln/>
        </p:spPr>
      </p:sp>
      <p:sp>
        <p:nvSpPr>
          <p:cNvPr id="9" name="pill-text-178"/>
          <p:cNvSpPr txBox="1"/>
          <p:nvPr/>
        </p:nvSpPr>
        <p:spPr>
          <a:xfrm>
            <a:off x="9027871"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Model-specific</a:t>
            </a:r>
            <a:endParaRPr lang="en-US" sz="1000" dirty="0"/>
          </a:p>
        </p:txBody>
      </p:sp>
      <p:sp>
        <p:nvSpPr>
          <p:cNvPr id="10" name="pill-179"/>
          <p:cNvSpPr/>
          <p:nvPr/>
        </p:nvSpPr>
        <p:spPr>
          <a:xfrm>
            <a:off x="10362895" y="274320"/>
            <a:ext cx="1280160" cy="274320"/>
          </a:xfrm>
          <a:prstGeom prst="roundRect">
            <a:avLst>
              <a:gd name="adj" fmla="val 50000"/>
            </a:avLst>
          </a:prstGeom>
          <a:solidFill>
            <a:schemeClr val="bg2"/>
          </a:solidFill>
          <a:ln/>
        </p:spPr>
      </p:sp>
      <p:sp>
        <p:nvSpPr>
          <p:cNvPr id="11" name="pill-text-180"/>
          <p:cNvSpPr txBox="1"/>
          <p:nvPr/>
        </p:nvSpPr>
        <p:spPr>
          <a:xfrm>
            <a:off x="10362895"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Synthesis</a:t>
            </a:r>
            <a:endParaRPr lang="en-US" sz="1000" dirty="0"/>
          </a:p>
        </p:txBody>
      </p:sp>
      <p:sp>
        <p:nvSpPr>
          <p:cNvPr id="12" name="scope-card-181"/>
          <p:cNvSpPr/>
          <p:nvPr/>
        </p:nvSpPr>
        <p:spPr>
          <a:xfrm>
            <a:off x="548640" y="1554480"/>
            <a:ext cx="3515258" cy="3474720"/>
          </a:xfrm>
          <a:prstGeom prst="roundRect">
            <a:avLst>
              <a:gd name="adj" fmla="val 2632"/>
            </a:avLst>
          </a:prstGeom>
          <a:solidFill>
            <a:schemeClr val="bg2"/>
          </a:solidFill>
          <a:ln/>
        </p:spPr>
      </p:sp>
      <p:sp>
        <p:nvSpPr>
          <p:cNvPr id="13" name="pill-182"/>
          <p:cNvSpPr/>
          <p:nvPr/>
        </p:nvSpPr>
        <p:spPr>
          <a:xfrm>
            <a:off x="731520" y="1691640"/>
            <a:ext cx="384048" cy="384048"/>
          </a:xfrm>
          <a:prstGeom prst="roundRect">
            <a:avLst>
              <a:gd name="adj" fmla="val 50000"/>
            </a:avLst>
          </a:prstGeom>
          <a:solidFill>
            <a:schemeClr val="accent1"/>
          </a:solidFill>
          <a:ln/>
        </p:spPr>
      </p:sp>
      <p:sp>
        <p:nvSpPr>
          <p:cNvPr id="14" name="pill-text-183"/>
          <p:cNvSpPr txBox="1"/>
          <p:nvPr/>
        </p:nvSpPr>
        <p:spPr>
          <a:xfrm>
            <a:off x="731520" y="16916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5" name="line-184"/>
          <p:cNvSpPr/>
          <p:nvPr/>
        </p:nvSpPr>
        <p:spPr>
          <a:xfrm flipH="1">
            <a:off x="1483309" y="1984248"/>
            <a:ext cx="822960" cy="685800"/>
          </a:xfrm>
          <a:prstGeom prst="line">
            <a:avLst/>
          </a:prstGeom>
          <a:noFill/>
          <a:ln w="38100">
            <a:solidFill>
              <a:srgbClr val="E07A1F"/>
            </a:solidFill>
            <a:prstDash val="solid"/>
          </a:ln>
        </p:spPr>
      </p:sp>
      <p:sp>
        <p:nvSpPr>
          <p:cNvPr id="16" name="line-185"/>
          <p:cNvSpPr/>
          <p:nvPr/>
        </p:nvSpPr>
        <p:spPr>
          <a:xfrm>
            <a:off x="2306269" y="1984248"/>
            <a:ext cx="822960" cy="685800"/>
          </a:xfrm>
          <a:prstGeom prst="line">
            <a:avLst/>
          </a:prstGeom>
          <a:noFill/>
          <a:ln w="38100">
            <a:solidFill>
              <a:srgbClr val="E07A1F"/>
            </a:solidFill>
            <a:prstDash val="solid"/>
          </a:ln>
        </p:spPr>
      </p:sp>
      <p:sp>
        <p:nvSpPr>
          <p:cNvPr id="17" name="line-186"/>
          <p:cNvSpPr/>
          <p:nvPr/>
        </p:nvSpPr>
        <p:spPr>
          <a:xfrm flipH="1">
            <a:off x="1071829" y="2670048"/>
            <a:ext cx="411480" cy="685800"/>
          </a:xfrm>
          <a:prstGeom prst="line">
            <a:avLst/>
          </a:prstGeom>
          <a:noFill/>
          <a:ln w="38100">
            <a:solidFill>
              <a:srgbClr val="E07A1F"/>
            </a:solidFill>
            <a:prstDash val="solid"/>
          </a:ln>
        </p:spPr>
      </p:sp>
      <p:sp>
        <p:nvSpPr>
          <p:cNvPr id="18" name="line-187"/>
          <p:cNvSpPr/>
          <p:nvPr/>
        </p:nvSpPr>
        <p:spPr>
          <a:xfrm>
            <a:off x="1483309" y="2670048"/>
            <a:ext cx="411480" cy="685800"/>
          </a:xfrm>
          <a:prstGeom prst="line">
            <a:avLst/>
          </a:prstGeom>
          <a:noFill/>
          <a:ln w="38100">
            <a:solidFill>
              <a:srgbClr val="E07A1F"/>
            </a:solidFill>
            <a:prstDash val="solid"/>
          </a:ln>
        </p:spPr>
      </p:sp>
      <p:sp>
        <p:nvSpPr>
          <p:cNvPr id="19" name="line-188"/>
          <p:cNvSpPr/>
          <p:nvPr/>
        </p:nvSpPr>
        <p:spPr>
          <a:xfrm flipH="1">
            <a:off x="2717749" y="2670048"/>
            <a:ext cx="411480" cy="685800"/>
          </a:xfrm>
          <a:prstGeom prst="line">
            <a:avLst/>
          </a:prstGeom>
          <a:noFill/>
          <a:ln w="38100">
            <a:solidFill>
              <a:srgbClr val="E07A1F"/>
            </a:solidFill>
            <a:prstDash val="solid"/>
          </a:ln>
        </p:spPr>
      </p:sp>
      <p:sp>
        <p:nvSpPr>
          <p:cNvPr id="20" name="line-189"/>
          <p:cNvSpPr/>
          <p:nvPr/>
        </p:nvSpPr>
        <p:spPr>
          <a:xfrm>
            <a:off x="3129229" y="2670048"/>
            <a:ext cx="411480" cy="685800"/>
          </a:xfrm>
          <a:prstGeom prst="line">
            <a:avLst/>
          </a:prstGeom>
          <a:noFill/>
          <a:ln w="38100">
            <a:solidFill>
              <a:srgbClr val="E07A1F"/>
            </a:solidFill>
            <a:prstDash val="solid"/>
          </a:ln>
        </p:spPr>
      </p:sp>
      <p:sp>
        <p:nvSpPr>
          <p:cNvPr id="21" name="tree-node"/>
          <p:cNvSpPr/>
          <p:nvPr/>
        </p:nvSpPr>
        <p:spPr>
          <a:xfrm>
            <a:off x="2105101" y="1783080"/>
            <a:ext cx="402336" cy="402336"/>
          </a:xfrm>
          <a:prstGeom prst="ellipse">
            <a:avLst/>
          </a:prstGeom>
          <a:solidFill>
            <a:schemeClr val="accent2"/>
          </a:solidFill>
          <a:ln w="19050">
            <a:solidFill>
              <a:schemeClr val="accent2"/>
            </a:solidFill>
            <a:prstDash val="solid"/>
          </a:ln>
        </p:spPr>
      </p:sp>
      <p:sp>
        <p:nvSpPr>
          <p:cNvPr id="22" name="tree-node"/>
          <p:cNvSpPr/>
          <p:nvPr/>
        </p:nvSpPr>
        <p:spPr>
          <a:xfrm>
            <a:off x="1282141" y="2468880"/>
            <a:ext cx="402336" cy="402336"/>
          </a:xfrm>
          <a:prstGeom prst="ellipse">
            <a:avLst/>
          </a:prstGeom>
          <a:solidFill>
            <a:schemeClr val="accent2"/>
          </a:solidFill>
          <a:ln w="19050">
            <a:solidFill>
              <a:schemeClr val="accent2"/>
            </a:solidFill>
            <a:prstDash val="solid"/>
          </a:ln>
        </p:spPr>
      </p:sp>
      <p:sp>
        <p:nvSpPr>
          <p:cNvPr id="23" name="tree-node"/>
          <p:cNvSpPr/>
          <p:nvPr/>
        </p:nvSpPr>
        <p:spPr>
          <a:xfrm>
            <a:off x="2928061" y="2468880"/>
            <a:ext cx="402336" cy="402336"/>
          </a:xfrm>
          <a:prstGeom prst="ellipse">
            <a:avLst/>
          </a:prstGeom>
          <a:solidFill>
            <a:schemeClr val="accent2"/>
          </a:solidFill>
          <a:ln w="19050">
            <a:solidFill>
              <a:schemeClr val="accent2"/>
            </a:solidFill>
            <a:prstDash val="solid"/>
          </a:ln>
        </p:spPr>
      </p:sp>
      <p:sp>
        <p:nvSpPr>
          <p:cNvPr id="24" name="tree-node"/>
          <p:cNvSpPr/>
          <p:nvPr/>
        </p:nvSpPr>
        <p:spPr>
          <a:xfrm>
            <a:off x="870661" y="3154680"/>
            <a:ext cx="402336" cy="402336"/>
          </a:xfrm>
          <a:prstGeom prst="roundRect">
            <a:avLst>
              <a:gd name="adj" fmla="val 13636"/>
            </a:avLst>
          </a:prstGeom>
          <a:solidFill>
            <a:schemeClr val="accent2"/>
          </a:solidFill>
          <a:ln w="19050">
            <a:solidFill>
              <a:schemeClr val="accent2"/>
            </a:solidFill>
            <a:prstDash val="solid"/>
          </a:ln>
        </p:spPr>
      </p:sp>
      <p:sp>
        <p:nvSpPr>
          <p:cNvPr id="25" name="tree-node"/>
          <p:cNvSpPr/>
          <p:nvPr/>
        </p:nvSpPr>
        <p:spPr>
          <a:xfrm>
            <a:off x="1693621" y="3154680"/>
            <a:ext cx="402336" cy="402336"/>
          </a:xfrm>
          <a:prstGeom prst="roundRect">
            <a:avLst>
              <a:gd name="adj" fmla="val 13636"/>
            </a:avLst>
          </a:prstGeom>
          <a:solidFill>
            <a:schemeClr val="accent2"/>
          </a:solidFill>
          <a:ln w="19050">
            <a:solidFill>
              <a:schemeClr val="accent2"/>
            </a:solidFill>
            <a:prstDash val="solid"/>
          </a:ln>
        </p:spPr>
      </p:sp>
      <p:sp>
        <p:nvSpPr>
          <p:cNvPr id="26" name="tree-node"/>
          <p:cNvSpPr/>
          <p:nvPr/>
        </p:nvSpPr>
        <p:spPr>
          <a:xfrm>
            <a:off x="2516581" y="3154680"/>
            <a:ext cx="402336" cy="402336"/>
          </a:xfrm>
          <a:prstGeom prst="roundRect">
            <a:avLst>
              <a:gd name="adj" fmla="val 13636"/>
            </a:avLst>
          </a:prstGeom>
          <a:solidFill>
            <a:schemeClr val="accent2"/>
          </a:solidFill>
          <a:ln w="19050">
            <a:solidFill>
              <a:schemeClr val="accent2"/>
            </a:solidFill>
            <a:prstDash val="solid"/>
          </a:ln>
        </p:spPr>
      </p:sp>
      <p:sp>
        <p:nvSpPr>
          <p:cNvPr id="27" name="tree-node"/>
          <p:cNvSpPr/>
          <p:nvPr/>
        </p:nvSpPr>
        <p:spPr>
          <a:xfrm>
            <a:off x="3339541" y="3154680"/>
            <a:ext cx="402336" cy="402336"/>
          </a:xfrm>
          <a:prstGeom prst="roundRect">
            <a:avLst>
              <a:gd name="adj" fmla="val 13636"/>
            </a:avLst>
          </a:prstGeom>
          <a:solidFill>
            <a:schemeClr val="accent2"/>
          </a:solidFill>
          <a:ln w="19050">
            <a:solidFill>
              <a:schemeClr val="accent2"/>
            </a:solidFill>
            <a:prstDash val="solid"/>
          </a:ln>
        </p:spPr>
      </p:sp>
      <p:sp>
        <p:nvSpPr>
          <p:cNvPr id="28" name="scope-title-190"/>
          <p:cNvSpPr txBox="1"/>
          <p:nvPr/>
        </p:nvSpPr>
        <p:spPr>
          <a:xfrm>
            <a:off x="822960" y="3794760"/>
            <a:ext cx="2966618" cy="411480"/>
          </a:xfrm>
          <a:prstGeom prst="rect">
            <a:avLst/>
          </a:prstGeom>
          <a:noFill/>
          <a:ln/>
        </p:spPr>
        <p:txBody>
          <a:bodyPr wrap="square" lIns="0" tIns="0" rIns="0" bIns="0" rtlCol="0" anchor="t"/>
          <a:lstStyle/>
          <a:p>
            <a:pPr indent="0" marL="0">
              <a:buNone/>
            </a:pPr>
            <a:r>
              <a:rPr lang="en-US" sz="1900" b="1" dirty="0">
                <a:solidFill>
                  <a:schemeClr val="tx2"/>
                </a:solidFill>
                <a:latin typeface="Avenir" pitchFamily="34" charset="0"/>
                <a:ea typeface="Avenir" pitchFamily="34" charset="-122"/>
                <a:cs typeface="Avenir" pitchFamily="34" charset="-120"/>
              </a:rPr>
              <a:t>The entire model</a:t>
            </a:r>
            <a:endParaRPr lang="en-US" sz="1900" dirty="0"/>
          </a:p>
        </p:txBody>
      </p:sp>
      <p:sp>
        <p:nvSpPr>
          <p:cNvPr id="29" name="scope-desc-191"/>
          <p:cNvSpPr txBox="1"/>
          <p:nvPr/>
        </p:nvSpPr>
        <p:spPr>
          <a:xfrm>
            <a:off x="822960" y="4224528"/>
            <a:ext cx="2966618" cy="777240"/>
          </a:xfrm>
          <a:prstGeom prst="rect">
            <a:avLst/>
          </a:prstGeom>
          <a:noFill/>
          <a:ln/>
        </p:spPr>
        <p:txBody>
          <a:bodyPr wrap="square" lIns="0" tIns="0" rIns="0" bIns="0" rtlCol="0" anchor="t"/>
          <a:lstStyle/>
          <a:p>
            <a:pPr indent="0" marL="0">
              <a:buNone/>
            </a:pPr>
            <a:r>
              <a:rPr lang="en-US" sz="1500" dirty="0">
                <a:solidFill>
                  <a:schemeClr val="tx1"/>
                </a:solidFill>
              </a:rPr>
              <a:t>A small tree or a sparse linear model can be understood as a whole.</a:t>
            </a:r>
            <a:endParaRPr lang="en-US" sz="1500" dirty="0"/>
          </a:p>
        </p:txBody>
      </p:sp>
      <p:sp>
        <p:nvSpPr>
          <p:cNvPr id="30" name="scope-card-192"/>
          <p:cNvSpPr/>
          <p:nvPr/>
        </p:nvSpPr>
        <p:spPr>
          <a:xfrm>
            <a:off x="4338218" y="1554480"/>
            <a:ext cx="3515258" cy="3474720"/>
          </a:xfrm>
          <a:prstGeom prst="roundRect">
            <a:avLst>
              <a:gd name="adj" fmla="val 2632"/>
            </a:avLst>
          </a:prstGeom>
          <a:solidFill>
            <a:schemeClr val="bg2"/>
          </a:solidFill>
          <a:ln/>
        </p:spPr>
      </p:sp>
      <p:sp>
        <p:nvSpPr>
          <p:cNvPr id="31" name="pill-193"/>
          <p:cNvSpPr/>
          <p:nvPr/>
        </p:nvSpPr>
        <p:spPr>
          <a:xfrm>
            <a:off x="4521098" y="1691640"/>
            <a:ext cx="384048" cy="384048"/>
          </a:xfrm>
          <a:prstGeom prst="roundRect">
            <a:avLst>
              <a:gd name="adj" fmla="val 50000"/>
            </a:avLst>
          </a:prstGeom>
          <a:solidFill>
            <a:schemeClr val="accent1"/>
          </a:solidFill>
          <a:ln/>
        </p:spPr>
      </p:sp>
      <p:sp>
        <p:nvSpPr>
          <p:cNvPr id="32" name="pill-text-194"/>
          <p:cNvSpPr txBox="1"/>
          <p:nvPr/>
        </p:nvSpPr>
        <p:spPr>
          <a:xfrm>
            <a:off x="4521098" y="16916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3" name="line-195"/>
          <p:cNvSpPr/>
          <p:nvPr/>
        </p:nvSpPr>
        <p:spPr>
          <a:xfrm flipH="1">
            <a:off x="5272888" y="1984248"/>
            <a:ext cx="822960" cy="685800"/>
          </a:xfrm>
          <a:prstGeom prst="line">
            <a:avLst/>
          </a:prstGeom>
          <a:noFill/>
          <a:ln w="15875">
            <a:solidFill>
              <a:srgbClr val="9DB7C2"/>
            </a:solidFill>
            <a:prstDash val="solid"/>
          </a:ln>
        </p:spPr>
      </p:sp>
      <p:sp>
        <p:nvSpPr>
          <p:cNvPr id="34" name="line-196"/>
          <p:cNvSpPr/>
          <p:nvPr/>
        </p:nvSpPr>
        <p:spPr>
          <a:xfrm>
            <a:off x="6095848" y="1984248"/>
            <a:ext cx="822960" cy="685800"/>
          </a:xfrm>
          <a:prstGeom prst="line">
            <a:avLst/>
          </a:prstGeom>
          <a:noFill/>
          <a:ln w="15875">
            <a:solidFill>
              <a:srgbClr val="9DB7C2"/>
            </a:solidFill>
            <a:prstDash val="solid"/>
          </a:ln>
        </p:spPr>
      </p:sp>
      <p:sp>
        <p:nvSpPr>
          <p:cNvPr id="35" name="line-197"/>
          <p:cNvSpPr/>
          <p:nvPr/>
        </p:nvSpPr>
        <p:spPr>
          <a:xfrm flipH="1">
            <a:off x="4861408" y="2670048"/>
            <a:ext cx="411480" cy="685800"/>
          </a:xfrm>
          <a:prstGeom prst="line">
            <a:avLst/>
          </a:prstGeom>
          <a:noFill/>
          <a:ln w="15875">
            <a:solidFill>
              <a:srgbClr val="9DB7C2"/>
            </a:solidFill>
            <a:prstDash val="solid"/>
          </a:ln>
        </p:spPr>
      </p:sp>
      <p:sp>
        <p:nvSpPr>
          <p:cNvPr id="36" name="line-198"/>
          <p:cNvSpPr/>
          <p:nvPr/>
        </p:nvSpPr>
        <p:spPr>
          <a:xfrm>
            <a:off x="5272888" y="2670048"/>
            <a:ext cx="411480" cy="685800"/>
          </a:xfrm>
          <a:prstGeom prst="line">
            <a:avLst/>
          </a:prstGeom>
          <a:noFill/>
          <a:ln w="15875">
            <a:solidFill>
              <a:srgbClr val="9DB7C2"/>
            </a:solidFill>
            <a:prstDash val="solid"/>
          </a:ln>
        </p:spPr>
      </p:sp>
      <p:sp>
        <p:nvSpPr>
          <p:cNvPr id="37" name="line-199"/>
          <p:cNvSpPr/>
          <p:nvPr/>
        </p:nvSpPr>
        <p:spPr>
          <a:xfrm flipH="1">
            <a:off x="6507328" y="2670048"/>
            <a:ext cx="411480" cy="685800"/>
          </a:xfrm>
          <a:prstGeom prst="line">
            <a:avLst/>
          </a:prstGeom>
          <a:noFill/>
          <a:ln w="38100">
            <a:solidFill>
              <a:srgbClr val="E07A1F"/>
            </a:solidFill>
            <a:prstDash val="solid"/>
          </a:ln>
        </p:spPr>
      </p:sp>
      <p:sp>
        <p:nvSpPr>
          <p:cNvPr id="38" name="line-200"/>
          <p:cNvSpPr/>
          <p:nvPr/>
        </p:nvSpPr>
        <p:spPr>
          <a:xfrm>
            <a:off x="6918808" y="2670048"/>
            <a:ext cx="411480" cy="685800"/>
          </a:xfrm>
          <a:prstGeom prst="line">
            <a:avLst/>
          </a:prstGeom>
          <a:noFill/>
          <a:ln w="38100">
            <a:solidFill>
              <a:srgbClr val="E07A1F"/>
            </a:solidFill>
            <a:prstDash val="solid"/>
          </a:ln>
        </p:spPr>
      </p:sp>
      <p:sp>
        <p:nvSpPr>
          <p:cNvPr id="39" name="tree-node"/>
          <p:cNvSpPr/>
          <p:nvPr/>
        </p:nvSpPr>
        <p:spPr>
          <a:xfrm>
            <a:off x="5894680" y="1783080"/>
            <a:ext cx="402336" cy="402336"/>
          </a:xfrm>
          <a:prstGeom prst="ellipse">
            <a:avLst/>
          </a:prstGeom>
          <a:solidFill>
            <a:schemeClr val="bg1"/>
          </a:solidFill>
          <a:ln w="19050">
            <a:solidFill>
              <a:schemeClr val="accent6"/>
            </a:solidFill>
            <a:prstDash val="solid"/>
          </a:ln>
        </p:spPr>
      </p:sp>
      <p:sp>
        <p:nvSpPr>
          <p:cNvPr id="40" name="tree-node"/>
          <p:cNvSpPr/>
          <p:nvPr/>
        </p:nvSpPr>
        <p:spPr>
          <a:xfrm>
            <a:off x="5071720" y="2468880"/>
            <a:ext cx="402336" cy="402336"/>
          </a:xfrm>
          <a:prstGeom prst="ellipse">
            <a:avLst/>
          </a:prstGeom>
          <a:solidFill>
            <a:schemeClr val="bg1"/>
          </a:solidFill>
          <a:ln w="19050">
            <a:solidFill>
              <a:schemeClr val="accent6"/>
            </a:solidFill>
            <a:prstDash val="solid"/>
          </a:ln>
        </p:spPr>
      </p:sp>
      <p:sp>
        <p:nvSpPr>
          <p:cNvPr id="41" name="tree-node"/>
          <p:cNvSpPr/>
          <p:nvPr/>
        </p:nvSpPr>
        <p:spPr>
          <a:xfrm>
            <a:off x="6717640" y="2468880"/>
            <a:ext cx="402336" cy="402336"/>
          </a:xfrm>
          <a:prstGeom prst="ellipse">
            <a:avLst/>
          </a:prstGeom>
          <a:solidFill>
            <a:schemeClr val="accent2"/>
          </a:solidFill>
          <a:ln w="19050">
            <a:solidFill>
              <a:schemeClr val="accent2"/>
            </a:solidFill>
            <a:prstDash val="solid"/>
          </a:ln>
        </p:spPr>
      </p:sp>
      <p:sp>
        <p:nvSpPr>
          <p:cNvPr id="42" name="tree-node"/>
          <p:cNvSpPr/>
          <p:nvPr/>
        </p:nvSpPr>
        <p:spPr>
          <a:xfrm>
            <a:off x="4660240" y="3154680"/>
            <a:ext cx="402336" cy="402336"/>
          </a:xfrm>
          <a:prstGeom prst="roundRect">
            <a:avLst>
              <a:gd name="adj" fmla="val 13636"/>
            </a:avLst>
          </a:prstGeom>
          <a:solidFill>
            <a:schemeClr val="bg1"/>
          </a:solidFill>
          <a:ln w="19050">
            <a:solidFill>
              <a:schemeClr val="accent6"/>
            </a:solidFill>
            <a:prstDash val="solid"/>
          </a:ln>
        </p:spPr>
      </p:sp>
      <p:sp>
        <p:nvSpPr>
          <p:cNvPr id="43" name="tree-node"/>
          <p:cNvSpPr/>
          <p:nvPr/>
        </p:nvSpPr>
        <p:spPr>
          <a:xfrm>
            <a:off x="5483200" y="3154680"/>
            <a:ext cx="402336" cy="402336"/>
          </a:xfrm>
          <a:prstGeom prst="roundRect">
            <a:avLst>
              <a:gd name="adj" fmla="val 13636"/>
            </a:avLst>
          </a:prstGeom>
          <a:solidFill>
            <a:schemeClr val="bg1"/>
          </a:solidFill>
          <a:ln w="19050">
            <a:solidFill>
              <a:schemeClr val="accent6"/>
            </a:solidFill>
            <a:prstDash val="solid"/>
          </a:ln>
        </p:spPr>
      </p:sp>
      <p:sp>
        <p:nvSpPr>
          <p:cNvPr id="44" name="tree-node"/>
          <p:cNvSpPr/>
          <p:nvPr/>
        </p:nvSpPr>
        <p:spPr>
          <a:xfrm>
            <a:off x="6306160" y="3154680"/>
            <a:ext cx="402336" cy="402336"/>
          </a:xfrm>
          <a:prstGeom prst="roundRect">
            <a:avLst>
              <a:gd name="adj" fmla="val 13636"/>
            </a:avLst>
          </a:prstGeom>
          <a:solidFill>
            <a:schemeClr val="accent2"/>
          </a:solidFill>
          <a:ln w="19050">
            <a:solidFill>
              <a:schemeClr val="accent2"/>
            </a:solidFill>
            <a:prstDash val="solid"/>
          </a:ln>
        </p:spPr>
      </p:sp>
      <p:sp>
        <p:nvSpPr>
          <p:cNvPr id="45" name="tree-node"/>
          <p:cNvSpPr/>
          <p:nvPr/>
        </p:nvSpPr>
        <p:spPr>
          <a:xfrm>
            <a:off x="7129120" y="3154680"/>
            <a:ext cx="402336" cy="402336"/>
          </a:xfrm>
          <a:prstGeom prst="roundRect">
            <a:avLst>
              <a:gd name="adj" fmla="val 13636"/>
            </a:avLst>
          </a:prstGeom>
          <a:solidFill>
            <a:schemeClr val="accent2"/>
          </a:solidFill>
          <a:ln w="19050">
            <a:solidFill>
              <a:schemeClr val="accent2"/>
            </a:solidFill>
            <a:prstDash val="solid"/>
          </a:ln>
        </p:spPr>
      </p:sp>
      <p:sp>
        <p:nvSpPr>
          <p:cNvPr id="46" name="scope-title-201"/>
          <p:cNvSpPr txBox="1"/>
          <p:nvPr/>
        </p:nvSpPr>
        <p:spPr>
          <a:xfrm>
            <a:off x="4612538" y="3794760"/>
            <a:ext cx="2966618" cy="411480"/>
          </a:xfrm>
          <a:prstGeom prst="rect">
            <a:avLst/>
          </a:prstGeom>
          <a:noFill/>
          <a:ln/>
        </p:spPr>
        <p:txBody>
          <a:bodyPr wrap="square" lIns="0" tIns="0" rIns="0" bIns="0" rtlCol="0" anchor="t"/>
          <a:lstStyle/>
          <a:p>
            <a:pPr indent="0" marL="0">
              <a:buNone/>
            </a:pPr>
            <a:r>
              <a:rPr lang="en-US" sz="1900" b="1" dirty="0">
                <a:solidFill>
                  <a:schemeClr val="tx2"/>
                </a:solidFill>
                <a:latin typeface="Avenir" pitchFamily="34" charset="0"/>
                <a:ea typeface="Avenir" pitchFamily="34" charset="-122"/>
                <a:cs typeface="Avenir" pitchFamily="34" charset="-120"/>
              </a:rPr>
              <a:t>Parts of the model</a:t>
            </a:r>
            <a:endParaRPr lang="en-US" sz="1900" dirty="0"/>
          </a:p>
        </p:txBody>
      </p:sp>
      <p:sp>
        <p:nvSpPr>
          <p:cNvPr id="47" name="scope-desc-202"/>
          <p:cNvSpPr txBox="1"/>
          <p:nvPr/>
        </p:nvSpPr>
        <p:spPr>
          <a:xfrm>
            <a:off x="4612538" y="4224528"/>
            <a:ext cx="2966618" cy="777240"/>
          </a:xfrm>
          <a:prstGeom prst="rect">
            <a:avLst/>
          </a:prstGeom>
          <a:noFill/>
          <a:ln/>
        </p:spPr>
        <p:txBody>
          <a:bodyPr wrap="square" lIns="0" tIns="0" rIns="0" bIns="0" rtlCol="0" anchor="t"/>
          <a:lstStyle/>
          <a:p>
            <a:pPr indent="0" marL="0">
              <a:buNone/>
            </a:pPr>
            <a:r>
              <a:rPr lang="en-US" sz="1500" dirty="0">
                <a:solidFill>
                  <a:schemeClr val="tx1"/>
                </a:solidFill>
              </a:rPr>
              <a:t>One coefficient or one rule, even if the whole model is too big.</a:t>
            </a:r>
            <a:endParaRPr lang="en-US" sz="1500" dirty="0"/>
          </a:p>
        </p:txBody>
      </p:sp>
      <p:sp>
        <p:nvSpPr>
          <p:cNvPr id="48" name="scope-card-203"/>
          <p:cNvSpPr/>
          <p:nvPr/>
        </p:nvSpPr>
        <p:spPr>
          <a:xfrm>
            <a:off x="8127797" y="1554480"/>
            <a:ext cx="3515258" cy="3474720"/>
          </a:xfrm>
          <a:prstGeom prst="roundRect">
            <a:avLst>
              <a:gd name="adj" fmla="val 2632"/>
            </a:avLst>
          </a:prstGeom>
          <a:solidFill>
            <a:schemeClr val="bg2"/>
          </a:solidFill>
          <a:ln/>
        </p:spPr>
      </p:sp>
      <p:sp>
        <p:nvSpPr>
          <p:cNvPr id="49" name="pill-204"/>
          <p:cNvSpPr/>
          <p:nvPr/>
        </p:nvSpPr>
        <p:spPr>
          <a:xfrm>
            <a:off x="8310677" y="1691640"/>
            <a:ext cx="384048" cy="384048"/>
          </a:xfrm>
          <a:prstGeom prst="roundRect">
            <a:avLst>
              <a:gd name="adj" fmla="val 50000"/>
            </a:avLst>
          </a:prstGeom>
          <a:solidFill>
            <a:schemeClr val="accent1"/>
          </a:solidFill>
          <a:ln/>
        </p:spPr>
      </p:sp>
      <p:sp>
        <p:nvSpPr>
          <p:cNvPr id="50" name="pill-text-205"/>
          <p:cNvSpPr txBox="1"/>
          <p:nvPr/>
        </p:nvSpPr>
        <p:spPr>
          <a:xfrm>
            <a:off x="8310677" y="16916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51" name="line-206"/>
          <p:cNvSpPr/>
          <p:nvPr/>
        </p:nvSpPr>
        <p:spPr>
          <a:xfrm flipH="1">
            <a:off x="9062466" y="1984248"/>
            <a:ext cx="822960" cy="685800"/>
          </a:xfrm>
          <a:prstGeom prst="line">
            <a:avLst/>
          </a:prstGeom>
          <a:noFill/>
          <a:ln w="15875">
            <a:solidFill>
              <a:srgbClr val="9DB7C2"/>
            </a:solidFill>
            <a:prstDash val="solid"/>
          </a:ln>
        </p:spPr>
      </p:sp>
      <p:sp>
        <p:nvSpPr>
          <p:cNvPr id="52" name="line-207"/>
          <p:cNvSpPr/>
          <p:nvPr/>
        </p:nvSpPr>
        <p:spPr>
          <a:xfrm>
            <a:off x="9885426" y="1984248"/>
            <a:ext cx="822960" cy="685800"/>
          </a:xfrm>
          <a:prstGeom prst="line">
            <a:avLst/>
          </a:prstGeom>
          <a:noFill/>
          <a:ln w="38100">
            <a:solidFill>
              <a:srgbClr val="E07A1F"/>
            </a:solidFill>
            <a:prstDash val="solid"/>
          </a:ln>
        </p:spPr>
      </p:sp>
      <p:sp>
        <p:nvSpPr>
          <p:cNvPr id="53" name="line-208"/>
          <p:cNvSpPr/>
          <p:nvPr/>
        </p:nvSpPr>
        <p:spPr>
          <a:xfrm flipH="1">
            <a:off x="8650986" y="2670048"/>
            <a:ext cx="411480" cy="685800"/>
          </a:xfrm>
          <a:prstGeom prst="line">
            <a:avLst/>
          </a:prstGeom>
          <a:noFill/>
          <a:ln w="15875">
            <a:solidFill>
              <a:srgbClr val="9DB7C2"/>
            </a:solidFill>
            <a:prstDash val="solid"/>
          </a:ln>
        </p:spPr>
      </p:sp>
      <p:sp>
        <p:nvSpPr>
          <p:cNvPr id="54" name="line-209"/>
          <p:cNvSpPr/>
          <p:nvPr/>
        </p:nvSpPr>
        <p:spPr>
          <a:xfrm>
            <a:off x="9062466" y="2670048"/>
            <a:ext cx="411480" cy="685800"/>
          </a:xfrm>
          <a:prstGeom prst="line">
            <a:avLst/>
          </a:prstGeom>
          <a:noFill/>
          <a:ln w="15875">
            <a:solidFill>
              <a:srgbClr val="9DB7C2"/>
            </a:solidFill>
            <a:prstDash val="solid"/>
          </a:ln>
        </p:spPr>
      </p:sp>
      <p:sp>
        <p:nvSpPr>
          <p:cNvPr id="55" name="line-210"/>
          <p:cNvSpPr/>
          <p:nvPr/>
        </p:nvSpPr>
        <p:spPr>
          <a:xfrm flipH="1">
            <a:off x="10296906" y="2670048"/>
            <a:ext cx="411480" cy="685800"/>
          </a:xfrm>
          <a:prstGeom prst="line">
            <a:avLst/>
          </a:prstGeom>
          <a:noFill/>
          <a:ln w="15875">
            <a:solidFill>
              <a:srgbClr val="9DB7C2"/>
            </a:solidFill>
            <a:prstDash val="solid"/>
          </a:ln>
        </p:spPr>
      </p:sp>
      <p:sp>
        <p:nvSpPr>
          <p:cNvPr id="56" name="line-211"/>
          <p:cNvSpPr/>
          <p:nvPr/>
        </p:nvSpPr>
        <p:spPr>
          <a:xfrm>
            <a:off x="10708386" y="2670048"/>
            <a:ext cx="411480" cy="685800"/>
          </a:xfrm>
          <a:prstGeom prst="line">
            <a:avLst/>
          </a:prstGeom>
          <a:noFill/>
          <a:ln w="38100">
            <a:solidFill>
              <a:srgbClr val="E07A1F"/>
            </a:solidFill>
            <a:prstDash val="solid"/>
          </a:ln>
        </p:spPr>
      </p:sp>
      <p:sp>
        <p:nvSpPr>
          <p:cNvPr id="57" name="tree-node"/>
          <p:cNvSpPr/>
          <p:nvPr/>
        </p:nvSpPr>
        <p:spPr>
          <a:xfrm>
            <a:off x="9684258" y="1783080"/>
            <a:ext cx="402336" cy="402336"/>
          </a:xfrm>
          <a:prstGeom prst="ellipse">
            <a:avLst/>
          </a:prstGeom>
          <a:solidFill>
            <a:schemeClr val="accent2"/>
          </a:solidFill>
          <a:ln w="19050">
            <a:solidFill>
              <a:schemeClr val="accent2"/>
            </a:solidFill>
            <a:prstDash val="solid"/>
          </a:ln>
        </p:spPr>
      </p:sp>
      <p:sp>
        <p:nvSpPr>
          <p:cNvPr id="58" name="tree-node"/>
          <p:cNvSpPr/>
          <p:nvPr/>
        </p:nvSpPr>
        <p:spPr>
          <a:xfrm>
            <a:off x="8861298" y="2468880"/>
            <a:ext cx="402336" cy="402336"/>
          </a:xfrm>
          <a:prstGeom prst="ellipse">
            <a:avLst/>
          </a:prstGeom>
          <a:solidFill>
            <a:schemeClr val="bg1"/>
          </a:solidFill>
          <a:ln w="19050">
            <a:solidFill>
              <a:schemeClr val="accent6"/>
            </a:solidFill>
            <a:prstDash val="solid"/>
          </a:ln>
        </p:spPr>
      </p:sp>
      <p:sp>
        <p:nvSpPr>
          <p:cNvPr id="59" name="tree-node"/>
          <p:cNvSpPr/>
          <p:nvPr/>
        </p:nvSpPr>
        <p:spPr>
          <a:xfrm>
            <a:off x="10507218" y="2468880"/>
            <a:ext cx="402336" cy="402336"/>
          </a:xfrm>
          <a:prstGeom prst="ellipse">
            <a:avLst/>
          </a:prstGeom>
          <a:solidFill>
            <a:schemeClr val="accent2"/>
          </a:solidFill>
          <a:ln w="19050">
            <a:solidFill>
              <a:schemeClr val="accent2"/>
            </a:solidFill>
            <a:prstDash val="solid"/>
          </a:ln>
        </p:spPr>
      </p:sp>
      <p:sp>
        <p:nvSpPr>
          <p:cNvPr id="60" name="tree-node"/>
          <p:cNvSpPr/>
          <p:nvPr/>
        </p:nvSpPr>
        <p:spPr>
          <a:xfrm>
            <a:off x="8449818" y="3154680"/>
            <a:ext cx="402336" cy="402336"/>
          </a:xfrm>
          <a:prstGeom prst="roundRect">
            <a:avLst>
              <a:gd name="adj" fmla="val 13636"/>
            </a:avLst>
          </a:prstGeom>
          <a:solidFill>
            <a:schemeClr val="bg1"/>
          </a:solidFill>
          <a:ln w="19050">
            <a:solidFill>
              <a:schemeClr val="accent6"/>
            </a:solidFill>
            <a:prstDash val="solid"/>
          </a:ln>
        </p:spPr>
      </p:sp>
      <p:sp>
        <p:nvSpPr>
          <p:cNvPr id="61" name="tree-node"/>
          <p:cNvSpPr/>
          <p:nvPr/>
        </p:nvSpPr>
        <p:spPr>
          <a:xfrm>
            <a:off x="9272778" y="3154680"/>
            <a:ext cx="402336" cy="402336"/>
          </a:xfrm>
          <a:prstGeom prst="roundRect">
            <a:avLst>
              <a:gd name="adj" fmla="val 13636"/>
            </a:avLst>
          </a:prstGeom>
          <a:solidFill>
            <a:schemeClr val="bg1"/>
          </a:solidFill>
          <a:ln w="19050">
            <a:solidFill>
              <a:schemeClr val="accent6"/>
            </a:solidFill>
            <a:prstDash val="solid"/>
          </a:ln>
        </p:spPr>
      </p:sp>
      <p:sp>
        <p:nvSpPr>
          <p:cNvPr id="62" name="tree-node"/>
          <p:cNvSpPr/>
          <p:nvPr/>
        </p:nvSpPr>
        <p:spPr>
          <a:xfrm>
            <a:off x="10095738" y="3154680"/>
            <a:ext cx="402336" cy="402336"/>
          </a:xfrm>
          <a:prstGeom prst="roundRect">
            <a:avLst>
              <a:gd name="adj" fmla="val 13636"/>
            </a:avLst>
          </a:prstGeom>
          <a:solidFill>
            <a:schemeClr val="bg1"/>
          </a:solidFill>
          <a:ln w="19050">
            <a:solidFill>
              <a:schemeClr val="accent6"/>
            </a:solidFill>
            <a:prstDash val="solid"/>
          </a:ln>
        </p:spPr>
      </p:sp>
      <p:sp>
        <p:nvSpPr>
          <p:cNvPr id="63" name="tree-node"/>
          <p:cNvSpPr/>
          <p:nvPr/>
        </p:nvSpPr>
        <p:spPr>
          <a:xfrm>
            <a:off x="10918698" y="3154680"/>
            <a:ext cx="402336" cy="402336"/>
          </a:xfrm>
          <a:prstGeom prst="roundRect">
            <a:avLst>
              <a:gd name="adj" fmla="val 13636"/>
            </a:avLst>
          </a:prstGeom>
          <a:solidFill>
            <a:schemeClr val="accent2"/>
          </a:solidFill>
          <a:ln w="19050">
            <a:solidFill>
              <a:schemeClr val="accent2"/>
            </a:solidFill>
            <a:prstDash val="solid"/>
          </a:ln>
        </p:spPr>
      </p:sp>
      <p:sp>
        <p:nvSpPr>
          <p:cNvPr id="64" name="scope-title-212"/>
          <p:cNvSpPr txBox="1"/>
          <p:nvPr/>
        </p:nvSpPr>
        <p:spPr>
          <a:xfrm>
            <a:off x="8402117" y="3794760"/>
            <a:ext cx="2966618" cy="411480"/>
          </a:xfrm>
          <a:prstGeom prst="rect">
            <a:avLst/>
          </a:prstGeom>
          <a:noFill/>
          <a:ln/>
        </p:spPr>
        <p:txBody>
          <a:bodyPr wrap="square" lIns="0" tIns="0" rIns="0" bIns="0" rtlCol="0" anchor="t"/>
          <a:lstStyle/>
          <a:p>
            <a:pPr indent="0" marL="0">
              <a:buNone/>
            </a:pPr>
            <a:r>
              <a:rPr lang="en-US" sz="1900" b="1" dirty="0">
                <a:solidFill>
                  <a:schemeClr val="tx2"/>
                </a:solidFill>
                <a:latin typeface="Avenir" pitchFamily="34" charset="0"/>
                <a:ea typeface="Avenir" pitchFamily="34" charset="-122"/>
                <a:cs typeface="Avenir" pitchFamily="34" charset="-120"/>
              </a:rPr>
              <a:t>Individual predictions</a:t>
            </a:r>
            <a:endParaRPr lang="en-US" sz="1900" dirty="0"/>
          </a:p>
        </p:txBody>
      </p:sp>
      <p:sp>
        <p:nvSpPr>
          <p:cNvPr id="65" name="scope-desc-213"/>
          <p:cNvSpPr txBox="1"/>
          <p:nvPr/>
        </p:nvSpPr>
        <p:spPr>
          <a:xfrm>
            <a:off x="8402117" y="4224528"/>
            <a:ext cx="2966618" cy="777240"/>
          </a:xfrm>
          <a:prstGeom prst="rect">
            <a:avLst/>
          </a:prstGeom>
          <a:noFill/>
          <a:ln/>
        </p:spPr>
        <p:txBody>
          <a:bodyPr wrap="square" lIns="0" tIns="0" rIns="0" bIns="0" rtlCol="0" anchor="t"/>
          <a:lstStyle/>
          <a:p>
            <a:pPr indent="0" marL="0">
              <a:buNone/>
            </a:pPr>
            <a:r>
              <a:rPr lang="en-US" sz="1500" dirty="0">
                <a:solidFill>
                  <a:schemeClr val="tx1"/>
                </a:solidFill>
              </a:rPr>
              <a:t>The decision path to one prediction, or its k most similar images.</a:t>
            </a:r>
            <a:endParaRPr lang="en-US" sz="1500" dirty="0"/>
          </a:p>
        </p:txBody>
      </p:sp>
      <p:sp>
        <p:nvSpPr>
          <p:cNvPr id="66" name="tip-card-214"/>
          <p:cNvSpPr/>
          <p:nvPr/>
        </p:nvSpPr>
        <p:spPr>
          <a:xfrm>
            <a:off x="548640" y="5303520"/>
            <a:ext cx="11094415" cy="868680"/>
          </a:xfrm>
          <a:prstGeom prst="roundRect">
            <a:avLst>
              <a:gd name="adj" fmla="val 10526"/>
            </a:avLst>
          </a:prstGeom>
          <a:solidFill>
            <a:schemeClr val="accent2"/>
          </a:solidFill>
          <a:ln/>
        </p:spPr>
      </p:sp>
      <p:sp>
        <p:nvSpPr>
          <p:cNvPr id="67" name="icon-bg-215"/>
          <p:cNvSpPr/>
          <p:nvPr/>
        </p:nvSpPr>
        <p:spPr>
          <a:xfrm>
            <a:off x="749808" y="5440680"/>
            <a:ext cx="594360" cy="594360"/>
          </a:xfrm>
          <a:prstGeom prst="ellipse">
            <a:avLst/>
          </a:prstGeom>
          <a:solidFill>
            <a:schemeClr val="bg1"/>
          </a:solidFill>
          <a:ln/>
        </p:spPr>
      </p:sp>
      <p:pic>
        <p:nvPicPr>
          <p:cNvPr id="68" name="icon-216" descr="LuLightbulb">    </p:cNvPr>
          <p:cNvPicPr>
            <a:picLocks noChangeAspect="1"/>
          </p:cNvPicPr>
          <p:nvPr/>
        </p:nvPicPr>
        <p:blipFill>
          <a:blip r:embed="rId1"/>
          <a:stretch>
            <a:fillRect/>
          </a:stretch>
        </p:blipFill>
        <p:spPr>
          <a:xfrm>
            <a:off x="904342" y="5595214"/>
            <a:ext cx="285293" cy="285293"/>
          </a:xfrm>
          <a:prstGeom prst="rect">
            <a:avLst/>
          </a:prstGeom>
        </p:spPr>
      </p:pic>
      <p:sp>
        <p:nvSpPr>
          <p:cNvPr id="69" name="tip-text-217"/>
          <p:cNvSpPr txBox="1"/>
          <p:nvPr/>
        </p:nvSpPr>
        <p:spPr>
          <a:xfrm>
            <a:off x="1554480" y="5303520"/>
            <a:ext cx="9859975" cy="868680"/>
          </a:xfrm>
          <a:prstGeom prst="rect">
            <a:avLst/>
          </a:prstGeom>
          <a:noFill/>
          <a:ln/>
        </p:spPr>
        <p:txBody>
          <a:bodyPr wrap="square" lIns="0" tIns="0" rIns="0" bIns="0" rtlCol="0" anchor="ctr"/>
          <a:lstStyle/>
          <a:p>
            <a:pPr indent="0" marL="0">
              <a:buNone/>
            </a:pPr>
            <a:r>
              <a:rPr lang="en-US" sz="1600" b="1" dirty="0">
                <a:solidFill>
                  <a:schemeClr val="bg1"/>
                </a:solidFill>
              </a:rPr>
              <a:t>Tip: </a:t>
            </a:r>
            <a:pPr indent="0" marL="0">
              <a:buNone/>
            </a:pPr>
            <a:r>
              <a:rPr lang="en-US" sz="1600" dirty="0">
                <a:solidFill>
                  <a:schemeClr val="bg1"/>
                </a:solidFill>
              </a:rPr>
              <a:t>for any new interpretability approach, ask whether it explains the entire model, parts of it, or individual predictions.</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5852160" cy="292608"/>
          </a:xfrm>
          <a:prstGeom prst="rect">
            <a:avLst/>
          </a:prstGeom>
          <a:noFill/>
          <a:ln/>
        </p:spPr>
        <p:txBody>
          <a:bodyPr wrap="square" lIns="0" tIns="0" rIns="0" bIns="0" rtlCol="0" anchor="b"/>
          <a:lstStyle/>
          <a:p>
            <a:pPr algn="l" indent="0" marL="0">
              <a:buNone/>
            </a:pPr>
            <a:r>
              <a:rPr lang="en-US" sz="1200" b="1" spc="200" kern="0" dirty="0">
                <a:solidFill>
                  <a:schemeClr val="accent1"/>
                </a:solidFill>
              </a:rPr>
              <a:t>STRENGTHS</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200" b="1" dirty="0">
                <a:solidFill>
                  <a:schemeClr val="tx2"/>
                </a:solidFill>
                <a:latin typeface="Avenir" pitchFamily="34" charset="0"/>
                <a:ea typeface="Avenir" pitchFamily="34" charset="-122"/>
                <a:cs typeface="Avenir" pitchFamily="34" charset="-120"/>
              </a:rPr>
              <a:t>Strong for debugging, but beware Rashomon</a:t>
            </a:r>
            <a:endParaRPr lang="en-US" sz="3200" dirty="0"/>
          </a:p>
        </p:txBody>
      </p:sp>
      <p:sp>
        <p:nvSpPr>
          <p:cNvPr id="4" name="pill-218"/>
          <p:cNvSpPr/>
          <p:nvPr/>
        </p:nvSpPr>
        <p:spPr>
          <a:xfrm>
            <a:off x="6357823" y="274320"/>
            <a:ext cx="1280160" cy="274320"/>
          </a:xfrm>
          <a:prstGeom prst="roundRect">
            <a:avLst>
              <a:gd name="adj" fmla="val 50000"/>
            </a:avLst>
          </a:prstGeom>
          <a:solidFill>
            <a:schemeClr val="accent1"/>
          </a:solidFill>
          <a:ln/>
        </p:spPr>
      </p:sp>
      <p:sp>
        <p:nvSpPr>
          <p:cNvPr id="5" name="pill-text-219"/>
          <p:cNvSpPr txBox="1"/>
          <p:nvPr/>
        </p:nvSpPr>
        <p:spPr>
          <a:xfrm>
            <a:off x="6357823" y="274320"/>
            <a:ext cx="1280160" cy="274320"/>
          </a:xfrm>
          <a:prstGeom prst="rect">
            <a:avLst/>
          </a:prstGeom>
          <a:noFill/>
          <a:ln/>
        </p:spPr>
        <p:txBody>
          <a:bodyPr wrap="square" lIns="0" tIns="0" rIns="0" bIns="0" rtlCol="0" anchor="ctr"/>
          <a:lstStyle/>
          <a:p>
            <a:pPr algn="ctr" indent="0" marL="0">
              <a:buNone/>
            </a:pPr>
            <a:r>
              <a:rPr lang="en-US" sz="1000" b="1" dirty="0">
                <a:solidFill>
                  <a:schemeClr val="bg1"/>
                </a:solidFill>
              </a:rPr>
              <a:t>By design</a:t>
            </a:r>
            <a:endParaRPr lang="en-US" sz="1000" dirty="0"/>
          </a:p>
        </p:txBody>
      </p:sp>
      <p:sp>
        <p:nvSpPr>
          <p:cNvPr id="6" name="pill-220"/>
          <p:cNvSpPr/>
          <p:nvPr/>
        </p:nvSpPr>
        <p:spPr>
          <a:xfrm>
            <a:off x="7692847" y="274320"/>
            <a:ext cx="1280160" cy="274320"/>
          </a:xfrm>
          <a:prstGeom prst="roundRect">
            <a:avLst>
              <a:gd name="adj" fmla="val 50000"/>
            </a:avLst>
          </a:prstGeom>
          <a:solidFill>
            <a:schemeClr val="bg2"/>
          </a:solidFill>
          <a:ln/>
        </p:spPr>
      </p:sp>
      <p:sp>
        <p:nvSpPr>
          <p:cNvPr id="7" name="pill-text-221"/>
          <p:cNvSpPr txBox="1"/>
          <p:nvPr/>
        </p:nvSpPr>
        <p:spPr>
          <a:xfrm>
            <a:off x="7692847"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Model-agnostic</a:t>
            </a:r>
            <a:endParaRPr lang="en-US" sz="1000" dirty="0"/>
          </a:p>
        </p:txBody>
      </p:sp>
      <p:sp>
        <p:nvSpPr>
          <p:cNvPr id="8" name="pill-222"/>
          <p:cNvSpPr/>
          <p:nvPr/>
        </p:nvSpPr>
        <p:spPr>
          <a:xfrm>
            <a:off x="9027871" y="274320"/>
            <a:ext cx="1280160" cy="274320"/>
          </a:xfrm>
          <a:prstGeom prst="roundRect">
            <a:avLst>
              <a:gd name="adj" fmla="val 50000"/>
            </a:avLst>
          </a:prstGeom>
          <a:solidFill>
            <a:schemeClr val="bg2"/>
          </a:solidFill>
          <a:ln/>
        </p:spPr>
      </p:sp>
      <p:sp>
        <p:nvSpPr>
          <p:cNvPr id="9" name="pill-text-223"/>
          <p:cNvSpPr txBox="1"/>
          <p:nvPr/>
        </p:nvSpPr>
        <p:spPr>
          <a:xfrm>
            <a:off x="9027871"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Model-specific</a:t>
            </a:r>
            <a:endParaRPr lang="en-US" sz="1000" dirty="0"/>
          </a:p>
        </p:txBody>
      </p:sp>
      <p:sp>
        <p:nvSpPr>
          <p:cNvPr id="10" name="pill-224"/>
          <p:cNvSpPr/>
          <p:nvPr/>
        </p:nvSpPr>
        <p:spPr>
          <a:xfrm>
            <a:off x="10362895" y="274320"/>
            <a:ext cx="1280160" cy="274320"/>
          </a:xfrm>
          <a:prstGeom prst="roundRect">
            <a:avLst>
              <a:gd name="adj" fmla="val 50000"/>
            </a:avLst>
          </a:prstGeom>
          <a:solidFill>
            <a:schemeClr val="bg2"/>
          </a:solidFill>
          <a:ln/>
        </p:spPr>
      </p:sp>
      <p:sp>
        <p:nvSpPr>
          <p:cNvPr id="11" name="pill-text-225"/>
          <p:cNvSpPr txBox="1"/>
          <p:nvPr/>
        </p:nvSpPr>
        <p:spPr>
          <a:xfrm>
            <a:off x="10362895"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Synthesis</a:t>
            </a:r>
            <a:endParaRPr lang="en-US" sz="1000" dirty="0"/>
          </a:p>
        </p:txBody>
      </p:sp>
      <p:sp>
        <p:nvSpPr>
          <p:cNvPr id="12" name="goal-card-226"/>
          <p:cNvSpPr/>
          <p:nvPr/>
        </p:nvSpPr>
        <p:spPr>
          <a:xfrm>
            <a:off x="548640" y="1554480"/>
            <a:ext cx="5989320" cy="1417320"/>
          </a:xfrm>
          <a:prstGeom prst="roundRect">
            <a:avLst>
              <a:gd name="adj" fmla="val 6452"/>
            </a:avLst>
          </a:prstGeom>
          <a:solidFill>
            <a:schemeClr val="bg2"/>
          </a:solidFill>
          <a:ln/>
        </p:spPr>
      </p:sp>
      <p:sp>
        <p:nvSpPr>
          <p:cNvPr id="13" name="icon-bg-227"/>
          <p:cNvSpPr/>
          <p:nvPr/>
        </p:nvSpPr>
        <p:spPr>
          <a:xfrm>
            <a:off x="777240" y="1783080"/>
            <a:ext cx="640080" cy="640080"/>
          </a:xfrm>
          <a:prstGeom prst="ellipse">
            <a:avLst/>
          </a:prstGeom>
          <a:solidFill>
            <a:schemeClr val="accent1"/>
          </a:solidFill>
          <a:ln/>
        </p:spPr>
      </p:sp>
      <p:pic>
        <p:nvPicPr>
          <p:cNvPr id="14" name="icon-228" descr="LuWrench">    </p:cNvPr>
          <p:cNvPicPr>
            <a:picLocks noChangeAspect="1"/>
          </p:cNvPicPr>
          <p:nvPr/>
        </p:nvPicPr>
        <p:blipFill>
          <a:blip r:embed="rId1"/>
          <a:stretch>
            <a:fillRect/>
          </a:stretch>
        </p:blipFill>
        <p:spPr>
          <a:xfrm>
            <a:off x="943661" y="1949501"/>
            <a:ext cx="307238" cy="307238"/>
          </a:xfrm>
          <a:prstGeom prst="rect">
            <a:avLst/>
          </a:prstGeom>
        </p:spPr>
      </p:pic>
      <p:sp>
        <p:nvSpPr>
          <p:cNvPr id="15" name="goal-title-229"/>
          <p:cNvSpPr txBox="1"/>
          <p:nvPr/>
        </p:nvSpPr>
        <p:spPr>
          <a:xfrm>
            <a:off x="1645920" y="1755648"/>
            <a:ext cx="3291840" cy="411480"/>
          </a:xfrm>
          <a:prstGeom prst="rect">
            <a:avLst/>
          </a:prstGeom>
          <a:noFill/>
          <a:ln/>
        </p:spPr>
        <p:txBody>
          <a:bodyPr wrap="square" lIns="0" tIns="0" rIns="0" bIns="0" rtlCol="0" anchor="t"/>
          <a:lstStyle/>
          <a:p>
            <a:pPr indent="0" marL="0">
              <a:buNone/>
            </a:pPr>
            <a:r>
              <a:rPr lang="en-US" sz="1800" b="1" dirty="0">
                <a:solidFill>
                  <a:schemeClr val="tx2"/>
                </a:solidFill>
              </a:rPr>
              <a:t>Debugging and improving</a:t>
            </a:r>
            <a:endParaRPr lang="en-US" sz="1800" dirty="0"/>
          </a:p>
        </p:txBody>
      </p:sp>
      <p:sp>
        <p:nvSpPr>
          <p:cNvPr id="16" name="rating-dot"/>
          <p:cNvSpPr/>
          <p:nvPr/>
        </p:nvSpPr>
        <p:spPr>
          <a:xfrm>
            <a:off x="5074920" y="1883664"/>
            <a:ext cx="164592" cy="164592"/>
          </a:xfrm>
          <a:prstGeom prst="ellipse">
            <a:avLst/>
          </a:prstGeom>
          <a:solidFill>
            <a:schemeClr val="accent5"/>
          </a:solidFill>
          <a:ln w="12700">
            <a:solidFill>
              <a:schemeClr val="accent5"/>
            </a:solidFill>
            <a:prstDash val="solid"/>
          </a:ln>
        </p:spPr>
      </p:sp>
      <p:sp>
        <p:nvSpPr>
          <p:cNvPr id="17" name="rating-dot"/>
          <p:cNvSpPr/>
          <p:nvPr/>
        </p:nvSpPr>
        <p:spPr>
          <a:xfrm>
            <a:off x="5312664" y="1883664"/>
            <a:ext cx="164592" cy="164592"/>
          </a:xfrm>
          <a:prstGeom prst="ellipse">
            <a:avLst/>
          </a:prstGeom>
          <a:solidFill>
            <a:schemeClr val="accent5"/>
          </a:solidFill>
          <a:ln w="12700">
            <a:solidFill>
              <a:schemeClr val="accent5"/>
            </a:solidFill>
            <a:prstDash val="solid"/>
          </a:ln>
        </p:spPr>
      </p:sp>
      <p:sp>
        <p:nvSpPr>
          <p:cNvPr id="18" name="rating-dot"/>
          <p:cNvSpPr/>
          <p:nvPr/>
        </p:nvSpPr>
        <p:spPr>
          <a:xfrm>
            <a:off x="5550408" y="1883664"/>
            <a:ext cx="164592" cy="164592"/>
          </a:xfrm>
          <a:prstGeom prst="ellipse">
            <a:avLst/>
          </a:prstGeom>
          <a:solidFill>
            <a:schemeClr val="accent5"/>
          </a:solidFill>
          <a:ln w="12700">
            <a:solidFill>
              <a:schemeClr val="accent5"/>
            </a:solidFill>
            <a:prstDash val="solid"/>
          </a:ln>
        </p:spPr>
      </p:sp>
      <p:sp>
        <p:nvSpPr>
          <p:cNvPr id="19" name="goal-tag-230"/>
          <p:cNvSpPr txBox="1"/>
          <p:nvPr/>
        </p:nvSpPr>
        <p:spPr>
          <a:xfrm>
            <a:off x="5806440" y="1773936"/>
            <a:ext cx="640080" cy="384048"/>
          </a:xfrm>
          <a:prstGeom prst="rect">
            <a:avLst/>
          </a:prstGeom>
          <a:noFill/>
          <a:ln/>
        </p:spPr>
        <p:txBody>
          <a:bodyPr wrap="square" lIns="0" tIns="0" rIns="0" bIns="0" rtlCol="0" anchor="ctr"/>
          <a:lstStyle/>
          <a:p>
            <a:pPr indent="0" marL="0">
              <a:buNone/>
            </a:pPr>
            <a:r>
              <a:rPr lang="en-US" sz="1200" b="1" dirty="0">
                <a:solidFill>
                  <a:schemeClr val="accent5"/>
                </a:solidFill>
              </a:rPr>
              <a:t>Strong</a:t>
            </a:r>
            <a:endParaRPr lang="en-US" sz="1200" dirty="0"/>
          </a:p>
        </p:txBody>
      </p:sp>
      <p:sp>
        <p:nvSpPr>
          <p:cNvPr id="20" name="goal-desc-231"/>
          <p:cNvSpPr txBox="1"/>
          <p:nvPr/>
        </p:nvSpPr>
        <p:spPr>
          <a:xfrm>
            <a:off x="1645920" y="2194560"/>
            <a:ext cx="4663440" cy="685800"/>
          </a:xfrm>
          <a:prstGeom prst="rect">
            <a:avLst/>
          </a:prstGeom>
          <a:noFill/>
          <a:ln/>
        </p:spPr>
        <p:txBody>
          <a:bodyPr wrap="square" lIns="0" tIns="0" rIns="0" bIns="0" rtlCol="0" anchor="t"/>
          <a:lstStyle/>
          <a:p>
            <a:pPr indent="0" marL="0">
              <a:buNone/>
            </a:pPr>
            <a:r>
              <a:rPr lang="en-US" sz="1500" dirty="0">
                <a:solidFill>
                  <a:schemeClr val="tx1"/>
                </a:solidFill>
              </a:rPr>
              <a:t>Inner workings are visible, so the model is easy to debug.</a:t>
            </a:r>
            <a:endParaRPr lang="en-US" sz="1500" dirty="0"/>
          </a:p>
        </p:txBody>
      </p:sp>
      <p:sp>
        <p:nvSpPr>
          <p:cNvPr id="21" name="goal-card-232"/>
          <p:cNvSpPr/>
          <p:nvPr/>
        </p:nvSpPr>
        <p:spPr>
          <a:xfrm>
            <a:off x="548640" y="3127248"/>
            <a:ext cx="5989320" cy="1417320"/>
          </a:xfrm>
          <a:prstGeom prst="roundRect">
            <a:avLst>
              <a:gd name="adj" fmla="val 6452"/>
            </a:avLst>
          </a:prstGeom>
          <a:solidFill>
            <a:schemeClr val="bg2"/>
          </a:solidFill>
          <a:ln/>
        </p:spPr>
      </p:sp>
      <p:sp>
        <p:nvSpPr>
          <p:cNvPr id="22" name="icon-bg-233"/>
          <p:cNvSpPr/>
          <p:nvPr/>
        </p:nvSpPr>
        <p:spPr>
          <a:xfrm>
            <a:off x="777240" y="3355848"/>
            <a:ext cx="640080" cy="640080"/>
          </a:xfrm>
          <a:prstGeom prst="ellipse">
            <a:avLst/>
          </a:prstGeom>
          <a:solidFill>
            <a:schemeClr val="accent1"/>
          </a:solidFill>
          <a:ln/>
        </p:spPr>
      </p:sp>
      <p:pic>
        <p:nvPicPr>
          <p:cNvPr id="23" name="icon-234" descr="LuScale">    </p:cNvPr>
          <p:cNvPicPr>
            <a:picLocks noChangeAspect="1"/>
          </p:cNvPicPr>
          <p:nvPr/>
        </p:nvPicPr>
        <p:blipFill>
          <a:blip r:embed="rId2"/>
          <a:stretch>
            <a:fillRect/>
          </a:stretch>
        </p:blipFill>
        <p:spPr>
          <a:xfrm>
            <a:off x="943661" y="3522269"/>
            <a:ext cx="307238" cy="307238"/>
          </a:xfrm>
          <a:prstGeom prst="rect">
            <a:avLst/>
          </a:prstGeom>
        </p:spPr>
      </p:pic>
      <p:sp>
        <p:nvSpPr>
          <p:cNvPr id="24" name="goal-title-235"/>
          <p:cNvSpPr txBox="1"/>
          <p:nvPr/>
        </p:nvSpPr>
        <p:spPr>
          <a:xfrm>
            <a:off x="1645920" y="3328416"/>
            <a:ext cx="3291840" cy="411480"/>
          </a:xfrm>
          <a:prstGeom prst="rect">
            <a:avLst/>
          </a:prstGeom>
          <a:noFill/>
          <a:ln/>
        </p:spPr>
        <p:txBody>
          <a:bodyPr wrap="square" lIns="0" tIns="0" rIns="0" bIns="0" rtlCol="0" anchor="t"/>
          <a:lstStyle/>
          <a:p>
            <a:pPr indent="0" marL="0">
              <a:buNone/>
            </a:pPr>
            <a:r>
              <a:rPr lang="en-US" sz="1800" b="1" dirty="0">
                <a:solidFill>
                  <a:schemeClr val="tx2"/>
                </a:solidFill>
              </a:rPr>
              <a:t>Justification</a:t>
            </a:r>
            <a:endParaRPr lang="en-US" sz="1800" dirty="0"/>
          </a:p>
        </p:txBody>
      </p:sp>
      <p:sp>
        <p:nvSpPr>
          <p:cNvPr id="25" name="rating-dot"/>
          <p:cNvSpPr/>
          <p:nvPr/>
        </p:nvSpPr>
        <p:spPr>
          <a:xfrm>
            <a:off x="5074920" y="3456432"/>
            <a:ext cx="164592" cy="164592"/>
          </a:xfrm>
          <a:prstGeom prst="ellipse">
            <a:avLst/>
          </a:prstGeom>
          <a:solidFill>
            <a:schemeClr val="accent5"/>
          </a:solidFill>
          <a:ln w="12700">
            <a:solidFill>
              <a:schemeClr val="accent5"/>
            </a:solidFill>
            <a:prstDash val="solid"/>
          </a:ln>
        </p:spPr>
      </p:sp>
      <p:sp>
        <p:nvSpPr>
          <p:cNvPr id="26" name="rating-dot"/>
          <p:cNvSpPr/>
          <p:nvPr/>
        </p:nvSpPr>
        <p:spPr>
          <a:xfrm>
            <a:off x="5312664" y="3456432"/>
            <a:ext cx="164592" cy="164592"/>
          </a:xfrm>
          <a:prstGeom prst="ellipse">
            <a:avLst/>
          </a:prstGeom>
          <a:solidFill>
            <a:schemeClr val="accent5"/>
          </a:solidFill>
          <a:ln w="12700">
            <a:solidFill>
              <a:schemeClr val="accent5"/>
            </a:solidFill>
            <a:prstDash val="solid"/>
          </a:ln>
        </p:spPr>
      </p:sp>
      <p:sp>
        <p:nvSpPr>
          <p:cNvPr id="27" name="rating-dot"/>
          <p:cNvSpPr/>
          <p:nvPr/>
        </p:nvSpPr>
        <p:spPr>
          <a:xfrm>
            <a:off x="5550408" y="3456432"/>
            <a:ext cx="164592" cy="164592"/>
          </a:xfrm>
          <a:prstGeom prst="ellipse">
            <a:avLst/>
          </a:prstGeom>
          <a:solidFill>
            <a:schemeClr val="accent5"/>
          </a:solidFill>
          <a:ln w="12700">
            <a:solidFill>
              <a:schemeClr val="accent5"/>
            </a:solidFill>
            <a:prstDash val="solid"/>
          </a:ln>
        </p:spPr>
      </p:sp>
      <p:sp>
        <p:nvSpPr>
          <p:cNvPr id="28" name="goal-tag-236"/>
          <p:cNvSpPr txBox="1"/>
          <p:nvPr/>
        </p:nvSpPr>
        <p:spPr>
          <a:xfrm>
            <a:off x="5806440" y="3346704"/>
            <a:ext cx="640080" cy="384048"/>
          </a:xfrm>
          <a:prstGeom prst="rect">
            <a:avLst/>
          </a:prstGeom>
          <a:noFill/>
          <a:ln/>
        </p:spPr>
        <p:txBody>
          <a:bodyPr wrap="square" lIns="0" tIns="0" rIns="0" bIns="0" rtlCol="0" anchor="ctr"/>
          <a:lstStyle/>
          <a:p>
            <a:pPr indent="0" marL="0">
              <a:buNone/>
            </a:pPr>
            <a:r>
              <a:rPr lang="en-US" sz="1200" b="1" dirty="0">
                <a:solidFill>
                  <a:schemeClr val="accent5"/>
                </a:solidFill>
              </a:rPr>
              <a:t>Strong</a:t>
            </a:r>
            <a:endParaRPr lang="en-US" sz="1200" dirty="0"/>
          </a:p>
        </p:txBody>
      </p:sp>
      <p:sp>
        <p:nvSpPr>
          <p:cNvPr id="29" name="goal-desc-237"/>
          <p:cNvSpPr txBox="1"/>
          <p:nvPr/>
        </p:nvSpPr>
        <p:spPr>
          <a:xfrm>
            <a:off x="1645920" y="3767328"/>
            <a:ext cx="4663440" cy="685800"/>
          </a:xfrm>
          <a:prstGeom prst="rect">
            <a:avLst/>
          </a:prstGeom>
          <a:noFill/>
          <a:ln/>
        </p:spPr>
        <p:txBody>
          <a:bodyPr wrap="square" lIns="0" tIns="0" rIns="0" bIns="0" rtlCol="0" anchor="t"/>
          <a:lstStyle/>
          <a:p>
            <a:pPr indent="0" marL="0">
              <a:buNone/>
            </a:pPr>
            <a:r>
              <a:rPr lang="en-US" sz="1500" dirty="0">
                <a:solidFill>
                  <a:schemeClr val="tx1"/>
                </a:solidFill>
              </a:rPr>
              <a:t>Faithfully explains predictions; easy to check with domain experts.</a:t>
            </a:r>
            <a:endParaRPr lang="en-US" sz="1500" dirty="0"/>
          </a:p>
        </p:txBody>
      </p:sp>
      <p:sp>
        <p:nvSpPr>
          <p:cNvPr id="30" name="goal-card-238"/>
          <p:cNvSpPr/>
          <p:nvPr/>
        </p:nvSpPr>
        <p:spPr>
          <a:xfrm>
            <a:off x="548640" y="4700016"/>
            <a:ext cx="5989320" cy="1417320"/>
          </a:xfrm>
          <a:prstGeom prst="roundRect">
            <a:avLst>
              <a:gd name="adj" fmla="val 6452"/>
            </a:avLst>
          </a:prstGeom>
          <a:solidFill>
            <a:schemeClr val="bg2"/>
          </a:solidFill>
          <a:ln/>
        </p:spPr>
      </p:sp>
      <p:sp>
        <p:nvSpPr>
          <p:cNvPr id="31" name="icon-bg-239"/>
          <p:cNvSpPr/>
          <p:nvPr/>
        </p:nvSpPr>
        <p:spPr>
          <a:xfrm>
            <a:off x="777240" y="4928616"/>
            <a:ext cx="640080" cy="640080"/>
          </a:xfrm>
          <a:prstGeom prst="ellipse">
            <a:avLst/>
          </a:prstGeom>
          <a:solidFill>
            <a:schemeClr val="accent1"/>
          </a:solidFill>
          <a:ln/>
        </p:spPr>
      </p:sp>
      <p:pic>
        <p:nvPicPr>
          <p:cNvPr id="32" name="icon-240" descr="LuLightbulb">    </p:cNvPr>
          <p:cNvPicPr>
            <a:picLocks noChangeAspect="1"/>
          </p:cNvPicPr>
          <p:nvPr/>
        </p:nvPicPr>
        <p:blipFill>
          <a:blip r:embed="rId3"/>
          <a:stretch>
            <a:fillRect/>
          </a:stretch>
        </p:blipFill>
        <p:spPr>
          <a:xfrm>
            <a:off x="943661" y="5095037"/>
            <a:ext cx="307238" cy="307238"/>
          </a:xfrm>
          <a:prstGeom prst="rect">
            <a:avLst/>
          </a:prstGeom>
        </p:spPr>
      </p:pic>
      <p:sp>
        <p:nvSpPr>
          <p:cNvPr id="33" name="goal-title-241"/>
          <p:cNvSpPr txBox="1"/>
          <p:nvPr/>
        </p:nvSpPr>
        <p:spPr>
          <a:xfrm>
            <a:off x="1645920" y="4901184"/>
            <a:ext cx="3291840" cy="411480"/>
          </a:xfrm>
          <a:prstGeom prst="rect">
            <a:avLst/>
          </a:prstGeom>
          <a:noFill/>
          <a:ln/>
        </p:spPr>
        <p:txBody>
          <a:bodyPr wrap="square" lIns="0" tIns="0" rIns="0" bIns="0" rtlCol="0" anchor="t"/>
          <a:lstStyle/>
          <a:p>
            <a:pPr indent="0" marL="0">
              <a:buNone/>
            </a:pPr>
            <a:r>
              <a:rPr lang="en-US" sz="1800" b="1" dirty="0">
                <a:solidFill>
                  <a:schemeClr val="tx2"/>
                </a:solidFill>
              </a:rPr>
              <a:t>Insights into the data</a:t>
            </a:r>
            <a:endParaRPr lang="en-US" sz="1800" dirty="0"/>
          </a:p>
        </p:txBody>
      </p:sp>
      <p:sp>
        <p:nvSpPr>
          <p:cNvPr id="34" name="rating-dot"/>
          <p:cNvSpPr/>
          <p:nvPr/>
        </p:nvSpPr>
        <p:spPr>
          <a:xfrm>
            <a:off x="5074920" y="5029200"/>
            <a:ext cx="164592" cy="164592"/>
          </a:xfrm>
          <a:prstGeom prst="ellipse">
            <a:avLst/>
          </a:prstGeom>
          <a:solidFill>
            <a:schemeClr val="accent2"/>
          </a:solidFill>
          <a:ln w="12700">
            <a:solidFill>
              <a:schemeClr val="accent2"/>
            </a:solidFill>
            <a:prstDash val="solid"/>
          </a:ln>
        </p:spPr>
      </p:sp>
      <p:sp>
        <p:nvSpPr>
          <p:cNvPr id="35" name="rating-dot"/>
          <p:cNvSpPr/>
          <p:nvPr/>
        </p:nvSpPr>
        <p:spPr>
          <a:xfrm>
            <a:off x="5312664" y="5029200"/>
            <a:ext cx="164592" cy="164592"/>
          </a:xfrm>
          <a:prstGeom prst="ellipse">
            <a:avLst/>
          </a:prstGeom>
          <a:solidFill>
            <a:schemeClr val="accent2"/>
          </a:solidFill>
          <a:ln w="12700">
            <a:solidFill>
              <a:schemeClr val="accent2"/>
            </a:solidFill>
            <a:prstDash val="solid"/>
          </a:ln>
        </p:spPr>
      </p:sp>
      <p:sp>
        <p:nvSpPr>
          <p:cNvPr id="36" name="rating-dot"/>
          <p:cNvSpPr/>
          <p:nvPr/>
        </p:nvSpPr>
        <p:spPr>
          <a:xfrm>
            <a:off x="5550408" y="5029200"/>
            <a:ext cx="164592" cy="164592"/>
          </a:xfrm>
          <a:prstGeom prst="ellipse">
            <a:avLst/>
          </a:prstGeom>
          <a:solidFill>
            <a:schemeClr val="bg1"/>
          </a:solidFill>
          <a:ln w="12700">
            <a:solidFill>
              <a:schemeClr val="accent6"/>
            </a:solidFill>
            <a:prstDash val="solid"/>
          </a:ln>
        </p:spPr>
      </p:sp>
      <p:sp>
        <p:nvSpPr>
          <p:cNvPr id="37" name="goal-tag-242"/>
          <p:cNvSpPr txBox="1"/>
          <p:nvPr/>
        </p:nvSpPr>
        <p:spPr>
          <a:xfrm>
            <a:off x="5806440" y="4919472"/>
            <a:ext cx="640080" cy="384048"/>
          </a:xfrm>
          <a:prstGeom prst="rect">
            <a:avLst/>
          </a:prstGeom>
          <a:noFill/>
          <a:ln/>
        </p:spPr>
        <p:txBody>
          <a:bodyPr wrap="square" lIns="0" tIns="0" rIns="0" bIns="0" rtlCol="0" anchor="ctr"/>
          <a:lstStyle/>
          <a:p>
            <a:pPr indent="0" marL="0">
              <a:buNone/>
            </a:pPr>
            <a:r>
              <a:rPr lang="en-US" sz="1200" b="1" dirty="0">
                <a:solidFill>
                  <a:schemeClr val="accent2"/>
                </a:solidFill>
              </a:rPr>
              <a:t>Mixed</a:t>
            </a:r>
            <a:endParaRPr lang="en-US" sz="1200" dirty="0"/>
          </a:p>
        </p:txBody>
      </p:sp>
      <p:sp>
        <p:nvSpPr>
          <p:cNvPr id="38" name="goal-desc-243"/>
          <p:cNvSpPr txBox="1"/>
          <p:nvPr/>
        </p:nvSpPr>
        <p:spPr>
          <a:xfrm>
            <a:off x="1645920" y="5340096"/>
            <a:ext cx="4663440" cy="685800"/>
          </a:xfrm>
          <a:prstGeom prst="rect">
            <a:avLst/>
          </a:prstGeom>
          <a:noFill/>
          <a:ln/>
        </p:spPr>
        <p:txBody>
          <a:bodyPr wrap="square" lIns="0" tIns="0" rIns="0" bIns="0" rtlCol="0" anchor="t"/>
          <a:lstStyle/>
          <a:p>
            <a:pPr indent="0" marL="0">
              <a:buNone/>
            </a:pPr>
            <a:r>
              <a:rPr lang="en-US" sz="1500" dirty="0">
                <a:solidFill>
                  <a:schemeClr val="tx1"/>
                </a:solidFill>
              </a:rPr>
              <a:t>Only valid if the model structure reflects the world.</a:t>
            </a:r>
            <a:endParaRPr lang="en-US" sz="1500" dirty="0"/>
          </a:p>
        </p:txBody>
      </p:sp>
      <p:sp>
        <p:nvSpPr>
          <p:cNvPr id="39" name="rashomon-card-244"/>
          <p:cNvSpPr/>
          <p:nvPr/>
        </p:nvSpPr>
        <p:spPr>
          <a:xfrm>
            <a:off x="6812280" y="1554480"/>
            <a:ext cx="4830775" cy="4572000"/>
          </a:xfrm>
          <a:prstGeom prst="roundRect">
            <a:avLst>
              <a:gd name="adj" fmla="val 2400"/>
            </a:avLst>
          </a:prstGeom>
          <a:solidFill>
            <a:schemeClr val="tx2"/>
          </a:solidFill>
          <a:ln/>
        </p:spPr>
      </p:sp>
      <p:sp>
        <p:nvSpPr>
          <p:cNvPr id="40" name="icon-bg-245"/>
          <p:cNvSpPr/>
          <p:nvPr/>
        </p:nvSpPr>
        <p:spPr>
          <a:xfrm>
            <a:off x="7132320" y="1810512"/>
            <a:ext cx="731520" cy="731520"/>
          </a:xfrm>
          <a:prstGeom prst="ellipse">
            <a:avLst/>
          </a:prstGeom>
          <a:solidFill>
            <a:schemeClr val="accent2"/>
          </a:solidFill>
          <a:ln/>
        </p:spPr>
      </p:sp>
      <p:pic>
        <p:nvPicPr>
          <p:cNvPr id="41" name="icon-246" descr="LuClapperboard">    </p:cNvPr>
          <p:cNvPicPr>
            <a:picLocks noChangeAspect="1"/>
          </p:cNvPicPr>
          <p:nvPr/>
        </p:nvPicPr>
        <p:blipFill>
          <a:blip r:embed="rId4"/>
          <a:stretch>
            <a:fillRect/>
          </a:stretch>
        </p:blipFill>
        <p:spPr>
          <a:xfrm>
            <a:off x="7322515" y="2000707"/>
            <a:ext cx="351130" cy="351130"/>
          </a:xfrm>
          <a:prstGeom prst="rect">
            <a:avLst/>
          </a:prstGeom>
        </p:spPr>
      </p:pic>
      <p:sp>
        <p:nvSpPr>
          <p:cNvPr id="42" name="rashomon-title-247"/>
          <p:cNvSpPr txBox="1"/>
          <p:nvPr/>
        </p:nvSpPr>
        <p:spPr>
          <a:xfrm>
            <a:off x="8046720" y="1810512"/>
            <a:ext cx="3367735" cy="731520"/>
          </a:xfrm>
          <a:prstGeom prst="rect">
            <a:avLst/>
          </a:prstGeom>
          <a:noFill/>
          <a:ln/>
        </p:spPr>
        <p:txBody>
          <a:bodyPr wrap="square" lIns="0" tIns="0" rIns="0" bIns="0" rtlCol="0" anchor="ctr"/>
          <a:lstStyle/>
          <a:p>
            <a:pPr indent="0" marL="0">
              <a:buNone/>
            </a:pPr>
            <a:r>
              <a:rPr lang="en-US" sz="2500" b="1" dirty="0">
                <a:solidFill>
                  <a:schemeClr val="bg1"/>
                </a:solidFill>
                <a:latin typeface="Avenir" pitchFamily="34" charset="0"/>
                <a:ea typeface="Avenir" pitchFamily="34" charset="-122"/>
                <a:cs typeface="Avenir" pitchFamily="34" charset="-120"/>
              </a:rPr>
              <a:t>The Rashomon effect</a:t>
            </a:r>
            <a:endParaRPr lang="en-US" sz="2500" dirty="0"/>
          </a:p>
        </p:txBody>
      </p:sp>
      <p:sp>
        <p:nvSpPr>
          <p:cNvPr id="43" name="rashomon-film-248"/>
          <p:cNvSpPr txBox="1"/>
          <p:nvPr/>
        </p:nvSpPr>
        <p:spPr>
          <a:xfrm>
            <a:off x="7132320" y="2743200"/>
            <a:ext cx="4190695" cy="1143000"/>
          </a:xfrm>
          <a:prstGeom prst="rect">
            <a:avLst/>
          </a:prstGeom>
          <a:noFill/>
          <a:ln/>
        </p:spPr>
        <p:txBody>
          <a:bodyPr wrap="square" lIns="0" tIns="0" rIns="0" bIns="0" rtlCol="0" anchor="t"/>
          <a:lstStyle/>
          <a:p>
            <a:pPr indent="0" marL="0">
              <a:buNone/>
            </a:pPr>
            <a:r>
              <a:rPr lang="en-US" sz="1600" dirty="0">
                <a:solidFill>
                  <a:schemeClr val="bg2"/>
                </a:solidFill>
              </a:rPr>
              <a:t>The 1950 Japanese film Rashomon tells four versions of the same murder. Each explains the events equally well, yet they are incompatible.</a:t>
            </a:r>
            <a:endParaRPr lang="en-US" sz="1600" dirty="0"/>
          </a:p>
        </p:txBody>
      </p:sp>
      <p:sp>
        <p:nvSpPr>
          <p:cNvPr id="44" name="icon-bg-249"/>
          <p:cNvSpPr/>
          <p:nvPr/>
        </p:nvSpPr>
        <p:spPr>
          <a:xfrm>
            <a:off x="7132320" y="3931920"/>
            <a:ext cx="530352" cy="530352"/>
          </a:xfrm>
          <a:prstGeom prst="ellipse">
            <a:avLst/>
          </a:prstGeom>
          <a:solidFill>
            <a:schemeClr val="bg2"/>
          </a:solidFill>
          <a:ln/>
        </p:spPr>
      </p:sp>
      <p:pic>
        <p:nvPicPr>
          <p:cNvPr id="45" name="icon-250" descr="LuUser">    </p:cNvPr>
          <p:cNvPicPr>
            <a:picLocks noChangeAspect="1"/>
          </p:cNvPicPr>
          <p:nvPr/>
        </p:nvPicPr>
        <p:blipFill>
          <a:blip r:embed="rId5"/>
          <a:stretch>
            <a:fillRect/>
          </a:stretch>
        </p:blipFill>
        <p:spPr>
          <a:xfrm>
            <a:off x="7270212" y="4069812"/>
            <a:ext cx="254569" cy="254569"/>
          </a:xfrm>
          <a:prstGeom prst="rect">
            <a:avLst/>
          </a:prstGeom>
        </p:spPr>
      </p:pic>
      <p:sp>
        <p:nvSpPr>
          <p:cNvPr id="46" name="icon-bg-251"/>
          <p:cNvSpPr/>
          <p:nvPr/>
        </p:nvSpPr>
        <p:spPr>
          <a:xfrm>
            <a:off x="7818120" y="3931920"/>
            <a:ext cx="530352" cy="530352"/>
          </a:xfrm>
          <a:prstGeom prst="ellipse">
            <a:avLst/>
          </a:prstGeom>
          <a:solidFill>
            <a:schemeClr val="bg2"/>
          </a:solidFill>
          <a:ln/>
        </p:spPr>
      </p:sp>
      <p:pic>
        <p:nvPicPr>
          <p:cNvPr id="47" name="icon-252" descr="LuUser">    </p:cNvPr>
          <p:cNvPicPr>
            <a:picLocks noChangeAspect="1"/>
          </p:cNvPicPr>
          <p:nvPr/>
        </p:nvPicPr>
        <p:blipFill>
          <a:blip r:embed="rId6"/>
          <a:stretch>
            <a:fillRect/>
          </a:stretch>
        </p:blipFill>
        <p:spPr>
          <a:xfrm>
            <a:off x="7956012" y="4069812"/>
            <a:ext cx="254569" cy="254569"/>
          </a:xfrm>
          <a:prstGeom prst="rect">
            <a:avLst/>
          </a:prstGeom>
        </p:spPr>
      </p:pic>
      <p:sp>
        <p:nvSpPr>
          <p:cNvPr id="48" name="icon-bg-253"/>
          <p:cNvSpPr/>
          <p:nvPr/>
        </p:nvSpPr>
        <p:spPr>
          <a:xfrm>
            <a:off x="8503920" y="3931920"/>
            <a:ext cx="530352" cy="530352"/>
          </a:xfrm>
          <a:prstGeom prst="ellipse">
            <a:avLst/>
          </a:prstGeom>
          <a:solidFill>
            <a:schemeClr val="bg2"/>
          </a:solidFill>
          <a:ln/>
        </p:spPr>
      </p:sp>
      <p:pic>
        <p:nvPicPr>
          <p:cNvPr id="49" name="icon-254" descr="LuUser">    </p:cNvPr>
          <p:cNvPicPr>
            <a:picLocks noChangeAspect="1"/>
          </p:cNvPicPr>
          <p:nvPr/>
        </p:nvPicPr>
        <p:blipFill>
          <a:blip r:embed="rId7"/>
          <a:stretch>
            <a:fillRect/>
          </a:stretch>
        </p:blipFill>
        <p:spPr>
          <a:xfrm>
            <a:off x="8641812" y="4069812"/>
            <a:ext cx="254569" cy="254569"/>
          </a:xfrm>
          <a:prstGeom prst="rect">
            <a:avLst/>
          </a:prstGeom>
        </p:spPr>
      </p:pic>
      <p:sp>
        <p:nvSpPr>
          <p:cNvPr id="50" name="icon-bg-255"/>
          <p:cNvSpPr/>
          <p:nvPr/>
        </p:nvSpPr>
        <p:spPr>
          <a:xfrm>
            <a:off x="9189720" y="3931920"/>
            <a:ext cx="530352" cy="530352"/>
          </a:xfrm>
          <a:prstGeom prst="ellipse">
            <a:avLst/>
          </a:prstGeom>
          <a:solidFill>
            <a:schemeClr val="bg2"/>
          </a:solidFill>
          <a:ln/>
        </p:spPr>
      </p:sp>
      <p:pic>
        <p:nvPicPr>
          <p:cNvPr id="51" name="icon-256" descr="LuUser">    </p:cNvPr>
          <p:cNvPicPr>
            <a:picLocks noChangeAspect="1"/>
          </p:cNvPicPr>
          <p:nvPr/>
        </p:nvPicPr>
        <p:blipFill>
          <a:blip r:embed="rId8"/>
          <a:stretch>
            <a:fillRect/>
          </a:stretch>
        </p:blipFill>
        <p:spPr>
          <a:xfrm>
            <a:off x="9327612" y="4069812"/>
            <a:ext cx="254569" cy="254569"/>
          </a:xfrm>
          <a:prstGeom prst="rect">
            <a:avLst/>
          </a:prstGeom>
        </p:spPr>
      </p:pic>
      <p:sp>
        <p:nvSpPr>
          <p:cNvPr id="52" name="narrators-257"/>
          <p:cNvSpPr txBox="1"/>
          <p:nvPr/>
        </p:nvSpPr>
        <p:spPr>
          <a:xfrm>
            <a:off x="9921240" y="3931920"/>
            <a:ext cx="1538935" cy="530352"/>
          </a:xfrm>
          <a:prstGeom prst="rect">
            <a:avLst/>
          </a:prstGeom>
          <a:noFill/>
          <a:ln/>
        </p:spPr>
        <p:txBody>
          <a:bodyPr wrap="square" lIns="0" tIns="0" rIns="0" bIns="0" rtlCol="0" anchor="ctr"/>
          <a:lstStyle/>
          <a:p>
            <a:pPr indent="0" marL="0">
              <a:buNone/>
            </a:pPr>
            <a:r>
              <a:rPr lang="en-US" sz="1200" i="1" dirty="0">
                <a:solidFill>
                  <a:schemeClr val="accent6"/>
                </a:solidFill>
              </a:rPr>
              <a:t>4 stories, none compatible</a:t>
            </a:r>
            <a:endParaRPr lang="en-US" sz="1200" dirty="0"/>
          </a:p>
        </p:txBody>
      </p:sp>
      <p:sp>
        <p:nvSpPr>
          <p:cNvPr id="53" name="rashomon-ml-258"/>
          <p:cNvSpPr txBox="1"/>
          <p:nvPr/>
        </p:nvSpPr>
        <p:spPr>
          <a:xfrm>
            <a:off x="7132320" y="4709160"/>
            <a:ext cx="4190695" cy="1280160"/>
          </a:xfrm>
          <a:prstGeom prst="rect">
            <a:avLst/>
          </a:prstGeom>
          <a:noFill/>
          <a:ln/>
        </p:spPr>
        <p:txBody>
          <a:bodyPr wrap="square" lIns="0" tIns="0" rIns="0" bIns="0" rtlCol="0" anchor="t"/>
          <a:lstStyle/>
          <a:p>
            <a:pPr indent="0" marL="0">
              <a:buNone/>
            </a:pPr>
            <a:r>
              <a:rPr lang="en-US" sz="1600" b="1" dirty="0">
                <a:solidFill>
                  <a:schemeClr val="accent2"/>
                </a:solidFill>
              </a:rPr>
              <a:t>In ML: </a:t>
            </a:r>
            <a:pPr indent="0" marL="0">
              <a:buNone/>
            </a:pPr>
            <a:r>
              <a:rPr lang="en-US" sz="1600" dirty="0">
                <a:solidFill>
                  <a:schemeClr val="bg1"/>
                </a:solidFill>
              </a:rPr>
              <a:t>models with similar performance can tell different stories. Which one should we interpret?</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3657600" cy="1463040"/>
          </a:xfrm>
          <a:prstGeom prst="rect">
            <a:avLst/>
          </a:prstGeom>
          <a:noFill/>
          <a:ln/>
        </p:spPr>
        <p:txBody>
          <a:bodyPr wrap="square" lIns="0" tIns="0" rIns="0" bIns="0" rtlCol="0" anchor="b"/>
          <a:lstStyle/>
          <a:p>
            <a:pPr algn="l" indent="0" marL="0">
              <a:buNone/>
            </a:pPr>
            <a:r>
              <a:rPr lang="en-US" sz="9600" b="1" dirty="0">
                <a:solidFill>
                  <a:schemeClr val="accent2"/>
                </a:solidFill>
                <a:latin typeface="Avenir" pitchFamily="34" charset="0"/>
                <a:ea typeface="Avenir" pitchFamily="34" charset="-122"/>
                <a:cs typeface="Avenir" pitchFamily="34" charset="-120"/>
              </a:rPr>
              <a:t>02</a:t>
            </a:r>
            <a:endParaRPr lang="en-US" sz="9600" dirty="0"/>
          </a:p>
        </p:txBody>
      </p:sp>
      <p:sp>
        <p:nvSpPr>
          <p:cNvPr id="3" name="Text 0"/>
          <p:cNvSpPr/>
          <p:nvPr>
            <p:ph idx="101" type="title" hasCustomPrompt="1"/>
          </p:nvPr>
        </p:nvSpPr>
        <p:spPr>
          <a:xfrm>
            <a:off x="731520" y="3063240"/>
            <a:ext cx="10058400" cy="1005840"/>
          </a:xfrm>
          <a:prstGeom prst="rect">
            <a:avLst/>
          </a:prstGeom>
          <a:noFill/>
          <a:ln/>
        </p:spPr>
        <p:txBody>
          <a:bodyPr wrap="square" lIns="0" tIns="0" rIns="0" bIns="0" rtlCol="0" anchor="t"/>
          <a:lstStyle/>
          <a:p>
            <a:pPr algn="l" indent="0" marL="0">
              <a:buNone/>
            </a:pPr>
            <a:r>
              <a:rPr lang="en-US" sz="4400" b="1" dirty="0">
                <a:solidFill>
                  <a:schemeClr val="bg1"/>
                </a:solidFill>
                <a:latin typeface="Avenir" pitchFamily="34" charset="0"/>
                <a:ea typeface="Avenir" pitchFamily="34" charset="-122"/>
                <a:cs typeface="Avenir" pitchFamily="34" charset="-120"/>
              </a:rPr>
              <a:t>Model-agnostic methods</a:t>
            </a:r>
            <a:endParaRPr lang="en-US" sz="4400" dirty="0"/>
          </a:p>
        </p:txBody>
      </p:sp>
      <p:sp>
        <p:nvSpPr>
          <p:cNvPr id="4" name="Text 0"/>
          <p:cNvSpPr/>
          <p:nvPr>
            <p:ph idx="102" type="body" hasCustomPrompt="1"/>
          </p:nvPr>
        </p:nvSpPr>
        <p:spPr>
          <a:xfrm>
            <a:off x="731520" y="4114800"/>
            <a:ext cx="9144000" cy="914400"/>
          </a:xfrm>
          <a:prstGeom prst="rect">
            <a:avLst/>
          </a:prstGeom>
          <a:noFill/>
          <a:ln/>
        </p:spPr>
        <p:txBody>
          <a:bodyPr wrap="square" lIns="0" tIns="0" rIns="0" bIns="0" rtlCol="0" anchor="t"/>
          <a:lstStyle/>
          <a:p>
            <a:pPr algn="l" indent="0" marL="0">
              <a:buNone/>
            </a:pPr>
            <a:r>
              <a:rPr lang="en-US" sz="2000" dirty="0">
                <a:solidFill>
                  <a:schemeClr val="bg2"/>
                </a:solidFill>
              </a:rPr>
              <a:t>Post-hoc methods that work for any model</a:t>
            </a:r>
            <a:endParaRPr lang="en-US" sz="2000" dirty="0"/>
          </a:p>
        </p:txBody>
      </p:sp>
      <p:sp>
        <p:nvSpPr>
          <p:cNvPr id="5" name="pill-259"/>
          <p:cNvSpPr/>
          <p:nvPr/>
        </p:nvSpPr>
        <p:spPr>
          <a:xfrm>
            <a:off x="731520" y="5120640"/>
            <a:ext cx="576072" cy="384048"/>
          </a:xfrm>
          <a:prstGeom prst="roundRect">
            <a:avLst>
              <a:gd name="adj" fmla="val 50000"/>
            </a:avLst>
          </a:prstGeom>
          <a:solidFill>
            <a:schemeClr val="accent1"/>
          </a:solidFill>
          <a:ln/>
        </p:spPr>
      </p:sp>
      <p:sp>
        <p:nvSpPr>
          <p:cNvPr id="6" name="pill-text-260"/>
          <p:cNvSpPr txBox="1"/>
          <p:nvPr/>
        </p:nvSpPr>
        <p:spPr>
          <a:xfrm>
            <a:off x="731520" y="5120640"/>
            <a:ext cx="576072" cy="384048"/>
          </a:xfrm>
          <a:prstGeom prst="rect">
            <a:avLst/>
          </a:prstGeom>
          <a:noFill/>
          <a:ln/>
        </p:spPr>
        <p:txBody>
          <a:bodyPr wrap="square" lIns="0" tIns="0" rIns="0" bIns="0" rtlCol="0" anchor="ctr"/>
          <a:lstStyle/>
          <a:p>
            <a:pPr algn="ctr" indent="0" marL="0">
              <a:buNone/>
            </a:pPr>
            <a:r>
              <a:rPr lang="en-US" sz="1300" b="1" dirty="0">
                <a:solidFill>
                  <a:schemeClr val="bg1"/>
                </a:solidFill>
              </a:rPr>
              <a:t>SIPA</a:t>
            </a:r>
            <a:endParaRPr lang="en-US" sz="1300" dirty="0"/>
          </a:p>
        </p:txBody>
      </p:sp>
      <p:sp>
        <p:nvSpPr>
          <p:cNvPr id="7" name="pill-261"/>
          <p:cNvSpPr/>
          <p:nvPr/>
        </p:nvSpPr>
        <p:spPr>
          <a:xfrm>
            <a:off x="1444752" y="5120640"/>
            <a:ext cx="1184148" cy="384048"/>
          </a:xfrm>
          <a:prstGeom prst="roundRect">
            <a:avLst>
              <a:gd name="adj" fmla="val 50000"/>
            </a:avLst>
          </a:prstGeom>
          <a:solidFill>
            <a:schemeClr val="accent1"/>
          </a:solidFill>
          <a:ln/>
        </p:spPr>
      </p:sp>
      <p:sp>
        <p:nvSpPr>
          <p:cNvPr id="8" name="pill-text-262"/>
          <p:cNvSpPr txBox="1"/>
          <p:nvPr/>
        </p:nvSpPr>
        <p:spPr>
          <a:xfrm>
            <a:off x="1444752" y="5120640"/>
            <a:ext cx="1184148" cy="384048"/>
          </a:xfrm>
          <a:prstGeom prst="rect">
            <a:avLst/>
          </a:prstGeom>
          <a:noFill/>
          <a:ln/>
        </p:spPr>
        <p:txBody>
          <a:bodyPr wrap="square" lIns="0" tIns="0" rIns="0" bIns="0" rtlCol="0" anchor="ctr"/>
          <a:lstStyle/>
          <a:p>
            <a:pPr algn="ctr" indent="0" marL="0">
              <a:buNone/>
            </a:pPr>
            <a:r>
              <a:rPr lang="en-US" sz="1300" b="1" dirty="0">
                <a:solidFill>
                  <a:schemeClr val="bg1"/>
                </a:solidFill>
              </a:rPr>
              <a:t>Flexibility</a:t>
            </a:r>
            <a:endParaRPr lang="en-US" sz="1300" dirty="0"/>
          </a:p>
        </p:txBody>
      </p:sp>
      <p:sp>
        <p:nvSpPr>
          <p:cNvPr id="9" name="pill-263"/>
          <p:cNvSpPr/>
          <p:nvPr/>
        </p:nvSpPr>
        <p:spPr>
          <a:xfrm>
            <a:off x="2766060" y="5120640"/>
            <a:ext cx="662940" cy="384048"/>
          </a:xfrm>
          <a:prstGeom prst="roundRect">
            <a:avLst>
              <a:gd name="adj" fmla="val 50000"/>
            </a:avLst>
          </a:prstGeom>
          <a:solidFill>
            <a:schemeClr val="accent1"/>
          </a:solidFill>
          <a:ln/>
        </p:spPr>
      </p:sp>
      <p:sp>
        <p:nvSpPr>
          <p:cNvPr id="10" name="pill-text-264"/>
          <p:cNvSpPr txBox="1"/>
          <p:nvPr/>
        </p:nvSpPr>
        <p:spPr>
          <a:xfrm>
            <a:off x="2766060" y="5120640"/>
            <a:ext cx="662940" cy="384048"/>
          </a:xfrm>
          <a:prstGeom prst="rect">
            <a:avLst/>
          </a:prstGeom>
          <a:noFill/>
          <a:ln/>
        </p:spPr>
        <p:txBody>
          <a:bodyPr wrap="square" lIns="0" tIns="0" rIns="0" bIns="0" rtlCol="0" anchor="ctr"/>
          <a:lstStyle/>
          <a:p>
            <a:pPr algn="ctr" indent="0" marL="0">
              <a:buNone/>
            </a:pPr>
            <a:r>
              <a:rPr lang="en-US" sz="1300" b="1" dirty="0">
                <a:solidFill>
                  <a:schemeClr val="bg1"/>
                </a:solidFill>
              </a:rPr>
              <a:t>Local</a:t>
            </a:r>
            <a:endParaRPr lang="en-US" sz="1300" dirty="0"/>
          </a:p>
        </p:txBody>
      </p:sp>
      <p:sp>
        <p:nvSpPr>
          <p:cNvPr id="11" name="pill-265"/>
          <p:cNvSpPr/>
          <p:nvPr/>
        </p:nvSpPr>
        <p:spPr>
          <a:xfrm>
            <a:off x="3566160" y="5120640"/>
            <a:ext cx="749808" cy="384048"/>
          </a:xfrm>
          <a:prstGeom prst="roundRect">
            <a:avLst>
              <a:gd name="adj" fmla="val 50000"/>
            </a:avLst>
          </a:prstGeom>
          <a:solidFill>
            <a:schemeClr val="accent1"/>
          </a:solidFill>
          <a:ln/>
        </p:spPr>
      </p:sp>
      <p:sp>
        <p:nvSpPr>
          <p:cNvPr id="12" name="pill-text-266"/>
          <p:cNvSpPr txBox="1"/>
          <p:nvPr/>
        </p:nvSpPr>
        <p:spPr>
          <a:xfrm>
            <a:off x="3566160" y="5120640"/>
            <a:ext cx="749808" cy="384048"/>
          </a:xfrm>
          <a:prstGeom prst="rect">
            <a:avLst/>
          </a:prstGeom>
          <a:noFill/>
          <a:ln/>
        </p:spPr>
        <p:txBody>
          <a:bodyPr wrap="square" lIns="0" tIns="0" rIns="0" bIns="0" rtlCol="0" anchor="ctr"/>
          <a:lstStyle/>
          <a:p>
            <a:pPr algn="ctr" indent="0" marL="0">
              <a:buNone/>
            </a:pPr>
            <a:r>
              <a:rPr lang="en-US" sz="1300" b="1" dirty="0">
                <a:solidFill>
                  <a:schemeClr val="bg1"/>
                </a:solidFill>
              </a:rPr>
              <a:t>Global</a:t>
            </a:r>
            <a:endParaRPr lang="en-US" sz="1300" dirty="0"/>
          </a:p>
        </p:txBody>
      </p:sp>
      <p:sp>
        <p:nvSpPr>
          <p:cNvPr id="13" name="line-267"/>
          <p:cNvSpPr/>
          <p:nvPr/>
        </p:nvSpPr>
        <p:spPr>
          <a:xfrm>
            <a:off x="9587484" y="2435047"/>
            <a:ext cx="0" cy="160934"/>
          </a:xfrm>
          <a:prstGeom prst="line">
            <a:avLst/>
          </a:prstGeom>
          <a:noFill/>
          <a:ln w="15875">
            <a:solidFill>
              <a:srgbClr val="9DB7C2"/>
            </a:solidFill>
            <a:prstDash val="solid"/>
          </a:ln>
        </p:spPr>
      </p:sp>
      <p:sp>
        <p:nvSpPr>
          <p:cNvPr id="14" name="line-268"/>
          <p:cNvSpPr/>
          <p:nvPr/>
        </p:nvSpPr>
        <p:spPr>
          <a:xfrm flipH="1">
            <a:off x="8380476" y="2595982"/>
            <a:ext cx="1207008" cy="0"/>
          </a:xfrm>
          <a:prstGeom prst="line">
            <a:avLst/>
          </a:prstGeom>
          <a:noFill/>
          <a:ln w="15875">
            <a:solidFill>
              <a:srgbClr val="9DB7C2"/>
            </a:solidFill>
            <a:prstDash val="solid"/>
          </a:ln>
        </p:spPr>
      </p:sp>
      <p:sp>
        <p:nvSpPr>
          <p:cNvPr id="15" name="line-269"/>
          <p:cNvSpPr/>
          <p:nvPr/>
        </p:nvSpPr>
        <p:spPr>
          <a:xfrm>
            <a:off x="8380476" y="2595982"/>
            <a:ext cx="0" cy="160934"/>
          </a:xfrm>
          <a:prstGeom prst="line">
            <a:avLst/>
          </a:prstGeom>
          <a:noFill/>
          <a:ln w="15875">
            <a:solidFill>
              <a:srgbClr val="9DB7C2"/>
            </a:solidFill>
            <a:prstDash val="solid"/>
            <a:tailEnd type="triangle"/>
          </a:ln>
        </p:spPr>
      </p:sp>
      <p:sp>
        <p:nvSpPr>
          <p:cNvPr id="16" name="line-270"/>
          <p:cNvSpPr/>
          <p:nvPr/>
        </p:nvSpPr>
        <p:spPr>
          <a:xfrm>
            <a:off x="9587484" y="2435047"/>
            <a:ext cx="0" cy="160934"/>
          </a:xfrm>
          <a:prstGeom prst="line">
            <a:avLst/>
          </a:prstGeom>
          <a:noFill/>
          <a:ln w="15875">
            <a:solidFill>
              <a:srgbClr val="9DB7C2"/>
            </a:solidFill>
            <a:prstDash val="solid"/>
          </a:ln>
        </p:spPr>
      </p:sp>
      <p:sp>
        <p:nvSpPr>
          <p:cNvPr id="17" name="line-271"/>
          <p:cNvSpPr/>
          <p:nvPr/>
        </p:nvSpPr>
        <p:spPr>
          <a:xfrm>
            <a:off x="9587484" y="2595982"/>
            <a:ext cx="804672" cy="0"/>
          </a:xfrm>
          <a:prstGeom prst="line">
            <a:avLst/>
          </a:prstGeom>
          <a:noFill/>
          <a:ln w="15875">
            <a:solidFill>
              <a:srgbClr val="9DB7C2"/>
            </a:solidFill>
            <a:prstDash val="solid"/>
          </a:ln>
        </p:spPr>
      </p:sp>
      <p:sp>
        <p:nvSpPr>
          <p:cNvPr id="18" name="line-272"/>
          <p:cNvSpPr/>
          <p:nvPr/>
        </p:nvSpPr>
        <p:spPr>
          <a:xfrm>
            <a:off x="10392156" y="2595982"/>
            <a:ext cx="0" cy="160934"/>
          </a:xfrm>
          <a:prstGeom prst="line">
            <a:avLst/>
          </a:prstGeom>
          <a:noFill/>
          <a:ln w="15875">
            <a:solidFill>
              <a:srgbClr val="9DB7C2"/>
            </a:solidFill>
            <a:prstDash val="solid"/>
            <a:tailEnd type="triangle"/>
          </a:ln>
        </p:spPr>
      </p:sp>
      <p:sp>
        <p:nvSpPr>
          <p:cNvPr id="19" name="line-273"/>
          <p:cNvSpPr/>
          <p:nvPr/>
        </p:nvSpPr>
        <p:spPr>
          <a:xfrm>
            <a:off x="10392156" y="3088843"/>
            <a:ext cx="0" cy="160934"/>
          </a:xfrm>
          <a:prstGeom prst="line">
            <a:avLst/>
          </a:prstGeom>
          <a:noFill/>
          <a:ln w="15875">
            <a:solidFill>
              <a:srgbClr val="9DB7C2"/>
            </a:solidFill>
            <a:prstDash val="solid"/>
          </a:ln>
        </p:spPr>
      </p:sp>
      <p:sp>
        <p:nvSpPr>
          <p:cNvPr id="20" name="line-274"/>
          <p:cNvSpPr/>
          <p:nvPr/>
        </p:nvSpPr>
        <p:spPr>
          <a:xfrm flipH="1">
            <a:off x="9688068" y="3249778"/>
            <a:ext cx="704088" cy="0"/>
          </a:xfrm>
          <a:prstGeom prst="line">
            <a:avLst/>
          </a:prstGeom>
          <a:noFill/>
          <a:ln w="15875">
            <a:solidFill>
              <a:srgbClr val="9DB7C2"/>
            </a:solidFill>
            <a:prstDash val="solid"/>
          </a:ln>
        </p:spPr>
      </p:sp>
      <p:sp>
        <p:nvSpPr>
          <p:cNvPr id="21" name="line-275"/>
          <p:cNvSpPr/>
          <p:nvPr/>
        </p:nvSpPr>
        <p:spPr>
          <a:xfrm>
            <a:off x="9688068" y="3249778"/>
            <a:ext cx="0" cy="160934"/>
          </a:xfrm>
          <a:prstGeom prst="line">
            <a:avLst/>
          </a:prstGeom>
          <a:noFill/>
          <a:ln w="15875">
            <a:solidFill>
              <a:srgbClr val="9DB7C2"/>
            </a:solidFill>
            <a:prstDash val="solid"/>
            <a:tailEnd type="triangle"/>
          </a:ln>
        </p:spPr>
      </p:sp>
      <p:sp>
        <p:nvSpPr>
          <p:cNvPr id="22" name="line-276"/>
          <p:cNvSpPr/>
          <p:nvPr/>
        </p:nvSpPr>
        <p:spPr>
          <a:xfrm>
            <a:off x="10392156" y="3088843"/>
            <a:ext cx="0" cy="160934"/>
          </a:xfrm>
          <a:prstGeom prst="line">
            <a:avLst/>
          </a:prstGeom>
          <a:noFill/>
          <a:ln w="15875">
            <a:solidFill>
              <a:srgbClr val="9DB7C2"/>
            </a:solidFill>
            <a:prstDash val="solid"/>
          </a:ln>
        </p:spPr>
      </p:sp>
      <p:sp>
        <p:nvSpPr>
          <p:cNvPr id="23" name="line-277"/>
          <p:cNvSpPr/>
          <p:nvPr/>
        </p:nvSpPr>
        <p:spPr>
          <a:xfrm>
            <a:off x="10392156" y="3249778"/>
            <a:ext cx="653796" cy="0"/>
          </a:xfrm>
          <a:prstGeom prst="line">
            <a:avLst/>
          </a:prstGeom>
          <a:noFill/>
          <a:ln w="15875">
            <a:solidFill>
              <a:srgbClr val="9DB7C2"/>
            </a:solidFill>
            <a:prstDash val="solid"/>
          </a:ln>
        </p:spPr>
      </p:sp>
      <p:sp>
        <p:nvSpPr>
          <p:cNvPr id="24" name="line-278"/>
          <p:cNvSpPr/>
          <p:nvPr/>
        </p:nvSpPr>
        <p:spPr>
          <a:xfrm>
            <a:off x="11045952" y="3249778"/>
            <a:ext cx="0" cy="160934"/>
          </a:xfrm>
          <a:prstGeom prst="line">
            <a:avLst/>
          </a:prstGeom>
          <a:noFill/>
          <a:ln w="15875">
            <a:solidFill>
              <a:srgbClr val="9DB7C2"/>
            </a:solidFill>
            <a:prstDash val="solid"/>
            <a:tailEnd type="triangle"/>
          </a:ln>
        </p:spPr>
      </p:sp>
      <p:sp>
        <p:nvSpPr>
          <p:cNvPr id="25" name="line-279"/>
          <p:cNvSpPr/>
          <p:nvPr/>
        </p:nvSpPr>
        <p:spPr>
          <a:xfrm>
            <a:off x="9688068" y="3742639"/>
            <a:ext cx="0" cy="160934"/>
          </a:xfrm>
          <a:prstGeom prst="line">
            <a:avLst/>
          </a:prstGeom>
          <a:noFill/>
          <a:ln w="15875">
            <a:solidFill>
              <a:srgbClr val="9DB7C2"/>
            </a:solidFill>
            <a:prstDash val="solid"/>
          </a:ln>
        </p:spPr>
      </p:sp>
      <p:sp>
        <p:nvSpPr>
          <p:cNvPr id="26" name="line-280"/>
          <p:cNvSpPr/>
          <p:nvPr/>
        </p:nvSpPr>
        <p:spPr>
          <a:xfrm flipH="1">
            <a:off x="9160002" y="3903574"/>
            <a:ext cx="528066" cy="0"/>
          </a:xfrm>
          <a:prstGeom prst="line">
            <a:avLst/>
          </a:prstGeom>
          <a:noFill/>
          <a:ln w="15875">
            <a:solidFill>
              <a:srgbClr val="9DB7C2"/>
            </a:solidFill>
            <a:prstDash val="solid"/>
          </a:ln>
        </p:spPr>
      </p:sp>
      <p:sp>
        <p:nvSpPr>
          <p:cNvPr id="27" name="line-281"/>
          <p:cNvSpPr/>
          <p:nvPr/>
        </p:nvSpPr>
        <p:spPr>
          <a:xfrm>
            <a:off x="9160002" y="3903574"/>
            <a:ext cx="0" cy="160934"/>
          </a:xfrm>
          <a:prstGeom prst="line">
            <a:avLst/>
          </a:prstGeom>
          <a:noFill/>
          <a:ln w="15875">
            <a:solidFill>
              <a:srgbClr val="9DB7C2"/>
            </a:solidFill>
            <a:prstDash val="solid"/>
            <a:tailEnd type="triangle"/>
          </a:ln>
        </p:spPr>
      </p:sp>
      <p:sp>
        <p:nvSpPr>
          <p:cNvPr id="28" name="line-282"/>
          <p:cNvSpPr/>
          <p:nvPr/>
        </p:nvSpPr>
        <p:spPr>
          <a:xfrm>
            <a:off x="9688068" y="3742639"/>
            <a:ext cx="0" cy="160934"/>
          </a:xfrm>
          <a:prstGeom prst="line">
            <a:avLst/>
          </a:prstGeom>
          <a:noFill/>
          <a:ln w="15875">
            <a:solidFill>
              <a:srgbClr val="9DB7C2"/>
            </a:solidFill>
            <a:prstDash val="solid"/>
          </a:ln>
        </p:spPr>
      </p:sp>
      <p:sp>
        <p:nvSpPr>
          <p:cNvPr id="29" name="line-283"/>
          <p:cNvSpPr/>
          <p:nvPr/>
        </p:nvSpPr>
        <p:spPr>
          <a:xfrm>
            <a:off x="9688068" y="3903574"/>
            <a:ext cx="528066" cy="0"/>
          </a:xfrm>
          <a:prstGeom prst="line">
            <a:avLst/>
          </a:prstGeom>
          <a:noFill/>
          <a:ln w="15875">
            <a:solidFill>
              <a:srgbClr val="9DB7C2"/>
            </a:solidFill>
            <a:prstDash val="solid"/>
          </a:ln>
        </p:spPr>
      </p:sp>
      <p:sp>
        <p:nvSpPr>
          <p:cNvPr id="30" name="line-284"/>
          <p:cNvSpPr/>
          <p:nvPr/>
        </p:nvSpPr>
        <p:spPr>
          <a:xfrm>
            <a:off x="10216134" y="3903574"/>
            <a:ext cx="0" cy="160934"/>
          </a:xfrm>
          <a:prstGeom prst="line">
            <a:avLst/>
          </a:prstGeom>
          <a:noFill/>
          <a:ln w="15875">
            <a:solidFill>
              <a:srgbClr val="9DB7C2"/>
            </a:solidFill>
            <a:prstDash val="solid"/>
            <a:tailEnd type="triangle"/>
          </a:ln>
        </p:spPr>
      </p:sp>
      <p:sp>
        <p:nvSpPr>
          <p:cNvPr id="31" name="tax-box-285"/>
          <p:cNvSpPr/>
          <p:nvPr/>
        </p:nvSpPr>
        <p:spPr>
          <a:xfrm>
            <a:off x="8833104" y="2103120"/>
            <a:ext cx="1508760" cy="331927"/>
          </a:xfrm>
          <a:prstGeom prst="roundRect">
            <a:avLst>
              <a:gd name="adj" fmla="val 15152"/>
            </a:avLst>
          </a:prstGeom>
          <a:solidFill>
            <a:schemeClr val="tx2"/>
          </a:solidFill>
          <a:ln w="15875">
            <a:solidFill>
              <a:schemeClr val="accent6"/>
            </a:solidFill>
            <a:prstDash val="solid"/>
          </a:ln>
        </p:spPr>
      </p:sp>
      <p:sp>
        <p:nvSpPr>
          <p:cNvPr id="32" name="tax-label-286"/>
          <p:cNvSpPr txBox="1"/>
          <p:nvPr/>
        </p:nvSpPr>
        <p:spPr>
          <a:xfrm>
            <a:off x="8833104" y="2103120"/>
            <a:ext cx="1508760" cy="331927"/>
          </a:xfrm>
          <a:prstGeom prst="rect">
            <a:avLst/>
          </a:prstGeom>
          <a:noFill/>
          <a:ln/>
        </p:spPr>
        <p:txBody>
          <a:bodyPr wrap="square" lIns="0" tIns="0" rIns="0" bIns="0" rtlCol="0" anchor="ctr"/>
          <a:lstStyle/>
          <a:p>
            <a:pPr algn="ctr" indent="0" marL="0">
              <a:buNone/>
            </a:pPr>
            <a:r>
              <a:rPr lang="en-US" sz="1000" b="1" dirty="0">
                <a:solidFill>
                  <a:schemeClr val="bg2"/>
                </a:solidFill>
              </a:rPr>
              <a:t>ML interpretability</a:t>
            </a:r>
            <a:endParaRPr lang="en-US" sz="1000" dirty="0"/>
          </a:p>
        </p:txBody>
      </p:sp>
      <p:sp>
        <p:nvSpPr>
          <p:cNvPr id="33" name="tax-box-287"/>
          <p:cNvSpPr/>
          <p:nvPr/>
        </p:nvSpPr>
        <p:spPr>
          <a:xfrm>
            <a:off x="7726680" y="2756916"/>
            <a:ext cx="1307592" cy="331927"/>
          </a:xfrm>
          <a:prstGeom prst="roundRect">
            <a:avLst>
              <a:gd name="adj" fmla="val 15152"/>
            </a:avLst>
          </a:prstGeom>
          <a:solidFill>
            <a:schemeClr val="tx2"/>
          </a:solidFill>
          <a:ln w="15875">
            <a:solidFill>
              <a:schemeClr val="accent6"/>
            </a:solidFill>
            <a:prstDash val="solid"/>
          </a:ln>
        </p:spPr>
      </p:sp>
      <p:sp>
        <p:nvSpPr>
          <p:cNvPr id="34" name="tax-label-288"/>
          <p:cNvSpPr txBox="1"/>
          <p:nvPr/>
        </p:nvSpPr>
        <p:spPr>
          <a:xfrm>
            <a:off x="7726680" y="2756916"/>
            <a:ext cx="1307592" cy="331927"/>
          </a:xfrm>
          <a:prstGeom prst="rect">
            <a:avLst/>
          </a:prstGeom>
          <a:noFill/>
          <a:ln/>
        </p:spPr>
        <p:txBody>
          <a:bodyPr wrap="square" lIns="0" tIns="0" rIns="0" bIns="0" rtlCol="0" anchor="ctr"/>
          <a:lstStyle/>
          <a:p>
            <a:pPr algn="ctr" indent="0" marL="0">
              <a:buNone/>
            </a:pPr>
            <a:r>
              <a:rPr lang="en-US" sz="1000" b="1" dirty="0">
                <a:solidFill>
                  <a:schemeClr val="bg2"/>
                </a:solidFill>
              </a:rPr>
              <a:t>By design</a:t>
            </a:r>
            <a:endParaRPr lang="en-US" sz="1000" dirty="0"/>
          </a:p>
        </p:txBody>
      </p:sp>
      <p:sp>
        <p:nvSpPr>
          <p:cNvPr id="35" name="tax-box-289"/>
          <p:cNvSpPr/>
          <p:nvPr/>
        </p:nvSpPr>
        <p:spPr>
          <a:xfrm>
            <a:off x="9738360" y="2756916"/>
            <a:ext cx="1307592" cy="331927"/>
          </a:xfrm>
          <a:prstGeom prst="roundRect">
            <a:avLst>
              <a:gd name="adj" fmla="val 15152"/>
            </a:avLst>
          </a:prstGeom>
          <a:solidFill>
            <a:schemeClr val="accent2"/>
          </a:solidFill>
          <a:ln/>
        </p:spPr>
      </p:sp>
      <p:sp>
        <p:nvSpPr>
          <p:cNvPr id="36" name="tax-label-290"/>
          <p:cNvSpPr txBox="1"/>
          <p:nvPr/>
        </p:nvSpPr>
        <p:spPr>
          <a:xfrm>
            <a:off x="9738360" y="2756916"/>
            <a:ext cx="1307592" cy="331927"/>
          </a:xfrm>
          <a:prstGeom prst="rect">
            <a:avLst/>
          </a:prstGeom>
          <a:noFill/>
          <a:ln/>
        </p:spPr>
        <p:txBody>
          <a:bodyPr wrap="square" lIns="0" tIns="0" rIns="0" bIns="0" rtlCol="0" anchor="ctr"/>
          <a:lstStyle/>
          <a:p>
            <a:pPr algn="ctr" indent="0" marL="0">
              <a:buNone/>
            </a:pPr>
            <a:r>
              <a:rPr lang="en-US" sz="1000" b="1" dirty="0">
                <a:solidFill>
                  <a:schemeClr val="bg1"/>
                </a:solidFill>
              </a:rPr>
              <a:t>Post-hoc</a:t>
            </a:r>
            <a:endParaRPr lang="en-US" sz="1000" dirty="0"/>
          </a:p>
        </p:txBody>
      </p:sp>
      <p:sp>
        <p:nvSpPr>
          <p:cNvPr id="37" name="tax-box-291"/>
          <p:cNvSpPr/>
          <p:nvPr/>
        </p:nvSpPr>
        <p:spPr>
          <a:xfrm>
            <a:off x="9034272" y="3410712"/>
            <a:ext cx="1307592" cy="331927"/>
          </a:xfrm>
          <a:prstGeom prst="roundRect">
            <a:avLst>
              <a:gd name="adj" fmla="val 15152"/>
            </a:avLst>
          </a:prstGeom>
          <a:solidFill>
            <a:schemeClr val="accent2"/>
          </a:solidFill>
          <a:ln/>
        </p:spPr>
      </p:sp>
      <p:sp>
        <p:nvSpPr>
          <p:cNvPr id="38" name="tax-label-292"/>
          <p:cNvSpPr txBox="1"/>
          <p:nvPr/>
        </p:nvSpPr>
        <p:spPr>
          <a:xfrm>
            <a:off x="9034272" y="3410712"/>
            <a:ext cx="1307592" cy="331927"/>
          </a:xfrm>
          <a:prstGeom prst="rect">
            <a:avLst/>
          </a:prstGeom>
          <a:noFill/>
          <a:ln/>
        </p:spPr>
        <p:txBody>
          <a:bodyPr wrap="square" lIns="0" tIns="0" rIns="0" bIns="0" rtlCol="0" anchor="ctr"/>
          <a:lstStyle/>
          <a:p>
            <a:pPr algn="ctr" indent="0" marL="0">
              <a:buNone/>
            </a:pPr>
            <a:r>
              <a:rPr lang="en-US" sz="1000" b="1" dirty="0">
                <a:solidFill>
                  <a:schemeClr val="bg1"/>
                </a:solidFill>
              </a:rPr>
              <a:t>Model-agnostic</a:t>
            </a:r>
            <a:endParaRPr lang="en-US" sz="1000" dirty="0"/>
          </a:p>
        </p:txBody>
      </p:sp>
      <p:sp>
        <p:nvSpPr>
          <p:cNvPr id="39" name="tax-box-293"/>
          <p:cNvSpPr/>
          <p:nvPr/>
        </p:nvSpPr>
        <p:spPr>
          <a:xfrm>
            <a:off x="10492740" y="3410712"/>
            <a:ext cx="1106424" cy="331927"/>
          </a:xfrm>
          <a:prstGeom prst="roundRect">
            <a:avLst>
              <a:gd name="adj" fmla="val 15152"/>
            </a:avLst>
          </a:prstGeom>
          <a:solidFill>
            <a:schemeClr val="tx2"/>
          </a:solidFill>
          <a:ln w="15875">
            <a:solidFill>
              <a:schemeClr val="accent6"/>
            </a:solidFill>
            <a:prstDash val="solid"/>
          </a:ln>
        </p:spPr>
      </p:sp>
      <p:sp>
        <p:nvSpPr>
          <p:cNvPr id="40" name="tax-label-294"/>
          <p:cNvSpPr txBox="1"/>
          <p:nvPr/>
        </p:nvSpPr>
        <p:spPr>
          <a:xfrm>
            <a:off x="10492740" y="3410712"/>
            <a:ext cx="1106424" cy="331927"/>
          </a:xfrm>
          <a:prstGeom prst="rect">
            <a:avLst/>
          </a:prstGeom>
          <a:noFill/>
          <a:ln/>
        </p:spPr>
        <p:txBody>
          <a:bodyPr wrap="square" lIns="0" tIns="0" rIns="0" bIns="0" rtlCol="0" anchor="ctr"/>
          <a:lstStyle/>
          <a:p>
            <a:pPr algn="ctr" indent="0" marL="0">
              <a:buNone/>
            </a:pPr>
            <a:r>
              <a:rPr lang="en-US" sz="1000" b="1" dirty="0">
                <a:solidFill>
                  <a:schemeClr val="bg2"/>
                </a:solidFill>
              </a:rPr>
              <a:t>Model-specific</a:t>
            </a:r>
            <a:endParaRPr lang="en-US" sz="1000" dirty="0"/>
          </a:p>
        </p:txBody>
      </p:sp>
      <p:sp>
        <p:nvSpPr>
          <p:cNvPr id="41" name="tax-box-295"/>
          <p:cNvSpPr/>
          <p:nvPr/>
        </p:nvSpPr>
        <p:spPr>
          <a:xfrm>
            <a:off x="8732520" y="4064508"/>
            <a:ext cx="854964" cy="331927"/>
          </a:xfrm>
          <a:prstGeom prst="roundRect">
            <a:avLst>
              <a:gd name="adj" fmla="val 15152"/>
            </a:avLst>
          </a:prstGeom>
          <a:solidFill>
            <a:schemeClr val="accent2"/>
          </a:solidFill>
          <a:ln/>
        </p:spPr>
      </p:sp>
      <p:sp>
        <p:nvSpPr>
          <p:cNvPr id="42" name="tax-label-296"/>
          <p:cNvSpPr txBox="1"/>
          <p:nvPr/>
        </p:nvSpPr>
        <p:spPr>
          <a:xfrm>
            <a:off x="8732520" y="4064508"/>
            <a:ext cx="854964" cy="331927"/>
          </a:xfrm>
          <a:prstGeom prst="rect">
            <a:avLst/>
          </a:prstGeom>
          <a:noFill/>
          <a:ln/>
        </p:spPr>
        <p:txBody>
          <a:bodyPr wrap="square" lIns="0" tIns="0" rIns="0" bIns="0" rtlCol="0" anchor="ctr"/>
          <a:lstStyle/>
          <a:p>
            <a:pPr algn="ctr" indent="0" marL="0">
              <a:buNone/>
            </a:pPr>
            <a:r>
              <a:rPr lang="en-US" sz="1000" b="1" dirty="0">
                <a:solidFill>
                  <a:schemeClr val="bg1"/>
                </a:solidFill>
              </a:rPr>
              <a:t>Local</a:t>
            </a:r>
            <a:endParaRPr lang="en-US" sz="1000" dirty="0"/>
          </a:p>
        </p:txBody>
      </p:sp>
      <p:sp>
        <p:nvSpPr>
          <p:cNvPr id="43" name="tax-box-297"/>
          <p:cNvSpPr/>
          <p:nvPr/>
        </p:nvSpPr>
        <p:spPr>
          <a:xfrm>
            <a:off x="9788652" y="4064508"/>
            <a:ext cx="854964" cy="331927"/>
          </a:xfrm>
          <a:prstGeom prst="roundRect">
            <a:avLst>
              <a:gd name="adj" fmla="val 15152"/>
            </a:avLst>
          </a:prstGeom>
          <a:solidFill>
            <a:schemeClr val="accent2"/>
          </a:solidFill>
          <a:ln/>
        </p:spPr>
      </p:sp>
      <p:sp>
        <p:nvSpPr>
          <p:cNvPr id="44" name="tax-label-298"/>
          <p:cNvSpPr txBox="1"/>
          <p:nvPr/>
        </p:nvSpPr>
        <p:spPr>
          <a:xfrm>
            <a:off x="9788652" y="4064508"/>
            <a:ext cx="854964" cy="331927"/>
          </a:xfrm>
          <a:prstGeom prst="rect">
            <a:avLst/>
          </a:prstGeom>
          <a:noFill/>
          <a:ln/>
        </p:spPr>
        <p:txBody>
          <a:bodyPr wrap="square" lIns="0" tIns="0" rIns="0" bIns="0" rtlCol="0" anchor="ctr"/>
          <a:lstStyle/>
          <a:p>
            <a:pPr algn="ctr" indent="0" marL="0">
              <a:buNone/>
            </a:pPr>
            <a:r>
              <a:rPr lang="en-US" sz="1000" b="1" dirty="0">
                <a:solidFill>
                  <a:schemeClr val="bg1"/>
                </a:solidFill>
              </a:rPr>
              <a:t>Global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5852160" cy="292608"/>
          </a:xfrm>
          <a:prstGeom prst="rect">
            <a:avLst/>
          </a:prstGeom>
          <a:noFill/>
          <a:ln/>
        </p:spPr>
        <p:txBody>
          <a:bodyPr wrap="square" lIns="0" tIns="0" rIns="0" bIns="0" rtlCol="0" anchor="b"/>
          <a:lstStyle/>
          <a:p>
            <a:pPr algn="l" indent="0" marL="0">
              <a:buNone/>
            </a:pPr>
            <a:r>
              <a:rPr lang="en-US" sz="1200" b="1" spc="200" kern="0" dirty="0">
                <a:solidFill>
                  <a:schemeClr val="accent1"/>
                </a:solidFill>
              </a:rPr>
              <a:t>SIPA</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200" b="1" dirty="0">
                <a:solidFill>
                  <a:schemeClr val="tx2"/>
                </a:solidFill>
                <a:latin typeface="Avenir" pitchFamily="34" charset="0"/>
                <a:ea typeface="Avenir" pitchFamily="34" charset="-122"/>
                <a:cs typeface="Avenir" pitchFamily="34" charset="-120"/>
              </a:rPr>
              <a:t>Sample, intervene, predict, aggregate</a:t>
            </a:r>
            <a:endParaRPr lang="en-US" sz="3200" dirty="0"/>
          </a:p>
        </p:txBody>
      </p:sp>
      <p:sp>
        <p:nvSpPr>
          <p:cNvPr id="4" name="pill-299"/>
          <p:cNvSpPr/>
          <p:nvPr/>
        </p:nvSpPr>
        <p:spPr>
          <a:xfrm>
            <a:off x="6357823" y="274320"/>
            <a:ext cx="1280160" cy="274320"/>
          </a:xfrm>
          <a:prstGeom prst="roundRect">
            <a:avLst>
              <a:gd name="adj" fmla="val 50000"/>
            </a:avLst>
          </a:prstGeom>
          <a:solidFill>
            <a:schemeClr val="bg2"/>
          </a:solidFill>
          <a:ln/>
        </p:spPr>
      </p:sp>
      <p:sp>
        <p:nvSpPr>
          <p:cNvPr id="5" name="pill-text-300"/>
          <p:cNvSpPr txBox="1"/>
          <p:nvPr/>
        </p:nvSpPr>
        <p:spPr>
          <a:xfrm>
            <a:off x="6357823"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By design</a:t>
            </a:r>
            <a:endParaRPr lang="en-US" sz="1000" dirty="0"/>
          </a:p>
        </p:txBody>
      </p:sp>
      <p:sp>
        <p:nvSpPr>
          <p:cNvPr id="6" name="pill-301"/>
          <p:cNvSpPr/>
          <p:nvPr/>
        </p:nvSpPr>
        <p:spPr>
          <a:xfrm>
            <a:off x="7692847" y="274320"/>
            <a:ext cx="1280160" cy="274320"/>
          </a:xfrm>
          <a:prstGeom prst="roundRect">
            <a:avLst>
              <a:gd name="adj" fmla="val 50000"/>
            </a:avLst>
          </a:prstGeom>
          <a:solidFill>
            <a:schemeClr val="accent1"/>
          </a:solidFill>
          <a:ln/>
        </p:spPr>
      </p:sp>
      <p:sp>
        <p:nvSpPr>
          <p:cNvPr id="7" name="pill-text-302"/>
          <p:cNvSpPr txBox="1"/>
          <p:nvPr/>
        </p:nvSpPr>
        <p:spPr>
          <a:xfrm>
            <a:off x="7692847" y="274320"/>
            <a:ext cx="1280160" cy="274320"/>
          </a:xfrm>
          <a:prstGeom prst="rect">
            <a:avLst/>
          </a:prstGeom>
          <a:noFill/>
          <a:ln/>
        </p:spPr>
        <p:txBody>
          <a:bodyPr wrap="square" lIns="0" tIns="0" rIns="0" bIns="0" rtlCol="0" anchor="ctr"/>
          <a:lstStyle/>
          <a:p>
            <a:pPr algn="ctr" indent="0" marL="0">
              <a:buNone/>
            </a:pPr>
            <a:r>
              <a:rPr lang="en-US" sz="1000" b="1" dirty="0">
                <a:solidFill>
                  <a:schemeClr val="bg1"/>
                </a:solidFill>
              </a:rPr>
              <a:t>Model-agnostic</a:t>
            </a:r>
            <a:endParaRPr lang="en-US" sz="1000" dirty="0"/>
          </a:p>
        </p:txBody>
      </p:sp>
      <p:sp>
        <p:nvSpPr>
          <p:cNvPr id="8" name="pill-303"/>
          <p:cNvSpPr/>
          <p:nvPr/>
        </p:nvSpPr>
        <p:spPr>
          <a:xfrm>
            <a:off x="9027871" y="274320"/>
            <a:ext cx="1280160" cy="274320"/>
          </a:xfrm>
          <a:prstGeom prst="roundRect">
            <a:avLst>
              <a:gd name="adj" fmla="val 50000"/>
            </a:avLst>
          </a:prstGeom>
          <a:solidFill>
            <a:schemeClr val="bg2"/>
          </a:solidFill>
          <a:ln/>
        </p:spPr>
      </p:sp>
      <p:sp>
        <p:nvSpPr>
          <p:cNvPr id="9" name="pill-text-304"/>
          <p:cNvSpPr txBox="1"/>
          <p:nvPr/>
        </p:nvSpPr>
        <p:spPr>
          <a:xfrm>
            <a:off x="9027871"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Model-specific</a:t>
            </a:r>
            <a:endParaRPr lang="en-US" sz="1000" dirty="0"/>
          </a:p>
        </p:txBody>
      </p:sp>
      <p:sp>
        <p:nvSpPr>
          <p:cNvPr id="10" name="pill-305"/>
          <p:cNvSpPr/>
          <p:nvPr/>
        </p:nvSpPr>
        <p:spPr>
          <a:xfrm>
            <a:off x="10362895" y="274320"/>
            <a:ext cx="1280160" cy="274320"/>
          </a:xfrm>
          <a:prstGeom prst="roundRect">
            <a:avLst>
              <a:gd name="adj" fmla="val 50000"/>
            </a:avLst>
          </a:prstGeom>
          <a:solidFill>
            <a:schemeClr val="bg2"/>
          </a:solidFill>
          <a:ln/>
        </p:spPr>
      </p:sp>
      <p:sp>
        <p:nvSpPr>
          <p:cNvPr id="11" name="pill-text-306"/>
          <p:cNvSpPr txBox="1"/>
          <p:nvPr/>
        </p:nvSpPr>
        <p:spPr>
          <a:xfrm>
            <a:off x="10362895"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Synthesis</a:t>
            </a:r>
            <a:endParaRPr lang="en-US" sz="1000" dirty="0"/>
          </a:p>
        </p:txBody>
      </p:sp>
      <p:sp>
        <p:nvSpPr>
          <p:cNvPr id="12" name="step-card-307"/>
          <p:cNvSpPr/>
          <p:nvPr/>
        </p:nvSpPr>
        <p:spPr>
          <a:xfrm>
            <a:off x="548640" y="1554480"/>
            <a:ext cx="2464994" cy="4023360"/>
          </a:xfrm>
          <a:prstGeom prst="roundRect">
            <a:avLst>
              <a:gd name="adj" fmla="val 3710"/>
            </a:avLst>
          </a:prstGeom>
          <a:solidFill>
            <a:schemeClr val="bg2"/>
          </a:solidFill>
          <a:ln/>
        </p:spPr>
      </p:sp>
      <p:sp>
        <p:nvSpPr>
          <p:cNvPr id="13" name="pill-308"/>
          <p:cNvSpPr/>
          <p:nvPr/>
        </p:nvSpPr>
        <p:spPr>
          <a:xfrm>
            <a:off x="731520" y="1755648"/>
            <a:ext cx="411480" cy="411480"/>
          </a:xfrm>
          <a:prstGeom prst="roundRect">
            <a:avLst>
              <a:gd name="adj" fmla="val 50000"/>
            </a:avLst>
          </a:prstGeom>
          <a:solidFill>
            <a:schemeClr val="accent1"/>
          </a:solidFill>
          <a:ln/>
        </p:spPr>
      </p:sp>
      <p:sp>
        <p:nvSpPr>
          <p:cNvPr id="14" name="pill-text-309"/>
          <p:cNvSpPr txBox="1"/>
          <p:nvPr/>
        </p:nvSpPr>
        <p:spPr>
          <a:xfrm>
            <a:off x="731520" y="175564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5" name="step-title-310"/>
          <p:cNvSpPr txBox="1"/>
          <p:nvPr/>
        </p:nvSpPr>
        <p:spPr>
          <a:xfrm>
            <a:off x="1261872" y="1737360"/>
            <a:ext cx="1642034" cy="457200"/>
          </a:xfrm>
          <a:prstGeom prst="rect">
            <a:avLst/>
          </a:prstGeom>
          <a:noFill/>
          <a:ln/>
        </p:spPr>
        <p:txBody>
          <a:bodyPr wrap="square" lIns="0" tIns="0" rIns="0" bIns="0" rtlCol="0" anchor="ctr"/>
          <a:lstStyle/>
          <a:p>
            <a:pPr indent="0" marL="0">
              <a:buNone/>
            </a:pPr>
            <a:r>
              <a:rPr lang="en-US" sz="2000" b="1" dirty="0">
                <a:solidFill>
                  <a:schemeClr val="tx2"/>
                </a:solidFill>
                <a:latin typeface="Avenir" pitchFamily="34" charset="0"/>
                <a:ea typeface="Avenir" pitchFamily="34" charset="-122"/>
                <a:cs typeface="Avenir" pitchFamily="34" charset="-120"/>
              </a:rPr>
              <a:t>Sample</a:t>
            </a:r>
            <a:endParaRPr lang="en-US" sz="2000" dirty="0"/>
          </a:p>
        </p:txBody>
      </p:sp>
      <p:sp>
        <p:nvSpPr>
          <p:cNvPr id="16" name="step-desc-311"/>
          <p:cNvSpPr txBox="1"/>
          <p:nvPr/>
        </p:nvSpPr>
        <p:spPr>
          <a:xfrm>
            <a:off x="731520" y="2267712"/>
            <a:ext cx="2099234" cy="365760"/>
          </a:xfrm>
          <a:prstGeom prst="rect">
            <a:avLst/>
          </a:prstGeom>
          <a:noFill/>
          <a:ln/>
        </p:spPr>
        <p:txBody>
          <a:bodyPr wrap="square" lIns="0" tIns="0" rIns="0" bIns="0" rtlCol="0" anchor="t"/>
          <a:lstStyle/>
          <a:p>
            <a:pPr indent="0" marL="0">
              <a:buNone/>
            </a:pPr>
            <a:r>
              <a:rPr lang="en-US" sz="1300" i="1" dirty="0">
                <a:solidFill>
                  <a:schemeClr val="accent1"/>
                </a:solidFill>
              </a:rPr>
              <a:t>Take a sample of the data</a:t>
            </a:r>
            <a:endParaRPr lang="en-US" sz="1300" dirty="0"/>
          </a:p>
        </p:txBody>
      </p:sp>
      <p:sp>
        <p:nvSpPr>
          <p:cNvPr id="17" name="table-cell"/>
          <p:cNvSpPr/>
          <p:nvPr/>
        </p:nvSpPr>
        <p:spPr>
          <a:xfrm>
            <a:off x="1205065" y="2788920"/>
            <a:ext cx="365760" cy="182880"/>
          </a:xfrm>
          <a:prstGeom prst="rect">
            <a:avLst/>
          </a:prstGeom>
          <a:solidFill>
            <a:schemeClr val="tx2"/>
          </a:solidFill>
          <a:ln/>
        </p:spPr>
      </p:sp>
      <p:sp>
        <p:nvSpPr>
          <p:cNvPr id="18" name="table-cell"/>
          <p:cNvSpPr/>
          <p:nvPr/>
        </p:nvSpPr>
        <p:spPr>
          <a:xfrm>
            <a:off x="1598257" y="2788920"/>
            <a:ext cx="365760" cy="182880"/>
          </a:xfrm>
          <a:prstGeom prst="rect">
            <a:avLst/>
          </a:prstGeom>
          <a:solidFill>
            <a:schemeClr val="tx2"/>
          </a:solidFill>
          <a:ln/>
        </p:spPr>
      </p:sp>
      <p:sp>
        <p:nvSpPr>
          <p:cNvPr id="19" name="table-cell"/>
          <p:cNvSpPr/>
          <p:nvPr/>
        </p:nvSpPr>
        <p:spPr>
          <a:xfrm>
            <a:off x="1991449" y="2788920"/>
            <a:ext cx="365760" cy="182880"/>
          </a:xfrm>
          <a:prstGeom prst="rect">
            <a:avLst/>
          </a:prstGeom>
          <a:solidFill>
            <a:schemeClr val="tx2"/>
          </a:solidFill>
          <a:ln/>
        </p:spPr>
      </p:sp>
      <p:sp>
        <p:nvSpPr>
          <p:cNvPr id="20" name="table-cell"/>
          <p:cNvSpPr/>
          <p:nvPr/>
        </p:nvSpPr>
        <p:spPr>
          <a:xfrm>
            <a:off x="1205065" y="2999232"/>
            <a:ext cx="365760" cy="182880"/>
          </a:xfrm>
          <a:prstGeom prst="rect">
            <a:avLst/>
          </a:prstGeom>
          <a:solidFill>
            <a:schemeClr val="accent1"/>
          </a:solidFill>
          <a:ln/>
        </p:spPr>
      </p:sp>
      <p:sp>
        <p:nvSpPr>
          <p:cNvPr id="21" name="table-cell"/>
          <p:cNvSpPr/>
          <p:nvPr/>
        </p:nvSpPr>
        <p:spPr>
          <a:xfrm>
            <a:off x="1598257" y="2999232"/>
            <a:ext cx="365760" cy="182880"/>
          </a:xfrm>
          <a:prstGeom prst="rect">
            <a:avLst/>
          </a:prstGeom>
          <a:solidFill>
            <a:schemeClr val="accent1"/>
          </a:solidFill>
          <a:ln/>
        </p:spPr>
      </p:sp>
      <p:sp>
        <p:nvSpPr>
          <p:cNvPr id="22" name="table-cell"/>
          <p:cNvSpPr/>
          <p:nvPr/>
        </p:nvSpPr>
        <p:spPr>
          <a:xfrm>
            <a:off x="1991449" y="2999232"/>
            <a:ext cx="365760" cy="182880"/>
          </a:xfrm>
          <a:prstGeom prst="rect">
            <a:avLst/>
          </a:prstGeom>
          <a:solidFill>
            <a:schemeClr val="accent1"/>
          </a:solidFill>
          <a:ln/>
        </p:spPr>
      </p:sp>
      <p:sp>
        <p:nvSpPr>
          <p:cNvPr id="23" name="table-cell"/>
          <p:cNvSpPr/>
          <p:nvPr/>
        </p:nvSpPr>
        <p:spPr>
          <a:xfrm>
            <a:off x="1205065" y="3209544"/>
            <a:ext cx="365760" cy="182880"/>
          </a:xfrm>
          <a:prstGeom prst="rect">
            <a:avLst/>
          </a:prstGeom>
          <a:solidFill>
            <a:schemeClr val="bg1"/>
          </a:solidFill>
          <a:ln/>
        </p:spPr>
      </p:sp>
      <p:sp>
        <p:nvSpPr>
          <p:cNvPr id="24" name="table-cell"/>
          <p:cNvSpPr/>
          <p:nvPr/>
        </p:nvSpPr>
        <p:spPr>
          <a:xfrm>
            <a:off x="1598257" y="3209544"/>
            <a:ext cx="365760" cy="182880"/>
          </a:xfrm>
          <a:prstGeom prst="rect">
            <a:avLst/>
          </a:prstGeom>
          <a:solidFill>
            <a:schemeClr val="bg1"/>
          </a:solidFill>
          <a:ln/>
        </p:spPr>
      </p:sp>
      <p:sp>
        <p:nvSpPr>
          <p:cNvPr id="25" name="table-cell"/>
          <p:cNvSpPr/>
          <p:nvPr/>
        </p:nvSpPr>
        <p:spPr>
          <a:xfrm>
            <a:off x="1991449" y="3209544"/>
            <a:ext cx="365760" cy="182880"/>
          </a:xfrm>
          <a:prstGeom prst="rect">
            <a:avLst/>
          </a:prstGeom>
          <a:solidFill>
            <a:schemeClr val="bg1"/>
          </a:solidFill>
          <a:ln/>
        </p:spPr>
      </p:sp>
      <p:sp>
        <p:nvSpPr>
          <p:cNvPr id="26" name="table-cell"/>
          <p:cNvSpPr/>
          <p:nvPr/>
        </p:nvSpPr>
        <p:spPr>
          <a:xfrm>
            <a:off x="1205065" y="3419856"/>
            <a:ext cx="365760" cy="182880"/>
          </a:xfrm>
          <a:prstGeom prst="rect">
            <a:avLst/>
          </a:prstGeom>
          <a:solidFill>
            <a:schemeClr val="accent1"/>
          </a:solidFill>
          <a:ln/>
        </p:spPr>
      </p:sp>
      <p:sp>
        <p:nvSpPr>
          <p:cNvPr id="27" name="table-cell"/>
          <p:cNvSpPr/>
          <p:nvPr/>
        </p:nvSpPr>
        <p:spPr>
          <a:xfrm>
            <a:off x="1598257" y="3419856"/>
            <a:ext cx="365760" cy="182880"/>
          </a:xfrm>
          <a:prstGeom prst="rect">
            <a:avLst/>
          </a:prstGeom>
          <a:solidFill>
            <a:schemeClr val="accent1"/>
          </a:solidFill>
          <a:ln/>
        </p:spPr>
      </p:sp>
      <p:sp>
        <p:nvSpPr>
          <p:cNvPr id="28" name="table-cell"/>
          <p:cNvSpPr/>
          <p:nvPr/>
        </p:nvSpPr>
        <p:spPr>
          <a:xfrm>
            <a:off x="1991449" y="3419856"/>
            <a:ext cx="365760" cy="182880"/>
          </a:xfrm>
          <a:prstGeom prst="rect">
            <a:avLst/>
          </a:prstGeom>
          <a:solidFill>
            <a:schemeClr val="accent1"/>
          </a:solidFill>
          <a:ln/>
        </p:spPr>
      </p:sp>
      <p:sp>
        <p:nvSpPr>
          <p:cNvPr id="29" name="table-cell"/>
          <p:cNvSpPr/>
          <p:nvPr/>
        </p:nvSpPr>
        <p:spPr>
          <a:xfrm>
            <a:off x="1205065" y="3630168"/>
            <a:ext cx="365760" cy="182880"/>
          </a:xfrm>
          <a:prstGeom prst="rect">
            <a:avLst/>
          </a:prstGeom>
          <a:solidFill>
            <a:schemeClr val="bg1"/>
          </a:solidFill>
          <a:ln/>
        </p:spPr>
      </p:sp>
      <p:sp>
        <p:nvSpPr>
          <p:cNvPr id="30" name="table-cell"/>
          <p:cNvSpPr/>
          <p:nvPr/>
        </p:nvSpPr>
        <p:spPr>
          <a:xfrm>
            <a:off x="1598257" y="3630168"/>
            <a:ext cx="365760" cy="182880"/>
          </a:xfrm>
          <a:prstGeom prst="rect">
            <a:avLst/>
          </a:prstGeom>
          <a:solidFill>
            <a:schemeClr val="bg1"/>
          </a:solidFill>
          <a:ln/>
        </p:spPr>
      </p:sp>
      <p:sp>
        <p:nvSpPr>
          <p:cNvPr id="31" name="table-cell"/>
          <p:cNvSpPr/>
          <p:nvPr/>
        </p:nvSpPr>
        <p:spPr>
          <a:xfrm>
            <a:off x="1991449" y="3630168"/>
            <a:ext cx="365760" cy="182880"/>
          </a:xfrm>
          <a:prstGeom prst="rect">
            <a:avLst/>
          </a:prstGeom>
          <a:solidFill>
            <a:schemeClr val="bg1"/>
          </a:solidFill>
          <a:ln/>
        </p:spPr>
      </p:sp>
      <p:sp>
        <p:nvSpPr>
          <p:cNvPr id="32" name="step-arrow"/>
          <p:cNvSpPr/>
          <p:nvPr/>
        </p:nvSpPr>
        <p:spPr>
          <a:xfrm>
            <a:off x="3086786" y="3108960"/>
            <a:ext cx="274320" cy="320040"/>
          </a:xfrm>
          <a:prstGeom prst="rightArrow">
            <a:avLst/>
          </a:prstGeom>
          <a:solidFill>
            <a:schemeClr val="accent2"/>
          </a:solidFill>
          <a:ln/>
        </p:spPr>
      </p:sp>
      <p:sp>
        <p:nvSpPr>
          <p:cNvPr id="33" name="line-312"/>
          <p:cNvSpPr/>
          <p:nvPr/>
        </p:nvSpPr>
        <p:spPr>
          <a:xfrm>
            <a:off x="731520" y="4114800"/>
            <a:ext cx="2099234" cy="0"/>
          </a:xfrm>
          <a:prstGeom prst="line">
            <a:avLst/>
          </a:prstGeom>
          <a:noFill/>
          <a:ln w="9525">
            <a:solidFill>
              <a:srgbClr val="9DB7C2"/>
            </a:solidFill>
            <a:prstDash val="solid"/>
          </a:ln>
        </p:spPr>
      </p:sp>
      <p:sp>
        <p:nvSpPr>
          <p:cNvPr id="34" name="pfi-tag-313"/>
          <p:cNvSpPr txBox="1"/>
          <p:nvPr/>
        </p:nvSpPr>
        <p:spPr>
          <a:xfrm>
            <a:off x="731520" y="4251960"/>
            <a:ext cx="914400" cy="274320"/>
          </a:xfrm>
          <a:prstGeom prst="rect">
            <a:avLst/>
          </a:prstGeom>
          <a:noFill/>
          <a:ln/>
        </p:spPr>
        <p:txBody>
          <a:bodyPr wrap="square" lIns="0" tIns="0" rIns="0" bIns="0" rtlCol="0" anchor="t"/>
          <a:lstStyle/>
          <a:p>
            <a:pPr indent="0" marL="0">
              <a:buNone/>
            </a:pPr>
            <a:r>
              <a:rPr lang="en-US" sz="1100" b="1" spc="100" kern="0" dirty="0">
                <a:solidFill>
                  <a:schemeClr val="accent2"/>
                </a:solidFill>
              </a:rPr>
              <a:t>PFI</a:t>
            </a:r>
            <a:endParaRPr lang="en-US" sz="1100" dirty="0"/>
          </a:p>
        </p:txBody>
      </p:sp>
      <p:sp>
        <p:nvSpPr>
          <p:cNvPr id="35" name="pfi-text-314"/>
          <p:cNvSpPr txBox="1"/>
          <p:nvPr/>
        </p:nvSpPr>
        <p:spPr>
          <a:xfrm>
            <a:off x="731520" y="4526280"/>
            <a:ext cx="2099234" cy="914400"/>
          </a:xfrm>
          <a:prstGeom prst="rect">
            <a:avLst/>
          </a:prstGeom>
          <a:noFill/>
          <a:ln/>
        </p:spPr>
        <p:txBody>
          <a:bodyPr wrap="square" lIns="0" tIns="0" rIns="0" bIns="0" rtlCol="0" anchor="t"/>
          <a:lstStyle/>
          <a:p>
            <a:pPr indent="0" marL="0">
              <a:buNone/>
            </a:pPr>
            <a:r>
              <a:rPr lang="en-US" sz="1500" dirty="0">
                <a:solidFill>
                  <a:schemeClr val="tx1"/>
                </a:solidFill>
              </a:rPr>
              <a:t>Sample the test data</a:t>
            </a:r>
            <a:endParaRPr lang="en-US" sz="1500" dirty="0"/>
          </a:p>
        </p:txBody>
      </p:sp>
      <p:sp>
        <p:nvSpPr>
          <p:cNvPr id="36" name="step-card-315"/>
          <p:cNvSpPr/>
          <p:nvPr/>
        </p:nvSpPr>
        <p:spPr>
          <a:xfrm>
            <a:off x="3425114" y="1554480"/>
            <a:ext cx="2464994" cy="4023360"/>
          </a:xfrm>
          <a:prstGeom prst="roundRect">
            <a:avLst>
              <a:gd name="adj" fmla="val 3710"/>
            </a:avLst>
          </a:prstGeom>
          <a:solidFill>
            <a:schemeClr val="bg2"/>
          </a:solidFill>
          <a:ln/>
        </p:spPr>
      </p:sp>
      <p:sp>
        <p:nvSpPr>
          <p:cNvPr id="37" name="pill-316"/>
          <p:cNvSpPr/>
          <p:nvPr/>
        </p:nvSpPr>
        <p:spPr>
          <a:xfrm>
            <a:off x="3607994" y="1755648"/>
            <a:ext cx="411480" cy="411480"/>
          </a:xfrm>
          <a:prstGeom prst="roundRect">
            <a:avLst>
              <a:gd name="adj" fmla="val 50000"/>
            </a:avLst>
          </a:prstGeom>
          <a:solidFill>
            <a:schemeClr val="accent1"/>
          </a:solidFill>
          <a:ln/>
        </p:spPr>
      </p:sp>
      <p:sp>
        <p:nvSpPr>
          <p:cNvPr id="38" name="pill-text-317"/>
          <p:cNvSpPr txBox="1"/>
          <p:nvPr/>
        </p:nvSpPr>
        <p:spPr>
          <a:xfrm>
            <a:off x="3607994" y="175564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9" name="step-title-318"/>
          <p:cNvSpPr txBox="1"/>
          <p:nvPr/>
        </p:nvSpPr>
        <p:spPr>
          <a:xfrm>
            <a:off x="4138346" y="1737360"/>
            <a:ext cx="1642034" cy="457200"/>
          </a:xfrm>
          <a:prstGeom prst="rect">
            <a:avLst/>
          </a:prstGeom>
          <a:noFill/>
          <a:ln/>
        </p:spPr>
        <p:txBody>
          <a:bodyPr wrap="square" lIns="0" tIns="0" rIns="0" bIns="0" rtlCol="0" anchor="ctr"/>
          <a:lstStyle/>
          <a:p>
            <a:pPr indent="0" marL="0">
              <a:buNone/>
            </a:pPr>
            <a:r>
              <a:rPr lang="en-US" sz="2000" b="1" dirty="0">
                <a:solidFill>
                  <a:schemeClr val="tx2"/>
                </a:solidFill>
                <a:latin typeface="Avenir" pitchFamily="34" charset="0"/>
                <a:ea typeface="Avenir" pitchFamily="34" charset="-122"/>
                <a:cs typeface="Avenir" pitchFamily="34" charset="-120"/>
              </a:rPr>
              <a:t>Intervene</a:t>
            </a:r>
            <a:endParaRPr lang="en-US" sz="2000" dirty="0"/>
          </a:p>
        </p:txBody>
      </p:sp>
      <p:sp>
        <p:nvSpPr>
          <p:cNvPr id="40" name="step-desc-319"/>
          <p:cNvSpPr txBox="1"/>
          <p:nvPr/>
        </p:nvSpPr>
        <p:spPr>
          <a:xfrm>
            <a:off x="3607994" y="2267712"/>
            <a:ext cx="2099234" cy="365760"/>
          </a:xfrm>
          <a:prstGeom prst="rect">
            <a:avLst/>
          </a:prstGeom>
          <a:noFill/>
          <a:ln/>
        </p:spPr>
        <p:txBody>
          <a:bodyPr wrap="square" lIns="0" tIns="0" rIns="0" bIns="0" rtlCol="0" anchor="t"/>
          <a:lstStyle/>
          <a:p>
            <a:pPr indent="0" marL="0">
              <a:buNone/>
            </a:pPr>
            <a:r>
              <a:rPr lang="en-US" sz="1300" i="1" dirty="0">
                <a:solidFill>
                  <a:schemeClr val="accent1"/>
                </a:solidFill>
              </a:rPr>
              <a:t>Change the data</a:t>
            </a:r>
            <a:endParaRPr lang="en-US" sz="1300" dirty="0"/>
          </a:p>
        </p:txBody>
      </p:sp>
      <p:sp>
        <p:nvSpPr>
          <p:cNvPr id="41" name="table-cell"/>
          <p:cNvSpPr/>
          <p:nvPr/>
        </p:nvSpPr>
        <p:spPr>
          <a:xfrm>
            <a:off x="4081539" y="2788920"/>
            <a:ext cx="365760" cy="182880"/>
          </a:xfrm>
          <a:prstGeom prst="rect">
            <a:avLst/>
          </a:prstGeom>
          <a:solidFill>
            <a:schemeClr val="tx2"/>
          </a:solidFill>
          <a:ln/>
        </p:spPr>
      </p:sp>
      <p:sp>
        <p:nvSpPr>
          <p:cNvPr id="42" name="table-cell"/>
          <p:cNvSpPr/>
          <p:nvPr/>
        </p:nvSpPr>
        <p:spPr>
          <a:xfrm>
            <a:off x="4474731" y="2788920"/>
            <a:ext cx="365760" cy="182880"/>
          </a:xfrm>
          <a:prstGeom prst="rect">
            <a:avLst/>
          </a:prstGeom>
          <a:solidFill>
            <a:schemeClr val="tx2"/>
          </a:solidFill>
          <a:ln/>
        </p:spPr>
      </p:sp>
      <p:sp>
        <p:nvSpPr>
          <p:cNvPr id="43" name="table-cell"/>
          <p:cNvSpPr/>
          <p:nvPr/>
        </p:nvSpPr>
        <p:spPr>
          <a:xfrm>
            <a:off x="4867923" y="2788920"/>
            <a:ext cx="365760" cy="182880"/>
          </a:xfrm>
          <a:prstGeom prst="rect">
            <a:avLst/>
          </a:prstGeom>
          <a:solidFill>
            <a:schemeClr val="tx2"/>
          </a:solidFill>
          <a:ln/>
        </p:spPr>
      </p:sp>
      <p:sp>
        <p:nvSpPr>
          <p:cNvPr id="44" name="table-cell"/>
          <p:cNvSpPr/>
          <p:nvPr/>
        </p:nvSpPr>
        <p:spPr>
          <a:xfrm>
            <a:off x="4081539" y="2999232"/>
            <a:ext cx="365760" cy="182880"/>
          </a:xfrm>
          <a:prstGeom prst="rect">
            <a:avLst/>
          </a:prstGeom>
          <a:solidFill>
            <a:schemeClr val="bg1"/>
          </a:solidFill>
          <a:ln/>
        </p:spPr>
      </p:sp>
      <p:sp>
        <p:nvSpPr>
          <p:cNvPr id="45" name="table-cell"/>
          <p:cNvSpPr/>
          <p:nvPr/>
        </p:nvSpPr>
        <p:spPr>
          <a:xfrm>
            <a:off x="4474731" y="2999232"/>
            <a:ext cx="365760" cy="182880"/>
          </a:xfrm>
          <a:prstGeom prst="rect">
            <a:avLst/>
          </a:prstGeom>
          <a:solidFill>
            <a:schemeClr val="accent2"/>
          </a:solidFill>
          <a:ln/>
        </p:spPr>
      </p:sp>
      <p:sp>
        <p:nvSpPr>
          <p:cNvPr id="46" name="table-cell"/>
          <p:cNvSpPr/>
          <p:nvPr/>
        </p:nvSpPr>
        <p:spPr>
          <a:xfrm>
            <a:off x="4867923" y="2999232"/>
            <a:ext cx="365760" cy="182880"/>
          </a:xfrm>
          <a:prstGeom prst="rect">
            <a:avLst/>
          </a:prstGeom>
          <a:solidFill>
            <a:schemeClr val="bg1"/>
          </a:solidFill>
          <a:ln/>
        </p:spPr>
      </p:sp>
      <p:sp>
        <p:nvSpPr>
          <p:cNvPr id="47" name="table-cell"/>
          <p:cNvSpPr/>
          <p:nvPr/>
        </p:nvSpPr>
        <p:spPr>
          <a:xfrm>
            <a:off x="4081539" y="3209544"/>
            <a:ext cx="365760" cy="182880"/>
          </a:xfrm>
          <a:prstGeom prst="rect">
            <a:avLst/>
          </a:prstGeom>
          <a:solidFill>
            <a:schemeClr val="bg1"/>
          </a:solidFill>
          <a:ln/>
        </p:spPr>
      </p:sp>
      <p:sp>
        <p:nvSpPr>
          <p:cNvPr id="48" name="table-cell"/>
          <p:cNvSpPr/>
          <p:nvPr/>
        </p:nvSpPr>
        <p:spPr>
          <a:xfrm>
            <a:off x="4474731" y="3209544"/>
            <a:ext cx="365760" cy="182880"/>
          </a:xfrm>
          <a:prstGeom prst="rect">
            <a:avLst/>
          </a:prstGeom>
          <a:solidFill>
            <a:schemeClr val="accent2"/>
          </a:solidFill>
          <a:ln/>
        </p:spPr>
      </p:sp>
      <p:sp>
        <p:nvSpPr>
          <p:cNvPr id="49" name="table-cell"/>
          <p:cNvSpPr/>
          <p:nvPr/>
        </p:nvSpPr>
        <p:spPr>
          <a:xfrm>
            <a:off x="4867923" y="3209544"/>
            <a:ext cx="365760" cy="182880"/>
          </a:xfrm>
          <a:prstGeom prst="rect">
            <a:avLst/>
          </a:prstGeom>
          <a:solidFill>
            <a:schemeClr val="bg1"/>
          </a:solidFill>
          <a:ln/>
        </p:spPr>
      </p:sp>
      <p:sp>
        <p:nvSpPr>
          <p:cNvPr id="50" name="table-cell"/>
          <p:cNvSpPr/>
          <p:nvPr/>
        </p:nvSpPr>
        <p:spPr>
          <a:xfrm>
            <a:off x="4081539" y="3419856"/>
            <a:ext cx="365760" cy="182880"/>
          </a:xfrm>
          <a:prstGeom prst="rect">
            <a:avLst/>
          </a:prstGeom>
          <a:solidFill>
            <a:schemeClr val="bg1"/>
          </a:solidFill>
          <a:ln/>
        </p:spPr>
      </p:sp>
      <p:sp>
        <p:nvSpPr>
          <p:cNvPr id="51" name="table-cell"/>
          <p:cNvSpPr/>
          <p:nvPr/>
        </p:nvSpPr>
        <p:spPr>
          <a:xfrm>
            <a:off x="4474731" y="3419856"/>
            <a:ext cx="365760" cy="182880"/>
          </a:xfrm>
          <a:prstGeom prst="rect">
            <a:avLst/>
          </a:prstGeom>
          <a:solidFill>
            <a:schemeClr val="accent2"/>
          </a:solidFill>
          <a:ln/>
        </p:spPr>
      </p:sp>
      <p:sp>
        <p:nvSpPr>
          <p:cNvPr id="52" name="table-cell"/>
          <p:cNvSpPr/>
          <p:nvPr/>
        </p:nvSpPr>
        <p:spPr>
          <a:xfrm>
            <a:off x="4867923" y="3419856"/>
            <a:ext cx="365760" cy="182880"/>
          </a:xfrm>
          <a:prstGeom prst="rect">
            <a:avLst/>
          </a:prstGeom>
          <a:solidFill>
            <a:schemeClr val="bg1"/>
          </a:solidFill>
          <a:ln/>
        </p:spPr>
      </p:sp>
      <p:sp>
        <p:nvSpPr>
          <p:cNvPr id="53" name="table-cell"/>
          <p:cNvSpPr/>
          <p:nvPr/>
        </p:nvSpPr>
        <p:spPr>
          <a:xfrm>
            <a:off x="4081539" y="3630168"/>
            <a:ext cx="365760" cy="182880"/>
          </a:xfrm>
          <a:prstGeom prst="rect">
            <a:avLst/>
          </a:prstGeom>
          <a:solidFill>
            <a:schemeClr val="bg1"/>
          </a:solidFill>
          <a:ln/>
        </p:spPr>
      </p:sp>
      <p:sp>
        <p:nvSpPr>
          <p:cNvPr id="54" name="table-cell"/>
          <p:cNvSpPr/>
          <p:nvPr/>
        </p:nvSpPr>
        <p:spPr>
          <a:xfrm>
            <a:off x="4474731" y="3630168"/>
            <a:ext cx="365760" cy="182880"/>
          </a:xfrm>
          <a:prstGeom prst="rect">
            <a:avLst/>
          </a:prstGeom>
          <a:solidFill>
            <a:schemeClr val="accent2"/>
          </a:solidFill>
          <a:ln/>
        </p:spPr>
      </p:sp>
      <p:sp>
        <p:nvSpPr>
          <p:cNvPr id="55" name="table-cell"/>
          <p:cNvSpPr/>
          <p:nvPr/>
        </p:nvSpPr>
        <p:spPr>
          <a:xfrm>
            <a:off x="4867923" y="3630168"/>
            <a:ext cx="365760" cy="182880"/>
          </a:xfrm>
          <a:prstGeom prst="rect">
            <a:avLst/>
          </a:prstGeom>
          <a:solidFill>
            <a:schemeClr val="bg1"/>
          </a:solidFill>
          <a:ln/>
        </p:spPr>
      </p:sp>
      <p:sp>
        <p:nvSpPr>
          <p:cNvPr id="56" name="step-arrow"/>
          <p:cNvSpPr/>
          <p:nvPr/>
        </p:nvSpPr>
        <p:spPr>
          <a:xfrm>
            <a:off x="5963260" y="3108960"/>
            <a:ext cx="274320" cy="320040"/>
          </a:xfrm>
          <a:prstGeom prst="rightArrow">
            <a:avLst/>
          </a:prstGeom>
          <a:solidFill>
            <a:schemeClr val="accent2"/>
          </a:solidFill>
          <a:ln/>
        </p:spPr>
      </p:sp>
      <p:sp>
        <p:nvSpPr>
          <p:cNvPr id="57" name="line-320"/>
          <p:cNvSpPr/>
          <p:nvPr/>
        </p:nvSpPr>
        <p:spPr>
          <a:xfrm>
            <a:off x="3607994" y="4114800"/>
            <a:ext cx="2099234" cy="0"/>
          </a:xfrm>
          <a:prstGeom prst="line">
            <a:avLst/>
          </a:prstGeom>
          <a:noFill/>
          <a:ln w="9525">
            <a:solidFill>
              <a:srgbClr val="9DB7C2"/>
            </a:solidFill>
            <a:prstDash val="solid"/>
          </a:ln>
        </p:spPr>
      </p:sp>
      <p:sp>
        <p:nvSpPr>
          <p:cNvPr id="58" name="pfi-tag-321"/>
          <p:cNvSpPr txBox="1"/>
          <p:nvPr/>
        </p:nvSpPr>
        <p:spPr>
          <a:xfrm>
            <a:off x="3607994" y="4251960"/>
            <a:ext cx="914400" cy="274320"/>
          </a:xfrm>
          <a:prstGeom prst="rect">
            <a:avLst/>
          </a:prstGeom>
          <a:noFill/>
          <a:ln/>
        </p:spPr>
        <p:txBody>
          <a:bodyPr wrap="square" lIns="0" tIns="0" rIns="0" bIns="0" rtlCol="0" anchor="t"/>
          <a:lstStyle/>
          <a:p>
            <a:pPr indent="0" marL="0">
              <a:buNone/>
            </a:pPr>
            <a:r>
              <a:rPr lang="en-US" sz="1100" b="1" spc="100" kern="0" dirty="0">
                <a:solidFill>
                  <a:schemeClr val="accent2"/>
                </a:solidFill>
              </a:rPr>
              <a:t>PFI</a:t>
            </a:r>
            <a:endParaRPr lang="en-US" sz="1100" dirty="0"/>
          </a:p>
        </p:txBody>
      </p:sp>
      <p:sp>
        <p:nvSpPr>
          <p:cNvPr id="59" name="pfi-text-322"/>
          <p:cNvSpPr txBox="1"/>
          <p:nvPr/>
        </p:nvSpPr>
        <p:spPr>
          <a:xfrm>
            <a:off x="3607994" y="4526280"/>
            <a:ext cx="2099234" cy="914400"/>
          </a:xfrm>
          <a:prstGeom prst="rect">
            <a:avLst/>
          </a:prstGeom>
          <a:noFill/>
          <a:ln/>
        </p:spPr>
        <p:txBody>
          <a:bodyPr wrap="square" lIns="0" tIns="0" rIns="0" bIns="0" rtlCol="0" anchor="t"/>
          <a:lstStyle/>
          <a:p>
            <a:pPr indent="0" marL="0">
              <a:buNone/>
            </a:pPr>
            <a:r>
              <a:rPr lang="en-US" sz="1500" dirty="0">
                <a:solidFill>
                  <a:schemeClr val="tx1"/>
                </a:solidFill>
              </a:rPr>
              <a:t>Shuffle the values of one feature</a:t>
            </a:r>
            <a:endParaRPr lang="en-US" sz="1500" dirty="0"/>
          </a:p>
        </p:txBody>
      </p:sp>
      <p:sp>
        <p:nvSpPr>
          <p:cNvPr id="60" name="step-card-323"/>
          <p:cNvSpPr/>
          <p:nvPr/>
        </p:nvSpPr>
        <p:spPr>
          <a:xfrm>
            <a:off x="6301588" y="1554480"/>
            <a:ext cx="2464994" cy="4023360"/>
          </a:xfrm>
          <a:prstGeom prst="roundRect">
            <a:avLst>
              <a:gd name="adj" fmla="val 3710"/>
            </a:avLst>
          </a:prstGeom>
          <a:solidFill>
            <a:schemeClr val="bg2"/>
          </a:solidFill>
          <a:ln/>
        </p:spPr>
      </p:sp>
      <p:sp>
        <p:nvSpPr>
          <p:cNvPr id="61" name="pill-324"/>
          <p:cNvSpPr/>
          <p:nvPr/>
        </p:nvSpPr>
        <p:spPr>
          <a:xfrm>
            <a:off x="6484468" y="1755648"/>
            <a:ext cx="411480" cy="411480"/>
          </a:xfrm>
          <a:prstGeom prst="roundRect">
            <a:avLst>
              <a:gd name="adj" fmla="val 50000"/>
            </a:avLst>
          </a:prstGeom>
          <a:solidFill>
            <a:schemeClr val="accent1"/>
          </a:solidFill>
          <a:ln/>
        </p:spPr>
      </p:sp>
      <p:sp>
        <p:nvSpPr>
          <p:cNvPr id="62" name="pill-text-325"/>
          <p:cNvSpPr txBox="1"/>
          <p:nvPr/>
        </p:nvSpPr>
        <p:spPr>
          <a:xfrm>
            <a:off x="6484468" y="175564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63" name="step-title-326"/>
          <p:cNvSpPr txBox="1"/>
          <p:nvPr/>
        </p:nvSpPr>
        <p:spPr>
          <a:xfrm>
            <a:off x="7014820" y="1737360"/>
            <a:ext cx="1642034" cy="457200"/>
          </a:xfrm>
          <a:prstGeom prst="rect">
            <a:avLst/>
          </a:prstGeom>
          <a:noFill/>
          <a:ln/>
        </p:spPr>
        <p:txBody>
          <a:bodyPr wrap="square" lIns="0" tIns="0" rIns="0" bIns="0" rtlCol="0" anchor="ctr"/>
          <a:lstStyle/>
          <a:p>
            <a:pPr indent="0" marL="0">
              <a:buNone/>
            </a:pPr>
            <a:r>
              <a:rPr lang="en-US" sz="2000" b="1" dirty="0">
                <a:solidFill>
                  <a:schemeClr val="tx2"/>
                </a:solidFill>
                <a:latin typeface="Avenir" pitchFamily="34" charset="0"/>
                <a:ea typeface="Avenir" pitchFamily="34" charset="-122"/>
                <a:cs typeface="Avenir" pitchFamily="34" charset="-120"/>
              </a:rPr>
              <a:t>Predict</a:t>
            </a:r>
            <a:endParaRPr lang="en-US" sz="2000" dirty="0"/>
          </a:p>
        </p:txBody>
      </p:sp>
      <p:sp>
        <p:nvSpPr>
          <p:cNvPr id="64" name="step-desc-327"/>
          <p:cNvSpPr txBox="1"/>
          <p:nvPr/>
        </p:nvSpPr>
        <p:spPr>
          <a:xfrm>
            <a:off x="6484468" y="2267712"/>
            <a:ext cx="2099234" cy="365760"/>
          </a:xfrm>
          <a:prstGeom prst="rect">
            <a:avLst/>
          </a:prstGeom>
          <a:noFill/>
          <a:ln/>
        </p:spPr>
        <p:txBody>
          <a:bodyPr wrap="square" lIns="0" tIns="0" rIns="0" bIns="0" rtlCol="0" anchor="t"/>
          <a:lstStyle/>
          <a:p>
            <a:pPr indent="0" marL="0">
              <a:buNone/>
            </a:pPr>
            <a:r>
              <a:rPr lang="en-US" sz="1300" i="1" dirty="0">
                <a:solidFill>
                  <a:schemeClr val="accent1"/>
                </a:solidFill>
              </a:rPr>
              <a:t>Predict on the changed data</a:t>
            </a:r>
            <a:endParaRPr lang="en-US" sz="1300" dirty="0"/>
          </a:p>
        </p:txBody>
      </p:sp>
      <p:sp>
        <p:nvSpPr>
          <p:cNvPr id="65" name="table-cell"/>
          <p:cNvSpPr/>
          <p:nvPr/>
        </p:nvSpPr>
        <p:spPr>
          <a:xfrm>
            <a:off x="6761417" y="2788920"/>
            <a:ext cx="365760" cy="182880"/>
          </a:xfrm>
          <a:prstGeom prst="rect">
            <a:avLst/>
          </a:prstGeom>
          <a:solidFill>
            <a:schemeClr val="tx2"/>
          </a:solidFill>
          <a:ln/>
        </p:spPr>
      </p:sp>
      <p:sp>
        <p:nvSpPr>
          <p:cNvPr id="66" name="table-cell"/>
          <p:cNvSpPr/>
          <p:nvPr/>
        </p:nvSpPr>
        <p:spPr>
          <a:xfrm>
            <a:off x="7154609" y="2788920"/>
            <a:ext cx="365760" cy="182880"/>
          </a:xfrm>
          <a:prstGeom prst="rect">
            <a:avLst/>
          </a:prstGeom>
          <a:solidFill>
            <a:schemeClr val="tx2"/>
          </a:solidFill>
          <a:ln/>
        </p:spPr>
      </p:sp>
      <p:sp>
        <p:nvSpPr>
          <p:cNvPr id="67" name="table-cell"/>
          <p:cNvSpPr/>
          <p:nvPr/>
        </p:nvSpPr>
        <p:spPr>
          <a:xfrm>
            <a:off x="7547801" y="2788920"/>
            <a:ext cx="365760" cy="182880"/>
          </a:xfrm>
          <a:prstGeom prst="rect">
            <a:avLst/>
          </a:prstGeom>
          <a:solidFill>
            <a:schemeClr val="tx2"/>
          </a:solidFill>
          <a:ln/>
        </p:spPr>
      </p:sp>
      <p:sp>
        <p:nvSpPr>
          <p:cNvPr id="68" name="table-cell"/>
          <p:cNvSpPr/>
          <p:nvPr/>
        </p:nvSpPr>
        <p:spPr>
          <a:xfrm>
            <a:off x="7940993" y="2788920"/>
            <a:ext cx="365760" cy="182880"/>
          </a:xfrm>
          <a:prstGeom prst="rect">
            <a:avLst/>
          </a:prstGeom>
          <a:solidFill>
            <a:schemeClr val="tx2"/>
          </a:solidFill>
          <a:ln/>
        </p:spPr>
      </p:sp>
      <p:sp>
        <p:nvSpPr>
          <p:cNvPr id="69" name="table-cell"/>
          <p:cNvSpPr/>
          <p:nvPr/>
        </p:nvSpPr>
        <p:spPr>
          <a:xfrm>
            <a:off x="6761417" y="2999232"/>
            <a:ext cx="365760" cy="182880"/>
          </a:xfrm>
          <a:prstGeom prst="rect">
            <a:avLst/>
          </a:prstGeom>
          <a:solidFill>
            <a:schemeClr val="bg1"/>
          </a:solidFill>
          <a:ln/>
        </p:spPr>
      </p:sp>
      <p:sp>
        <p:nvSpPr>
          <p:cNvPr id="70" name="table-cell"/>
          <p:cNvSpPr/>
          <p:nvPr/>
        </p:nvSpPr>
        <p:spPr>
          <a:xfrm>
            <a:off x="7154609" y="2999232"/>
            <a:ext cx="365760" cy="182880"/>
          </a:xfrm>
          <a:prstGeom prst="rect">
            <a:avLst/>
          </a:prstGeom>
          <a:solidFill>
            <a:schemeClr val="accent2"/>
          </a:solidFill>
          <a:ln/>
        </p:spPr>
      </p:sp>
      <p:sp>
        <p:nvSpPr>
          <p:cNvPr id="71" name="table-cell"/>
          <p:cNvSpPr/>
          <p:nvPr/>
        </p:nvSpPr>
        <p:spPr>
          <a:xfrm>
            <a:off x="7547801" y="2999232"/>
            <a:ext cx="365760" cy="182880"/>
          </a:xfrm>
          <a:prstGeom prst="rect">
            <a:avLst/>
          </a:prstGeom>
          <a:solidFill>
            <a:schemeClr val="bg1"/>
          </a:solidFill>
          <a:ln/>
        </p:spPr>
      </p:sp>
      <p:sp>
        <p:nvSpPr>
          <p:cNvPr id="72" name="table-cell"/>
          <p:cNvSpPr/>
          <p:nvPr/>
        </p:nvSpPr>
        <p:spPr>
          <a:xfrm>
            <a:off x="7940993" y="2999232"/>
            <a:ext cx="365760" cy="182880"/>
          </a:xfrm>
          <a:prstGeom prst="rect">
            <a:avLst/>
          </a:prstGeom>
          <a:solidFill>
            <a:schemeClr val="accent1"/>
          </a:solidFill>
          <a:ln/>
        </p:spPr>
      </p:sp>
      <p:sp>
        <p:nvSpPr>
          <p:cNvPr id="73" name="table-cell"/>
          <p:cNvSpPr/>
          <p:nvPr/>
        </p:nvSpPr>
        <p:spPr>
          <a:xfrm>
            <a:off x="6761417" y="3209544"/>
            <a:ext cx="365760" cy="182880"/>
          </a:xfrm>
          <a:prstGeom prst="rect">
            <a:avLst/>
          </a:prstGeom>
          <a:solidFill>
            <a:schemeClr val="bg1"/>
          </a:solidFill>
          <a:ln/>
        </p:spPr>
      </p:sp>
      <p:sp>
        <p:nvSpPr>
          <p:cNvPr id="74" name="table-cell"/>
          <p:cNvSpPr/>
          <p:nvPr/>
        </p:nvSpPr>
        <p:spPr>
          <a:xfrm>
            <a:off x="7154609" y="3209544"/>
            <a:ext cx="365760" cy="182880"/>
          </a:xfrm>
          <a:prstGeom prst="rect">
            <a:avLst/>
          </a:prstGeom>
          <a:solidFill>
            <a:schemeClr val="accent2"/>
          </a:solidFill>
          <a:ln/>
        </p:spPr>
      </p:sp>
      <p:sp>
        <p:nvSpPr>
          <p:cNvPr id="75" name="table-cell"/>
          <p:cNvSpPr/>
          <p:nvPr/>
        </p:nvSpPr>
        <p:spPr>
          <a:xfrm>
            <a:off x="7547801" y="3209544"/>
            <a:ext cx="365760" cy="182880"/>
          </a:xfrm>
          <a:prstGeom prst="rect">
            <a:avLst/>
          </a:prstGeom>
          <a:solidFill>
            <a:schemeClr val="bg1"/>
          </a:solidFill>
          <a:ln/>
        </p:spPr>
      </p:sp>
      <p:sp>
        <p:nvSpPr>
          <p:cNvPr id="76" name="table-cell"/>
          <p:cNvSpPr/>
          <p:nvPr/>
        </p:nvSpPr>
        <p:spPr>
          <a:xfrm>
            <a:off x="7940993" y="3209544"/>
            <a:ext cx="365760" cy="182880"/>
          </a:xfrm>
          <a:prstGeom prst="rect">
            <a:avLst/>
          </a:prstGeom>
          <a:solidFill>
            <a:schemeClr val="accent1"/>
          </a:solidFill>
          <a:ln/>
        </p:spPr>
      </p:sp>
      <p:sp>
        <p:nvSpPr>
          <p:cNvPr id="77" name="table-cell"/>
          <p:cNvSpPr/>
          <p:nvPr/>
        </p:nvSpPr>
        <p:spPr>
          <a:xfrm>
            <a:off x="6761417" y="3419856"/>
            <a:ext cx="365760" cy="182880"/>
          </a:xfrm>
          <a:prstGeom prst="rect">
            <a:avLst/>
          </a:prstGeom>
          <a:solidFill>
            <a:schemeClr val="bg1"/>
          </a:solidFill>
          <a:ln/>
        </p:spPr>
      </p:sp>
      <p:sp>
        <p:nvSpPr>
          <p:cNvPr id="78" name="table-cell"/>
          <p:cNvSpPr/>
          <p:nvPr/>
        </p:nvSpPr>
        <p:spPr>
          <a:xfrm>
            <a:off x="7154609" y="3419856"/>
            <a:ext cx="365760" cy="182880"/>
          </a:xfrm>
          <a:prstGeom prst="rect">
            <a:avLst/>
          </a:prstGeom>
          <a:solidFill>
            <a:schemeClr val="accent2"/>
          </a:solidFill>
          <a:ln/>
        </p:spPr>
      </p:sp>
      <p:sp>
        <p:nvSpPr>
          <p:cNvPr id="79" name="table-cell"/>
          <p:cNvSpPr/>
          <p:nvPr/>
        </p:nvSpPr>
        <p:spPr>
          <a:xfrm>
            <a:off x="7547801" y="3419856"/>
            <a:ext cx="365760" cy="182880"/>
          </a:xfrm>
          <a:prstGeom prst="rect">
            <a:avLst/>
          </a:prstGeom>
          <a:solidFill>
            <a:schemeClr val="bg1"/>
          </a:solidFill>
          <a:ln/>
        </p:spPr>
      </p:sp>
      <p:sp>
        <p:nvSpPr>
          <p:cNvPr id="80" name="table-cell"/>
          <p:cNvSpPr/>
          <p:nvPr/>
        </p:nvSpPr>
        <p:spPr>
          <a:xfrm>
            <a:off x="7940993" y="3419856"/>
            <a:ext cx="365760" cy="182880"/>
          </a:xfrm>
          <a:prstGeom prst="rect">
            <a:avLst/>
          </a:prstGeom>
          <a:solidFill>
            <a:schemeClr val="accent1"/>
          </a:solidFill>
          <a:ln/>
        </p:spPr>
      </p:sp>
      <p:sp>
        <p:nvSpPr>
          <p:cNvPr id="81" name="table-cell"/>
          <p:cNvSpPr/>
          <p:nvPr/>
        </p:nvSpPr>
        <p:spPr>
          <a:xfrm>
            <a:off x="6761417" y="3630168"/>
            <a:ext cx="365760" cy="182880"/>
          </a:xfrm>
          <a:prstGeom prst="rect">
            <a:avLst/>
          </a:prstGeom>
          <a:solidFill>
            <a:schemeClr val="bg1"/>
          </a:solidFill>
          <a:ln/>
        </p:spPr>
      </p:sp>
      <p:sp>
        <p:nvSpPr>
          <p:cNvPr id="82" name="table-cell"/>
          <p:cNvSpPr/>
          <p:nvPr/>
        </p:nvSpPr>
        <p:spPr>
          <a:xfrm>
            <a:off x="7154609" y="3630168"/>
            <a:ext cx="365760" cy="182880"/>
          </a:xfrm>
          <a:prstGeom prst="rect">
            <a:avLst/>
          </a:prstGeom>
          <a:solidFill>
            <a:schemeClr val="accent2"/>
          </a:solidFill>
          <a:ln/>
        </p:spPr>
      </p:sp>
      <p:sp>
        <p:nvSpPr>
          <p:cNvPr id="83" name="table-cell"/>
          <p:cNvSpPr/>
          <p:nvPr/>
        </p:nvSpPr>
        <p:spPr>
          <a:xfrm>
            <a:off x="7547801" y="3630168"/>
            <a:ext cx="365760" cy="182880"/>
          </a:xfrm>
          <a:prstGeom prst="rect">
            <a:avLst/>
          </a:prstGeom>
          <a:solidFill>
            <a:schemeClr val="bg1"/>
          </a:solidFill>
          <a:ln/>
        </p:spPr>
      </p:sp>
      <p:sp>
        <p:nvSpPr>
          <p:cNvPr id="84" name="table-cell"/>
          <p:cNvSpPr/>
          <p:nvPr/>
        </p:nvSpPr>
        <p:spPr>
          <a:xfrm>
            <a:off x="7940993" y="3630168"/>
            <a:ext cx="365760" cy="182880"/>
          </a:xfrm>
          <a:prstGeom prst="rect">
            <a:avLst/>
          </a:prstGeom>
          <a:solidFill>
            <a:schemeClr val="accent1"/>
          </a:solidFill>
          <a:ln/>
        </p:spPr>
      </p:sp>
      <p:sp>
        <p:nvSpPr>
          <p:cNvPr id="85" name="yhat-328"/>
          <p:cNvSpPr txBox="1"/>
          <p:nvPr/>
        </p:nvSpPr>
        <p:spPr>
          <a:xfrm>
            <a:off x="7940993" y="2788920"/>
            <a:ext cx="365760" cy="182880"/>
          </a:xfrm>
          <a:prstGeom prst="rect">
            <a:avLst/>
          </a:prstGeom>
          <a:noFill/>
          <a:ln/>
        </p:spPr>
        <p:txBody>
          <a:bodyPr wrap="square" lIns="0" tIns="0" rIns="0" bIns="0" rtlCol="0" anchor="ctr"/>
          <a:lstStyle/>
          <a:p>
            <a:pPr algn="ctr" indent="0" marL="0">
              <a:buNone/>
            </a:pPr>
            <a:r>
              <a:rPr lang="en-US" sz="1000" b="1" dirty="0">
                <a:solidFill>
                  <a:schemeClr val="bg1"/>
                </a:solidFill>
              </a:rPr>
              <a:t>ŷ</a:t>
            </a:r>
            <a:endParaRPr lang="en-US" sz="1000" dirty="0"/>
          </a:p>
        </p:txBody>
      </p:sp>
      <p:sp>
        <p:nvSpPr>
          <p:cNvPr id="86" name="step-arrow"/>
          <p:cNvSpPr/>
          <p:nvPr/>
        </p:nvSpPr>
        <p:spPr>
          <a:xfrm>
            <a:off x="8839733" y="3108960"/>
            <a:ext cx="274320" cy="320040"/>
          </a:xfrm>
          <a:prstGeom prst="rightArrow">
            <a:avLst/>
          </a:prstGeom>
          <a:solidFill>
            <a:schemeClr val="accent2"/>
          </a:solidFill>
          <a:ln/>
        </p:spPr>
      </p:sp>
      <p:sp>
        <p:nvSpPr>
          <p:cNvPr id="87" name="line-329"/>
          <p:cNvSpPr/>
          <p:nvPr/>
        </p:nvSpPr>
        <p:spPr>
          <a:xfrm>
            <a:off x="6484468" y="4114800"/>
            <a:ext cx="2099234" cy="0"/>
          </a:xfrm>
          <a:prstGeom prst="line">
            <a:avLst/>
          </a:prstGeom>
          <a:noFill/>
          <a:ln w="9525">
            <a:solidFill>
              <a:srgbClr val="9DB7C2"/>
            </a:solidFill>
            <a:prstDash val="solid"/>
          </a:ln>
        </p:spPr>
      </p:sp>
      <p:sp>
        <p:nvSpPr>
          <p:cNvPr id="88" name="pfi-tag-330"/>
          <p:cNvSpPr txBox="1"/>
          <p:nvPr/>
        </p:nvSpPr>
        <p:spPr>
          <a:xfrm>
            <a:off x="6484468" y="4251960"/>
            <a:ext cx="914400" cy="274320"/>
          </a:xfrm>
          <a:prstGeom prst="rect">
            <a:avLst/>
          </a:prstGeom>
          <a:noFill/>
          <a:ln/>
        </p:spPr>
        <p:txBody>
          <a:bodyPr wrap="square" lIns="0" tIns="0" rIns="0" bIns="0" rtlCol="0" anchor="t"/>
          <a:lstStyle/>
          <a:p>
            <a:pPr indent="0" marL="0">
              <a:buNone/>
            </a:pPr>
            <a:r>
              <a:rPr lang="en-US" sz="1100" b="1" spc="100" kern="0" dirty="0">
                <a:solidFill>
                  <a:schemeClr val="accent2"/>
                </a:solidFill>
              </a:rPr>
              <a:t>PFI</a:t>
            </a:r>
            <a:endParaRPr lang="en-US" sz="1100" dirty="0"/>
          </a:p>
        </p:txBody>
      </p:sp>
      <p:sp>
        <p:nvSpPr>
          <p:cNvPr id="89" name="pfi-text-331"/>
          <p:cNvSpPr txBox="1"/>
          <p:nvPr/>
        </p:nvSpPr>
        <p:spPr>
          <a:xfrm>
            <a:off x="6484468" y="4526280"/>
            <a:ext cx="2099234" cy="914400"/>
          </a:xfrm>
          <a:prstGeom prst="rect">
            <a:avLst/>
          </a:prstGeom>
          <a:noFill/>
          <a:ln/>
        </p:spPr>
        <p:txBody>
          <a:bodyPr wrap="square" lIns="0" tIns="0" rIns="0" bIns="0" rtlCol="0" anchor="t"/>
          <a:lstStyle/>
          <a:p>
            <a:pPr indent="0" marL="0">
              <a:buNone/>
            </a:pPr>
            <a:r>
              <a:rPr lang="en-US" sz="1500" dirty="0">
                <a:solidFill>
                  <a:schemeClr val="tx1"/>
                </a:solidFill>
              </a:rPr>
              <a:t>Get new model predictions</a:t>
            </a:r>
            <a:endParaRPr lang="en-US" sz="1500" dirty="0"/>
          </a:p>
        </p:txBody>
      </p:sp>
      <p:sp>
        <p:nvSpPr>
          <p:cNvPr id="90" name="step-card-332"/>
          <p:cNvSpPr/>
          <p:nvPr/>
        </p:nvSpPr>
        <p:spPr>
          <a:xfrm>
            <a:off x="9178061" y="1554480"/>
            <a:ext cx="2464994" cy="4023360"/>
          </a:xfrm>
          <a:prstGeom prst="roundRect">
            <a:avLst>
              <a:gd name="adj" fmla="val 3710"/>
            </a:avLst>
          </a:prstGeom>
          <a:solidFill>
            <a:schemeClr val="bg2"/>
          </a:solidFill>
          <a:ln/>
        </p:spPr>
      </p:sp>
      <p:sp>
        <p:nvSpPr>
          <p:cNvPr id="91" name="pill-333"/>
          <p:cNvSpPr/>
          <p:nvPr/>
        </p:nvSpPr>
        <p:spPr>
          <a:xfrm>
            <a:off x="9360941" y="1755648"/>
            <a:ext cx="411480" cy="411480"/>
          </a:xfrm>
          <a:prstGeom prst="roundRect">
            <a:avLst>
              <a:gd name="adj" fmla="val 50000"/>
            </a:avLst>
          </a:prstGeom>
          <a:solidFill>
            <a:schemeClr val="accent1"/>
          </a:solidFill>
          <a:ln/>
        </p:spPr>
      </p:sp>
      <p:sp>
        <p:nvSpPr>
          <p:cNvPr id="92" name="pill-text-334"/>
          <p:cNvSpPr txBox="1"/>
          <p:nvPr/>
        </p:nvSpPr>
        <p:spPr>
          <a:xfrm>
            <a:off x="9360941" y="175564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93" name="step-title-335"/>
          <p:cNvSpPr txBox="1"/>
          <p:nvPr/>
        </p:nvSpPr>
        <p:spPr>
          <a:xfrm>
            <a:off x="9891293" y="1737360"/>
            <a:ext cx="1642034" cy="457200"/>
          </a:xfrm>
          <a:prstGeom prst="rect">
            <a:avLst/>
          </a:prstGeom>
          <a:noFill/>
          <a:ln/>
        </p:spPr>
        <p:txBody>
          <a:bodyPr wrap="square" lIns="0" tIns="0" rIns="0" bIns="0" rtlCol="0" anchor="ctr"/>
          <a:lstStyle/>
          <a:p>
            <a:pPr indent="0" marL="0">
              <a:buNone/>
            </a:pPr>
            <a:r>
              <a:rPr lang="en-US" sz="2000" b="1" dirty="0">
                <a:solidFill>
                  <a:schemeClr val="tx2"/>
                </a:solidFill>
                <a:latin typeface="Avenir" pitchFamily="34" charset="0"/>
                <a:ea typeface="Avenir" pitchFamily="34" charset="-122"/>
                <a:cs typeface="Avenir" pitchFamily="34" charset="-120"/>
              </a:rPr>
              <a:t>Aggregate</a:t>
            </a:r>
            <a:endParaRPr lang="en-US" sz="2000" dirty="0"/>
          </a:p>
        </p:txBody>
      </p:sp>
      <p:sp>
        <p:nvSpPr>
          <p:cNvPr id="94" name="step-desc-336"/>
          <p:cNvSpPr txBox="1"/>
          <p:nvPr/>
        </p:nvSpPr>
        <p:spPr>
          <a:xfrm>
            <a:off x="9360941" y="2267712"/>
            <a:ext cx="2099234" cy="365760"/>
          </a:xfrm>
          <a:prstGeom prst="rect">
            <a:avLst/>
          </a:prstGeom>
          <a:noFill/>
          <a:ln/>
        </p:spPr>
        <p:txBody>
          <a:bodyPr wrap="square" lIns="0" tIns="0" rIns="0" bIns="0" rtlCol="0" anchor="t"/>
          <a:lstStyle/>
          <a:p>
            <a:pPr indent="0" marL="0">
              <a:buNone/>
            </a:pPr>
            <a:r>
              <a:rPr lang="en-US" sz="1300" i="1" dirty="0">
                <a:solidFill>
                  <a:schemeClr val="accent1"/>
                </a:solidFill>
              </a:rPr>
              <a:t>Summarize the results</a:t>
            </a:r>
            <a:endParaRPr lang="en-US" sz="1300" dirty="0"/>
          </a:p>
        </p:txBody>
      </p:sp>
      <p:sp>
        <p:nvSpPr>
          <p:cNvPr id="95" name="bar-label-337"/>
          <p:cNvSpPr txBox="1"/>
          <p:nvPr/>
        </p:nvSpPr>
        <p:spPr>
          <a:xfrm>
            <a:off x="9452381" y="2743200"/>
            <a:ext cx="1916354" cy="228600"/>
          </a:xfrm>
          <a:prstGeom prst="rect">
            <a:avLst/>
          </a:prstGeom>
          <a:noFill/>
          <a:ln/>
        </p:spPr>
        <p:txBody>
          <a:bodyPr wrap="square" lIns="0" tIns="0" rIns="0" bIns="0" rtlCol="0" anchor="t"/>
          <a:lstStyle/>
          <a:p>
            <a:pPr indent="0" marL="0">
              <a:buNone/>
            </a:pPr>
            <a:r>
              <a:rPr lang="en-US" sz="1100" dirty="0">
                <a:solidFill>
                  <a:schemeClr val="tx2"/>
                </a:solidFill>
              </a:rPr>
              <a:t>original loss</a:t>
            </a:r>
            <a:endParaRPr lang="en-US" sz="1100" dirty="0"/>
          </a:p>
        </p:txBody>
      </p:sp>
      <p:sp>
        <p:nvSpPr>
          <p:cNvPr id="96" name="bar-orig"/>
          <p:cNvSpPr/>
          <p:nvPr/>
        </p:nvSpPr>
        <p:spPr>
          <a:xfrm>
            <a:off x="9452381" y="2990088"/>
            <a:ext cx="777240" cy="256032"/>
          </a:xfrm>
          <a:prstGeom prst="rect">
            <a:avLst/>
          </a:prstGeom>
          <a:solidFill>
            <a:schemeClr val="accent6"/>
          </a:solidFill>
          <a:ln/>
        </p:spPr>
      </p:sp>
      <p:sp>
        <p:nvSpPr>
          <p:cNvPr id="97" name="bar-label-338"/>
          <p:cNvSpPr txBox="1"/>
          <p:nvPr/>
        </p:nvSpPr>
        <p:spPr>
          <a:xfrm>
            <a:off x="9452381" y="3337560"/>
            <a:ext cx="1916354" cy="228600"/>
          </a:xfrm>
          <a:prstGeom prst="rect">
            <a:avLst/>
          </a:prstGeom>
          <a:noFill/>
          <a:ln/>
        </p:spPr>
        <p:txBody>
          <a:bodyPr wrap="square" lIns="0" tIns="0" rIns="0" bIns="0" rtlCol="0" anchor="t"/>
          <a:lstStyle/>
          <a:p>
            <a:pPr indent="0" marL="0">
              <a:buNone/>
            </a:pPr>
            <a:r>
              <a:rPr lang="en-US" sz="1100" dirty="0">
                <a:solidFill>
                  <a:schemeClr val="tx2"/>
                </a:solidFill>
              </a:rPr>
              <a:t>after shuffling</a:t>
            </a:r>
            <a:endParaRPr lang="en-US" sz="1100" dirty="0"/>
          </a:p>
        </p:txBody>
      </p:sp>
      <p:sp>
        <p:nvSpPr>
          <p:cNvPr id="98" name="bar-perm"/>
          <p:cNvSpPr/>
          <p:nvPr/>
        </p:nvSpPr>
        <p:spPr>
          <a:xfrm>
            <a:off x="9452381" y="3584448"/>
            <a:ext cx="1600200" cy="256032"/>
          </a:xfrm>
          <a:prstGeom prst="rect">
            <a:avLst/>
          </a:prstGeom>
          <a:solidFill>
            <a:schemeClr val="accent2"/>
          </a:solidFill>
          <a:ln/>
        </p:spPr>
      </p:sp>
      <p:sp>
        <p:nvSpPr>
          <p:cNvPr id="99" name="line-339"/>
          <p:cNvSpPr/>
          <p:nvPr/>
        </p:nvSpPr>
        <p:spPr>
          <a:xfrm>
            <a:off x="9360941" y="4114800"/>
            <a:ext cx="2099234" cy="0"/>
          </a:xfrm>
          <a:prstGeom prst="line">
            <a:avLst/>
          </a:prstGeom>
          <a:noFill/>
          <a:ln w="9525">
            <a:solidFill>
              <a:srgbClr val="9DB7C2"/>
            </a:solidFill>
            <a:prstDash val="solid"/>
          </a:ln>
        </p:spPr>
      </p:sp>
      <p:sp>
        <p:nvSpPr>
          <p:cNvPr id="100" name="pfi-tag-340"/>
          <p:cNvSpPr txBox="1"/>
          <p:nvPr/>
        </p:nvSpPr>
        <p:spPr>
          <a:xfrm>
            <a:off x="9360941" y="4251960"/>
            <a:ext cx="914400" cy="274320"/>
          </a:xfrm>
          <a:prstGeom prst="rect">
            <a:avLst/>
          </a:prstGeom>
          <a:noFill/>
          <a:ln/>
        </p:spPr>
        <p:txBody>
          <a:bodyPr wrap="square" lIns="0" tIns="0" rIns="0" bIns="0" rtlCol="0" anchor="t"/>
          <a:lstStyle/>
          <a:p>
            <a:pPr indent="0" marL="0">
              <a:buNone/>
            </a:pPr>
            <a:r>
              <a:rPr lang="en-US" sz="1100" b="1" spc="100" kern="0" dirty="0">
                <a:solidFill>
                  <a:schemeClr val="accent2"/>
                </a:solidFill>
              </a:rPr>
              <a:t>PFI</a:t>
            </a:r>
            <a:endParaRPr lang="en-US" sz="1100" dirty="0"/>
          </a:p>
        </p:txBody>
      </p:sp>
      <p:sp>
        <p:nvSpPr>
          <p:cNvPr id="101" name="pfi-text-341"/>
          <p:cNvSpPr txBox="1"/>
          <p:nvPr/>
        </p:nvSpPr>
        <p:spPr>
          <a:xfrm>
            <a:off x="9360941" y="4526280"/>
            <a:ext cx="2099234" cy="914400"/>
          </a:xfrm>
          <a:prstGeom prst="rect">
            <a:avLst/>
          </a:prstGeom>
          <a:noFill/>
          <a:ln/>
        </p:spPr>
        <p:txBody>
          <a:bodyPr wrap="square" lIns="0" tIns="0" rIns="0" bIns="0" rtlCol="0" anchor="t"/>
          <a:lstStyle/>
          <a:p>
            <a:pPr indent="0" marL="0">
              <a:buNone/>
            </a:pPr>
            <a:r>
              <a:rPr lang="en-US" sz="1500" dirty="0">
                <a:solidFill>
                  <a:schemeClr val="tx1"/>
                </a:solidFill>
              </a:rPr>
              <a:t>Compare the new loss with the original loss</a:t>
            </a:r>
            <a:endParaRPr lang="en-US" sz="1500" dirty="0"/>
          </a:p>
        </p:txBody>
      </p:sp>
      <p:sp>
        <p:nvSpPr>
          <p:cNvPr id="102" name="sipa-note-342"/>
          <p:cNvSpPr txBox="1"/>
          <p:nvPr/>
        </p:nvSpPr>
        <p:spPr>
          <a:xfrm>
            <a:off x="548640" y="5760720"/>
            <a:ext cx="11094415" cy="411480"/>
          </a:xfrm>
          <a:prstGeom prst="rect">
            <a:avLst/>
          </a:prstGeom>
          <a:noFill/>
          <a:ln/>
        </p:spPr>
        <p:txBody>
          <a:bodyPr wrap="square" lIns="0" tIns="0" rIns="0" bIns="0" rtlCol="0" anchor="t"/>
          <a:lstStyle/>
          <a:p>
            <a:pPr indent="0" marL="0">
              <a:buNone/>
            </a:pPr>
            <a:r>
              <a:rPr lang="en-US" sz="1500" b="1" dirty="0">
                <a:solidFill>
                  <a:schemeClr val="tx2"/>
                </a:solidFill>
              </a:rPr>
              <a:t>Example: permutation feature importance (PFI). </a:t>
            </a:r>
            <a:pPr indent="0" marL="0">
              <a:buNone/>
            </a:pPr>
            <a:r>
              <a:rPr lang="en-US" sz="1500" dirty="0">
                <a:solidFill>
                  <a:schemeClr val="tx1"/>
                </a:solidFill>
              </a:rPr>
              <a:t>Only inputs and outputs are used (Scholbeck et al., 2020).</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5852160" cy="292608"/>
          </a:xfrm>
          <a:prstGeom prst="rect">
            <a:avLst/>
          </a:prstGeom>
          <a:noFill/>
          <a:ln/>
        </p:spPr>
        <p:txBody>
          <a:bodyPr wrap="square" lIns="0" tIns="0" rIns="0" bIns="0" rtlCol="0" anchor="b"/>
          <a:lstStyle/>
          <a:p>
            <a:pPr algn="l" indent="0" marL="0">
              <a:buNone/>
            </a:pPr>
            <a:r>
              <a:rPr lang="en-US" sz="1200" b="1" spc="200" kern="0" dirty="0">
                <a:solidFill>
                  <a:schemeClr val="accent1"/>
                </a:solidFill>
              </a:rPr>
              <a:t>FLEXIBILITY</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200" b="1" dirty="0">
                <a:solidFill>
                  <a:schemeClr val="tx2"/>
                </a:solidFill>
                <a:latin typeface="Avenir" pitchFamily="34" charset="0"/>
                <a:ea typeface="Avenir" pitchFamily="34" charset="-122"/>
                <a:cs typeface="Avenir" pitchFamily="34" charset="-120"/>
              </a:rPr>
              <a:t>Separating explanation from the model brings flexibility</a:t>
            </a:r>
            <a:endParaRPr lang="en-US" sz="3200" dirty="0"/>
          </a:p>
        </p:txBody>
      </p:sp>
      <p:sp>
        <p:nvSpPr>
          <p:cNvPr id="4" name="pill-343"/>
          <p:cNvSpPr/>
          <p:nvPr/>
        </p:nvSpPr>
        <p:spPr>
          <a:xfrm>
            <a:off x="6357823" y="274320"/>
            <a:ext cx="1280160" cy="274320"/>
          </a:xfrm>
          <a:prstGeom prst="roundRect">
            <a:avLst>
              <a:gd name="adj" fmla="val 50000"/>
            </a:avLst>
          </a:prstGeom>
          <a:solidFill>
            <a:schemeClr val="bg2"/>
          </a:solidFill>
          <a:ln/>
        </p:spPr>
      </p:sp>
      <p:sp>
        <p:nvSpPr>
          <p:cNvPr id="5" name="pill-text-344"/>
          <p:cNvSpPr txBox="1"/>
          <p:nvPr/>
        </p:nvSpPr>
        <p:spPr>
          <a:xfrm>
            <a:off x="6357823"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By design</a:t>
            </a:r>
            <a:endParaRPr lang="en-US" sz="1000" dirty="0"/>
          </a:p>
        </p:txBody>
      </p:sp>
      <p:sp>
        <p:nvSpPr>
          <p:cNvPr id="6" name="pill-345"/>
          <p:cNvSpPr/>
          <p:nvPr/>
        </p:nvSpPr>
        <p:spPr>
          <a:xfrm>
            <a:off x="7692847" y="274320"/>
            <a:ext cx="1280160" cy="274320"/>
          </a:xfrm>
          <a:prstGeom prst="roundRect">
            <a:avLst>
              <a:gd name="adj" fmla="val 50000"/>
            </a:avLst>
          </a:prstGeom>
          <a:solidFill>
            <a:schemeClr val="accent1"/>
          </a:solidFill>
          <a:ln/>
        </p:spPr>
      </p:sp>
      <p:sp>
        <p:nvSpPr>
          <p:cNvPr id="7" name="pill-text-346"/>
          <p:cNvSpPr txBox="1"/>
          <p:nvPr/>
        </p:nvSpPr>
        <p:spPr>
          <a:xfrm>
            <a:off x="7692847" y="274320"/>
            <a:ext cx="1280160" cy="274320"/>
          </a:xfrm>
          <a:prstGeom prst="rect">
            <a:avLst/>
          </a:prstGeom>
          <a:noFill/>
          <a:ln/>
        </p:spPr>
        <p:txBody>
          <a:bodyPr wrap="square" lIns="0" tIns="0" rIns="0" bIns="0" rtlCol="0" anchor="ctr"/>
          <a:lstStyle/>
          <a:p>
            <a:pPr algn="ctr" indent="0" marL="0">
              <a:buNone/>
            </a:pPr>
            <a:r>
              <a:rPr lang="en-US" sz="1000" b="1" dirty="0">
                <a:solidFill>
                  <a:schemeClr val="bg1"/>
                </a:solidFill>
              </a:rPr>
              <a:t>Model-agnostic</a:t>
            </a:r>
            <a:endParaRPr lang="en-US" sz="1000" dirty="0"/>
          </a:p>
        </p:txBody>
      </p:sp>
      <p:sp>
        <p:nvSpPr>
          <p:cNvPr id="8" name="pill-347"/>
          <p:cNvSpPr/>
          <p:nvPr/>
        </p:nvSpPr>
        <p:spPr>
          <a:xfrm>
            <a:off x="9027871" y="274320"/>
            <a:ext cx="1280160" cy="274320"/>
          </a:xfrm>
          <a:prstGeom prst="roundRect">
            <a:avLst>
              <a:gd name="adj" fmla="val 50000"/>
            </a:avLst>
          </a:prstGeom>
          <a:solidFill>
            <a:schemeClr val="bg2"/>
          </a:solidFill>
          <a:ln/>
        </p:spPr>
      </p:sp>
      <p:sp>
        <p:nvSpPr>
          <p:cNvPr id="9" name="pill-text-348"/>
          <p:cNvSpPr txBox="1"/>
          <p:nvPr/>
        </p:nvSpPr>
        <p:spPr>
          <a:xfrm>
            <a:off x="9027871"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Model-specific</a:t>
            </a:r>
            <a:endParaRPr lang="en-US" sz="1000" dirty="0"/>
          </a:p>
        </p:txBody>
      </p:sp>
      <p:sp>
        <p:nvSpPr>
          <p:cNvPr id="10" name="pill-349"/>
          <p:cNvSpPr/>
          <p:nvPr/>
        </p:nvSpPr>
        <p:spPr>
          <a:xfrm>
            <a:off x="10362895" y="274320"/>
            <a:ext cx="1280160" cy="274320"/>
          </a:xfrm>
          <a:prstGeom prst="roundRect">
            <a:avLst>
              <a:gd name="adj" fmla="val 50000"/>
            </a:avLst>
          </a:prstGeom>
          <a:solidFill>
            <a:schemeClr val="bg2"/>
          </a:solidFill>
          <a:ln/>
        </p:spPr>
      </p:sp>
      <p:sp>
        <p:nvSpPr>
          <p:cNvPr id="11" name="pill-text-350"/>
          <p:cNvSpPr txBox="1"/>
          <p:nvPr/>
        </p:nvSpPr>
        <p:spPr>
          <a:xfrm>
            <a:off x="10362895"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Synthesis</a:t>
            </a:r>
            <a:endParaRPr lang="en-US" sz="1000" dirty="0"/>
          </a:p>
        </p:txBody>
      </p:sp>
      <p:sp>
        <p:nvSpPr>
          <p:cNvPr id="12" name="layer-351"/>
          <p:cNvSpPr/>
          <p:nvPr/>
        </p:nvSpPr>
        <p:spPr>
          <a:xfrm>
            <a:off x="548640" y="1554480"/>
            <a:ext cx="5760720" cy="777240"/>
          </a:xfrm>
          <a:prstGeom prst="roundRect">
            <a:avLst>
              <a:gd name="adj" fmla="val 11765"/>
            </a:avLst>
          </a:prstGeom>
          <a:solidFill>
            <a:schemeClr val="bg1"/>
          </a:solidFill>
          <a:ln w="15875">
            <a:solidFill>
              <a:schemeClr val="bg2"/>
            </a:solidFill>
            <a:prstDash val="solid"/>
          </a:ln>
        </p:spPr>
      </p:sp>
      <p:sp>
        <p:nvSpPr>
          <p:cNvPr id="13" name="layer-label-352"/>
          <p:cNvSpPr txBox="1"/>
          <p:nvPr/>
        </p:nvSpPr>
        <p:spPr>
          <a:xfrm>
            <a:off x="777240" y="1554480"/>
            <a:ext cx="1554480" cy="777240"/>
          </a:xfrm>
          <a:prstGeom prst="rect">
            <a:avLst/>
          </a:prstGeom>
          <a:noFill/>
          <a:ln/>
        </p:spPr>
        <p:txBody>
          <a:bodyPr wrap="square" lIns="0" tIns="0" rIns="0" bIns="0" rtlCol="0" anchor="ctr"/>
          <a:lstStyle/>
          <a:p>
            <a:pPr indent="0" marL="0">
              <a:buNone/>
            </a:pPr>
            <a:r>
              <a:rPr lang="en-US" sz="1600" b="1" dirty="0">
                <a:solidFill>
                  <a:schemeClr val="tx2"/>
                </a:solidFill>
              </a:rPr>
              <a:t>Humans</a:t>
            </a:r>
            <a:endParaRPr lang="en-US" sz="1600" dirty="0"/>
          </a:p>
        </p:txBody>
      </p:sp>
      <p:sp>
        <p:nvSpPr>
          <p:cNvPr id="14" name="layer-arrow"/>
          <p:cNvSpPr/>
          <p:nvPr/>
        </p:nvSpPr>
        <p:spPr>
          <a:xfrm>
            <a:off x="3291840" y="2386584"/>
            <a:ext cx="274320" cy="283464"/>
          </a:xfrm>
          <a:prstGeom prst="upArrow">
            <a:avLst/>
          </a:prstGeom>
          <a:solidFill>
            <a:schemeClr val="accent6"/>
          </a:solidFill>
          <a:ln/>
        </p:spPr>
      </p:sp>
      <p:sp>
        <p:nvSpPr>
          <p:cNvPr id="15" name="layer-verb-353"/>
          <p:cNvSpPr txBox="1"/>
          <p:nvPr/>
        </p:nvSpPr>
        <p:spPr>
          <a:xfrm>
            <a:off x="3657600" y="2331720"/>
            <a:ext cx="1371600" cy="393192"/>
          </a:xfrm>
          <a:prstGeom prst="rect">
            <a:avLst/>
          </a:prstGeom>
          <a:noFill/>
          <a:ln/>
        </p:spPr>
        <p:txBody>
          <a:bodyPr wrap="square" lIns="0" tIns="0" rIns="0" bIns="0" rtlCol="0" anchor="ctr"/>
          <a:lstStyle/>
          <a:p>
            <a:pPr indent="0" marL="0">
              <a:buNone/>
            </a:pPr>
            <a:r>
              <a:rPr lang="en-US" sz="1200" i="1" dirty="0">
                <a:solidFill>
                  <a:schemeClr val="tx2"/>
                </a:solidFill>
              </a:rPr>
              <a:t>inform</a:t>
            </a:r>
            <a:endParaRPr lang="en-US" sz="1200" dirty="0"/>
          </a:p>
        </p:txBody>
      </p:sp>
      <p:sp>
        <p:nvSpPr>
          <p:cNvPr id="16" name="layer-354"/>
          <p:cNvSpPr/>
          <p:nvPr/>
        </p:nvSpPr>
        <p:spPr>
          <a:xfrm>
            <a:off x="548640" y="2724912"/>
            <a:ext cx="5760720" cy="777240"/>
          </a:xfrm>
          <a:prstGeom prst="roundRect">
            <a:avLst>
              <a:gd name="adj" fmla="val 11765"/>
            </a:avLst>
          </a:prstGeom>
          <a:solidFill>
            <a:schemeClr val="bg2"/>
          </a:solidFill>
          <a:ln/>
        </p:spPr>
      </p:sp>
      <p:sp>
        <p:nvSpPr>
          <p:cNvPr id="17" name="layer-label-355"/>
          <p:cNvSpPr txBox="1"/>
          <p:nvPr/>
        </p:nvSpPr>
        <p:spPr>
          <a:xfrm>
            <a:off x="777240" y="2724912"/>
            <a:ext cx="1554480" cy="777240"/>
          </a:xfrm>
          <a:prstGeom prst="rect">
            <a:avLst/>
          </a:prstGeom>
          <a:noFill/>
          <a:ln/>
        </p:spPr>
        <p:txBody>
          <a:bodyPr wrap="square" lIns="0" tIns="0" rIns="0" bIns="0" rtlCol="0" anchor="ctr"/>
          <a:lstStyle/>
          <a:p>
            <a:pPr indent="0" marL="0">
              <a:buNone/>
            </a:pPr>
            <a:r>
              <a:rPr lang="en-US" sz="1600" b="1" dirty="0">
                <a:solidFill>
                  <a:schemeClr val="tx2"/>
                </a:solidFill>
              </a:rPr>
              <a:t>Interpretation</a:t>
            </a:r>
            <a:endParaRPr lang="en-US" sz="1600" dirty="0"/>
          </a:p>
        </p:txBody>
      </p:sp>
      <p:sp>
        <p:nvSpPr>
          <p:cNvPr id="18" name="chip-356"/>
          <p:cNvSpPr/>
          <p:nvPr/>
        </p:nvSpPr>
        <p:spPr>
          <a:xfrm>
            <a:off x="2377440" y="2907792"/>
            <a:ext cx="1188720" cy="411480"/>
          </a:xfrm>
          <a:prstGeom prst="roundRect">
            <a:avLst>
              <a:gd name="adj" fmla="val 48889"/>
            </a:avLst>
          </a:prstGeom>
          <a:solidFill>
            <a:schemeClr val="accent1"/>
          </a:solidFill>
          <a:ln/>
        </p:spPr>
      </p:sp>
      <p:sp>
        <p:nvSpPr>
          <p:cNvPr id="19" name="chip-text-357"/>
          <p:cNvSpPr txBox="1"/>
          <p:nvPr/>
        </p:nvSpPr>
        <p:spPr>
          <a:xfrm>
            <a:off x="2377440" y="2907792"/>
            <a:ext cx="1188720" cy="411480"/>
          </a:xfrm>
          <a:prstGeom prst="rect">
            <a:avLst/>
          </a:prstGeom>
          <a:noFill/>
          <a:ln/>
        </p:spPr>
        <p:txBody>
          <a:bodyPr wrap="square" lIns="0" tIns="0" rIns="0" bIns="0" rtlCol="0" anchor="ctr"/>
          <a:lstStyle/>
          <a:p>
            <a:pPr algn="ctr" indent="0" marL="0">
              <a:buNone/>
            </a:pPr>
            <a:r>
              <a:rPr lang="en-US" sz="1300" b="1" dirty="0">
                <a:solidFill>
                  <a:schemeClr val="bg1"/>
                </a:solidFill>
              </a:rPr>
              <a:t>PDP</a:t>
            </a:r>
            <a:endParaRPr lang="en-US" sz="1300" dirty="0"/>
          </a:p>
        </p:txBody>
      </p:sp>
      <p:sp>
        <p:nvSpPr>
          <p:cNvPr id="20" name="chip-358"/>
          <p:cNvSpPr/>
          <p:nvPr/>
        </p:nvSpPr>
        <p:spPr>
          <a:xfrm>
            <a:off x="3657600" y="2907792"/>
            <a:ext cx="1188720" cy="411480"/>
          </a:xfrm>
          <a:prstGeom prst="roundRect">
            <a:avLst>
              <a:gd name="adj" fmla="val 48889"/>
            </a:avLst>
          </a:prstGeom>
          <a:solidFill>
            <a:schemeClr val="bg1"/>
          </a:solidFill>
          <a:ln w="12700">
            <a:solidFill>
              <a:schemeClr val="accent6"/>
            </a:solidFill>
            <a:prstDash val="solid"/>
          </a:ln>
        </p:spPr>
      </p:sp>
      <p:sp>
        <p:nvSpPr>
          <p:cNvPr id="21" name="chip-text-359"/>
          <p:cNvSpPr txBox="1"/>
          <p:nvPr/>
        </p:nvSpPr>
        <p:spPr>
          <a:xfrm>
            <a:off x="3657600" y="2907792"/>
            <a:ext cx="1188720" cy="411480"/>
          </a:xfrm>
          <a:prstGeom prst="rect">
            <a:avLst/>
          </a:prstGeom>
          <a:noFill/>
          <a:ln/>
        </p:spPr>
        <p:txBody>
          <a:bodyPr wrap="square" lIns="0" tIns="0" rIns="0" bIns="0" rtlCol="0" anchor="ctr"/>
          <a:lstStyle/>
          <a:p>
            <a:pPr algn="ctr" indent="0" marL="0">
              <a:buNone/>
            </a:pPr>
            <a:r>
              <a:rPr lang="en-US" sz="1300" dirty="0">
                <a:solidFill>
                  <a:schemeClr val="tx2"/>
                </a:solidFill>
              </a:rPr>
              <a:t>ALE</a:t>
            </a:r>
            <a:endParaRPr lang="en-US" sz="1300" dirty="0"/>
          </a:p>
        </p:txBody>
      </p:sp>
      <p:sp>
        <p:nvSpPr>
          <p:cNvPr id="22" name="chip-360"/>
          <p:cNvSpPr/>
          <p:nvPr/>
        </p:nvSpPr>
        <p:spPr>
          <a:xfrm>
            <a:off x="4937760" y="2907792"/>
            <a:ext cx="1188720" cy="411480"/>
          </a:xfrm>
          <a:prstGeom prst="roundRect">
            <a:avLst>
              <a:gd name="adj" fmla="val 48889"/>
            </a:avLst>
          </a:prstGeom>
          <a:solidFill>
            <a:schemeClr val="bg1"/>
          </a:solidFill>
          <a:ln w="12700">
            <a:solidFill>
              <a:schemeClr val="accent6"/>
            </a:solidFill>
            <a:prstDash val="solid"/>
          </a:ln>
        </p:spPr>
      </p:sp>
      <p:sp>
        <p:nvSpPr>
          <p:cNvPr id="23" name="chip-text-361"/>
          <p:cNvSpPr txBox="1"/>
          <p:nvPr/>
        </p:nvSpPr>
        <p:spPr>
          <a:xfrm>
            <a:off x="4937760" y="2907792"/>
            <a:ext cx="1188720" cy="411480"/>
          </a:xfrm>
          <a:prstGeom prst="rect">
            <a:avLst/>
          </a:prstGeom>
          <a:noFill/>
          <a:ln/>
        </p:spPr>
        <p:txBody>
          <a:bodyPr wrap="square" lIns="0" tIns="0" rIns="0" bIns="0" rtlCol="0" anchor="ctr"/>
          <a:lstStyle/>
          <a:p>
            <a:pPr algn="ctr" indent="0" marL="0">
              <a:buNone/>
            </a:pPr>
            <a:r>
              <a:rPr lang="en-US" sz="1300" dirty="0">
                <a:solidFill>
                  <a:schemeClr val="tx2"/>
                </a:solidFill>
              </a:rPr>
              <a:t>PFI</a:t>
            </a:r>
            <a:endParaRPr lang="en-US" sz="1300" dirty="0"/>
          </a:p>
        </p:txBody>
      </p:sp>
      <p:sp>
        <p:nvSpPr>
          <p:cNvPr id="24" name="layer-arrow"/>
          <p:cNvSpPr/>
          <p:nvPr/>
        </p:nvSpPr>
        <p:spPr>
          <a:xfrm>
            <a:off x="3291840" y="3557016"/>
            <a:ext cx="274320" cy="283464"/>
          </a:xfrm>
          <a:prstGeom prst="upArrow">
            <a:avLst/>
          </a:prstGeom>
          <a:solidFill>
            <a:schemeClr val="accent6"/>
          </a:solidFill>
          <a:ln/>
        </p:spPr>
      </p:sp>
      <p:sp>
        <p:nvSpPr>
          <p:cNvPr id="25" name="layer-verb-362"/>
          <p:cNvSpPr txBox="1"/>
          <p:nvPr/>
        </p:nvSpPr>
        <p:spPr>
          <a:xfrm>
            <a:off x="3657600" y="3502152"/>
            <a:ext cx="1371600" cy="393192"/>
          </a:xfrm>
          <a:prstGeom prst="rect">
            <a:avLst/>
          </a:prstGeom>
          <a:noFill/>
          <a:ln/>
        </p:spPr>
        <p:txBody>
          <a:bodyPr wrap="square" lIns="0" tIns="0" rIns="0" bIns="0" rtlCol="0" anchor="ctr"/>
          <a:lstStyle/>
          <a:p>
            <a:pPr indent="0" marL="0">
              <a:buNone/>
            </a:pPr>
            <a:r>
              <a:rPr lang="en-US" sz="1200" i="1" dirty="0">
                <a:solidFill>
                  <a:schemeClr val="tx2"/>
                </a:solidFill>
              </a:rPr>
              <a:t>extract</a:t>
            </a:r>
            <a:endParaRPr lang="en-US" sz="1200" dirty="0"/>
          </a:p>
        </p:txBody>
      </p:sp>
      <p:sp>
        <p:nvSpPr>
          <p:cNvPr id="26" name="layer-363"/>
          <p:cNvSpPr/>
          <p:nvPr/>
        </p:nvSpPr>
        <p:spPr>
          <a:xfrm>
            <a:off x="548640" y="3895344"/>
            <a:ext cx="5760720" cy="777240"/>
          </a:xfrm>
          <a:prstGeom prst="roundRect">
            <a:avLst>
              <a:gd name="adj" fmla="val 11765"/>
            </a:avLst>
          </a:prstGeom>
          <a:solidFill>
            <a:schemeClr val="bg2"/>
          </a:solidFill>
          <a:ln/>
        </p:spPr>
      </p:sp>
      <p:sp>
        <p:nvSpPr>
          <p:cNvPr id="27" name="layer-label-364"/>
          <p:cNvSpPr txBox="1"/>
          <p:nvPr/>
        </p:nvSpPr>
        <p:spPr>
          <a:xfrm>
            <a:off x="777240" y="3895344"/>
            <a:ext cx="1554480" cy="777240"/>
          </a:xfrm>
          <a:prstGeom prst="rect">
            <a:avLst/>
          </a:prstGeom>
          <a:noFill/>
          <a:ln/>
        </p:spPr>
        <p:txBody>
          <a:bodyPr wrap="square" lIns="0" tIns="0" rIns="0" bIns="0" rtlCol="0" anchor="ctr"/>
          <a:lstStyle/>
          <a:p>
            <a:pPr indent="0" marL="0">
              <a:buNone/>
            </a:pPr>
            <a:r>
              <a:rPr lang="en-US" sz="1600" b="1" dirty="0">
                <a:solidFill>
                  <a:schemeClr val="tx2"/>
                </a:solidFill>
              </a:rPr>
              <a:t>Model</a:t>
            </a:r>
            <a:endParaRPr lang="en-US" sz="1600" dirty="0"/>
          </a:p>
        </p:txBody>
      </p:sp>
      <p:sp>
        <p:nvSpPr>
          <p:cNvPr id="28" name="chip-365"/>
          <p:cNvSpPr/>
          <p:nvPr/>
        </p:nvSpPr>
        <p:spPr>
          <a:xfrm>
            <a:off x="2377440" y="4078224"/>
            <a:ext cx="1188720" cy="411480"/>
          </a:xfrm>
          <a:prstGeom prst="roundRect">
            <a:avLst>
              <a:gd name="adj" fmla="val 48889"/>
            </a:avLst>
          </a:prstGeom>
          <a:solidFill>
            <a:schemeClr val="accent1"/>
          </a:solidFill>
          <a:ln/>
        </p:spPr>
      </p:sp>
      <p:sp>
        <p:nvSpPr>
          <p:cNvPr id="29" name="chip-text-366"/>
          <p:cNvSpPr txBox="1"/>
          <p:nvPr/>
        </p:nvSpPr>
        <p:spPr>
          <a:xfrm>
            <a:off x="2377440" y="4078224"/>
            <a:ext cx="1188720" cy="411480"/>
          </a:xfrm>
          <a:prstGeom prst="rect">
            <a:avLst/>
          </a:prstGeom>
          <a:noFill/>
          <a:ln/>
        </p:spPr>
        <p:txBody>
          <a:bodyPr wrap="square" lIns="0" tIns="0" rIns="0" bIns="0" rtlCol="0" anchor="ctr"/>
          <a:lstStyle/>
          <a:p>
            <a:pPr algn="ctr" indent="0" marL="0">
              <a:buNone/>
            </a:pPr>
            <a:r>
              <a:rPr lang="en-US" sz="1300" b="1" dirty="0">
                <a:solidFill>
                  <a:schemeClr val="bg1"/>
                </a:solidFill>
              </a:rPr>
              <a:t>XGBoost</a:t>
            </a:r>
            <a:endParaRPr lang="en-US" sz="1300" dirty="0"/>
          </a:p>
        </p:txBody>
      </p:sp>
      <p:sp>
        <p:nvSpPr>
          <p:cNvPr id="30" name="chip-367"/>
          <p:cNvSpPr/>
          <p:nvPr/>
        </p:nvSpPr>
        <p:spPr>
          <a:xfrm>
            <a:off x="3657600" y="4078224"/>
            <a:ext cx="1188720" cy="411480"/>
          </a:xfrm>
          <a:prstGeom prst="roundRect">
            <a:avLst>
              <a:gd name="adj" fmla="val 48889"/>
            </a:avLst>
          </a:prstGeom>
          <a:solidFill>
            <a:schemeClr val="bg1"/>
          </a:solidFill>
          <a:ln w="12700">
            <a:solidFill>
              <a:schemeClr val="accent6"/>
            </a:solidFill>
            <a:prstDash val="solid"/>
          </a:ln>
        </p:spPr>
      </p:sp>
      <p:sp>
        <p:nvSpPr>
          <p:cNvPr id="31" name="chip-text-368"/>
          <p:cNvSpPr txBox="1"/>
          <p:nvPr/>
        </p:nvSpPr>
        <p:spPr>
          <a:xfrm>
            <a:off x="3657600" y="4078224"/>
            <a:ext cx="1188720" cy="411480"/>
          </a:xfrm>
          <a:prstGeom prst="rect">
            <a:avLst/>
          </a:prstGeom>
          <a:noFill/>
          <a:ln/>
        </p:spPr>
        <p:txBody>
          <a:bodyPr wrap="square" lIns="0" tIns="0" rIns="0" bIns="0" rtlCol="0" anchor="ctr"/>
          <a:lstStyle/>
          <a:p>
            <a:pPr algn="ctr" indent="0" marL="0">
              <a:buNone/>
            </a:pPr>
            <a:r>
              <a:rPr lang="en-US" sz="1300" dirty="0">
                <a:solidFill>
                  <a:schemeClr val="tx2"/>
                </a:solidFill>
              </a:rPr>
              <a:t>Random forest</a:t>
            </a:r>
            <a:endParaRPr lang="en-US" sz="1300" dirty="0"/>
          </a:p>
        </p:txBody>
      </p:sp>
      <p:sp>
        <p:nvSpPr>
          <p:cNvPr id="32" name="chip-369"/>
          <p:cNvSpPr/>
          <p:nvPr/>
        </p:nvSpPr>
        <p:spPr>
          <a:xfrm>
            <a:off x="4937760" y="4078224"/>
            <a:ext cx="1188720" cy="411480"/>
          </a:xfrm>
          <a:prstGeom prst="roundRect">
            <a:avLst>
              <a:gd name="adj" fmla="val 48889"/>
            </a:avLst>
          </a:prstGeom>
          <a:solidFill>
            <a:schemeClr val="bg1"/>
          </a:solidFill>
          <a:ln w="12700">
            <a:solidFill>
              <a:schemeClr val="accent6"/>
            </a:solidFill>
            <a:prstDash val="solid"/>
          </a:ln>
        </p:spPr>
      </p:sp>
      <p:sp>
        <p:nvSpPr>
          <p:cNvPr id="33" name="chip-text-370"/>
          <p:cNvSpPr txBox="1"/>
          <p:nvPr/>
        </p:nvSpPr>
        <p:spPr>
          <a:xfrm>
            <a:off x="4937760" y="4078224"/>
            <a:ext cx="1188720" cy="411480"/>
          </a:xfrm>
          <a:prstGeom prst="rect">
            <a:avLst/>
          </a:prstGeom>
          <a:noFill/>
          <a:ln/>
        </p:spPr>
        <p:txBody>
          <a:bodyPr wrap="square" lIns="0" tIns="0" rIns="0" bIns="0" rtlCol="0" anchor="ctr"/>
          <a:lstStyle/>
          <a:p>
            <a:pPr algn="ctr" indent="0" marL="0">
              <a:buNone/>
            </a:pPr>
            <a:r>
              <a:rPr lang="en-US" sz="1300" dirty="0">
                <a:solidFill>
                  <a:schemeClr val="tx2"/>
                </a:solidFill>
              </a:rPr>
              <a:t>SVM</a:t>
            </a:r>
            <a:endParaRPr lang="en-US" sz="1300" dirty="0"/>
          </a:p>
        </p:txBody>
      </p:sp>
      <p:sp>
        <p:nvSpPr>
          <p:cNvPr id="34" name="layer-arrow"/>
          <p:cNvSpPr/>
          <p:nvPr/>
        </p:nvSpPr>
        <p:spPr>
          <a:xfrm>
            <a:off x="3291840" y="4727448"/>
            <a:ext cx="274320" cy="283464"/>
          </a:xfrm>
          <a:prstGeom prst="upArrow">
            <a:avLst/>
          </a:prstGeom>
          <a:solidFill>
            <a:schemeClr val="accent6"/>
          </a:solidFill>
          <a:ln/>
        </p:spPr>
      </p:sp>
      <p:sp>
        <p:nvSpPr>
          <p:cNvPr id="35" name="layer-verb-371"/>
          <p:cNvSpPr txBox="1"/>
          <p:nvPr/>
        </p:nvSpPr>
        <p:spPr>
          <a:xfrm>
            <a:off x="3657600" y="4672584"/>
            <a:ext cx="1371600" cy="393192"/>
          </a:xfrm>
          <a:prstGeom prst="rect">
            <a:avLst/>
          </a:prstGeom>
          <a:noFill/>
          <a:ln/>
        </p:spPr>
        <p:txBody>
          <a:bodyPr wrap="square" lIns="0" tIns="0" rIns="0" bIns="0" rtlCol="0" anchor="ctr"/>
          <a:lstStyle/>
          <a:p>
            <a:pPr indent="0" marL="0">
              <a:buNone/>
            </a:pPr>
            <a:r>
              <a:rPr lang="en-US" sz="1200" i="1" dirty="0">
                <a:solidFill>
                  <a:schemeClr val="tx2"/>
                </a:solidFill>
              </a:rPr>
              <a:t>learn</a:t>
            </a:r>
            <a:endParaRPr lang="en-US" sz="1200" dirty="0"/>
          </a:p>
        </p:txBody>
      </p:sp>
      <p:sp>
        <p:nvSpPr>
          <p:cNvPr id="36" name="layer-372"/>
          <p:cNvSpPr/>
          <p:nvPr/>
        </p:nvSpPr>
        <p:spPr>
          <a:xfrm>
            <a:off x="548640" y="5065776"/>
            <a:ext cx="5760720" cy="777240"/>
          </a:xfrm>
          <a:prstGeom prst="roundRect">
            <a:avLst>
              <a:gd name="adj" fmla="val 11765"/>
            </a:avLst>
          </a:prstGeom>
          <a:solidFill>
            <a:schemeClr val="bg1"/>
          </a:solidFill>
          <a:ln w="15875">
            <a:solidFill>
              <a:schemeClr val="bg2"/>
            </a:solidFill>
            <a:prstDash val="solid"/>
          </a:ln>
        </p:spPr>
      </p:sp>
      <p:sp>
        <p:nvSpPr>
          <p:cNvPr id="37" name="layer-label-373"/>
          <p:cNvSpPr txBox="1"/>
          <p:nvPr/>
        </p:nvSpPr>
        <p:spPr>
          <a:xfrm>
            <a:off x="777240" y="5065776"/>
            <a:ext cx="1554480" cy="777240"/>
          </a:xfrm>
          <a:prstGeom prst="rect">
            <a:avLst/>
          </a:prstGeom>
          <a:noFill/>
          <a:ln/>
        </p:spPr>
        <p:txBody>
          <a:bodyPr wrap="square" lIns="0" tIns="0" rIns="0" bIns="0" rtlCol="0" anchor="ctr"/>
          <a:lstStyle/>
          <a:p>
            <a:pPr indent="0" marL="0">
              <a:buNone/>
            </a:pPr>
            <a:r>
              <a:rPr lang="en-US" sz="1600" b="1" dirty="0">
                <a:solidFill>
                  <a:schemeClr val="tx2"/>
                </a:solidFill>
              </a:rPr>
              <a:t>Data</a:t>
            </a:r>
            <a:endParaRPr lang="en-US" sz="1600" dirty="0"/>
          </a:p>
        </p:txBody>
      </p:sp>
      <p:sp>
        <p:nvSpPr>
          <p:cNvPr id="38" name="layer-caption-374"/>
          <p:cNvSpPr txBox="1"/>
          <p:nvPr/>
        </p:nvSpPr>
        <p:spPr>
          <a:xfrm>
            <a:off x="548640" y="5897880"/>
            <a:ext cx="5760720" cy="274320"/>
          </a:xfrm>
          <a:prstGeom prst="rect">
            <a:avLst/>
          </a:prstGeom>
          <a:noFill/>
          <a:ln/>
        </p:spPr>
        <p:txBody>
          <a:bodyPr wrap="square" lIns="0" tIns="0" rIns="0" bIns="0" rtlCol="0" anchor="t"/>
          <a:lstStyle/>
          <a:p>
            <a:pPr indent="0" marL="0">
              <a:buNone/>
            </a:pPr>
            <a:r>
              <a:rPr lang="en-US" sz="1200" i="1" dirty="0">
                <a:solidFill>
                  <a:schemeClr val="tx2"/>
                </a:solidFill>
              </a:rPr>
              <a:t>Each grey layer can be swapped without touching the other.</a:t>
            </a:r>
            <a:endParaRPr lang="en-US" sz="1200" dirty="0"/>
          </a:p>
        </p:txBody>
      </p:sp>
      <p:sp>
        <p:nvSpPr>
          <p:cNvPr id="39" name="icon-bg-375"/>
          <p:cNvSpPr/>
          <p:nvPr/>
        </p:nvSpPr>
        <p:spPr>
          <a:xfrm>
            <a:off x="6720840" y="1554480"/>
            <a:ext cx="640080" cy="640080"/>
          </a:xfrm>
          <a:prstGeom prst="ellipse">
            <a:avLst/>
          </a:prstGeom>
          <a:solidFill>
            <a:schemeClr val="accent1"/>
          </a:solidFill>
          <a:ln/>
        </p:spPr>
      </p:sp>
      <p:pic>
        <p:nvPicPr>
          <p:cNvPr id="40" name="icon-376" descr="LuReplace">    </p:cNvPr>
          <p:cNvPicPr>
            <a:picLocks noChangeAspect="1"/>
          </p:cNvPicPr>
          <p:nvPr/>
        </p:nvPicPr>
        <p:blipFill>
          <a:blip r:embed="rId1"/>
          <a:stretch>
            <a:fillRect/>
          </a:stretch>
        </p:blipFill>
        <p:spPr>
          <a:xfrm>
            <a:off x="6887261" y="1720901"/>
            <a:ext cx="307238" cy="307238"/>
          </a:xfrm>
          <a:prstGeom prst="rect">
            <a:avLst/>
          </a:prstGeom>
        </p:spPr>
      </p:pic>
      <p:sp>
        <p:nvSpPr>
          <p:cNvPr id="41" name="flex-title-377"/>
          <p:cNvSpPr txBox="1"/>
          <p:nvPr/>
        </p:nvSpPr>
        <p:spPr>
          <a:xfrm>
            <a:off x="7589520" y="1536192"/>
            <a:ext cx="4053535" cy="365760"/>
          </a:xfrm>
          <a:prstGeom prst="rect">
            <a:avLst/>
          </a:prstGeom>
          <a:noFill/>
          <a:ln/>
        </p:spPr>
        <p:txBody>
          <a:bodyPr wrap="square" lIns="0" tIns="0" rIns="0" bIns="0" rtlCol="0" anchor="t"/>
          <a:lstStyle/>
          <a:p>
            <a:pPr indent="0" marL="0">
              <a:buNone/>
            </a:pPr>
            <a:r>
              <a:rPr lang="en-US" sz="1800" b="1" dirty="0">
                <a:solidFill>
                  <a:schemeClr val="tx2"/>
                </a:solidFill>
              </a:rPr>
              <a:t>Swap the model</a:t>
            </a:r>
            <a:endParaRPr lang="en-US" sz="1800" dirty="0"/>
          </a:p>
        </p:txBody>
      </p:sp>
      <p:sp>
        <p:nvSpPr>
          <p:cNvPr id="42" name="flex-desc-378"/>
          <p:cNvSpPr txBox="1"/>
          <p:nvPr/>
        </p:nvSpPr>
        <p:spPr>
          <a:xfrm>
            <a:off x="7589520" y="1920240"/>
            <a:ext cx="4053535" cy="685800"/>
          </a:xfrm>
          <a:prstGeom prst="rect">
            <a:avLst/>
          </a:prstGeom>
          <a:noFill/>
          <a:ln/>
        </p:spPr>
        <p:txBody>
          <a:bodyPr wrap="square" lIns="0" tIns="0" rIns="0" bIns="0" rtlCol="0" anchor="t"/>
          <a:lstStyle/>
          <a:p>
            <a:pPr indent="0" marL="0">
              <a:buNone/>
            </a:pPr>
            <a:r>
              <a:rPr lang="en-US" sz="1500" dirty="0">
                <a:solidFill>
                  <a:schemeClr val="tx1"/>
                </a:solidFill>
              </a:rPr>
              <a:t>Keep the PDP and replace XGBoost with any other model.</a:t>
            </a:r>
            <a:endParaRPr lang="en-US" sz="1500" dirty="0"/>
          </a:p>
        </p:txBody>
      </p:sp>
      <p:sp>
        <p:nvSpPr>
          <p:cNvPr id="43" name="icon-bg-379"/>
          <p:cNvSpPr/>
          <p:nvPr/>
        </p:nvSpPr>
        <p:spPr>
          <a:xfrm>
            <a:off x="6720840" y="2761488"/>
            <a:ext cx="640080" cy="640080"/>
          </a:xfrm>
          <a:prstGeom prst="ellipse">
            <a:avLst/>
          </a:prstGeom>
          <a:solidFill>
            <a:schemeClr val="accent1"/>
          </a:solidFill>
          <a:ln/>
        </p:spPr>
      </p:sp>
      <p:pic>
        <p:nvPicPr>
          <p:cNvPr id="44" name="icon-380" descr="LuArrowLeftRight">    </p:cNvPr>
          <p:cNvPicPr>
            <a:picLocks noChangeAspect="1"/>
          </p:cNvPicPr>
          <p:nvPr/>
        </p:nvPicPr>
        <p:blipFill>
          <a:blip r:embed="rId2"/>
          <a:stretch>
            <a:fillRect/>
          </a:stretch>
        </p:blipFill>
        <p:spPr>
          <a:xfrm>
            <a:off x="6887261" y="2927909"/>
            <a:ext cx="307238" cy="307238"/>
          </a:xfrm>
          <a:prstGeom prst="rect">
            <a:avLst/>
          </a:prstGeom>
        </p:spPr>
      </p:pic>
      <p:sp>
        <p:nvSpPr>
          <p:cNvPr id="45" name="flex-title-381"/>
          <p:cNvSpPr txBox="1"/>
          <p:nvPr/>
        </p:nvSpPr>
        <p:spPr>
          <a:xfrm>
            <a:off x="7589520" y="2743200"/>
            <a:ext cx="4053535" cy="365760"/>
          </a:xfrm>
          <a:prstGeom prst="rect">
            <a:avLst/>
          </a:prstGeom>
          <a:noFill/>
          <a:ln/>
        </p:spPr>
        <p:txBody>
          <a:bodyPr wrap="square" lIns="0" tIns="0" rIns="0" bIns="0" rtlCol="0" anchor="t"/>
          <a:lstStyle/>
          <a:p>
            <a:pPr indent="0" marL="0">
              <a:buNone/>
            </a:pPr>
            <a:r>
              <a:rPr lang="en-US" sz="1800" b="1" dirty="0">
                <a:solidFill>
                  <a:schemeClr val="tx2"/>
                </a:solidFill>
              </a:rPr>
              <a:t>Swap the method</a:t>
            </a:r>
            <a:endParaRPr lang="en-US" sz="1800" dirty="0"/>
          </a:p>
        </p:txBody>
      </p:sp>
      <p:sp>
        <p:nvSpPr>
          <p:cNvPr id="46" name="flex-desc-382"/>
          <p:cNvSpPr txBox="1"/>
          <p:nvPr/>
        </p:nvSpPr>
        <p:spPr>
          <a:xfrm>
            <a:off x="7589520" y="3127248"/>
            <a:ext cx="4053535" cy="685800"/>
          </a:xfrm>
          <a:prstGeom prst="rect">
            <a:avLst/>
          </a:prstGeom>
          <a:noFill/>
          <a:ln/>
        </p:spPr>
        <p:txBody>
          <a:bodyPr wrap="square" lIns="0" tIns="0" rIns="0" bIns="0" rtlCol="0" anchor="t"/>
          <a:lstStyle/>
          <a:p>
            <a:pPr indent="0" marL="0">
              <a:buNone/>
            </a:pPr>
            <a:r>
              <a:rPr lang="en-US" sz="1500" dirty="0">
                <a:solidFill>
                  <a:schemeClr val="tx1"/>
                </a:solidFill>
              </a:rPr>
              <a:t>PDP doesn't fit? Use ALE without retraining XGBoost.</a:t>
            </a:r>
            <a:endParaRPr lang="en-US" sz="1500" dirty="0"/>
          </a:p>
        </p:txBody>
      </p:sp>
      <p:sp>
        <p:nvSpPr>
          <p:cNvPr id="47" name="icon-bg-383"/>
          <p:cNvSpPr/>
          <p:nvPr/>
        </p:nvSpPr>
        <p:spPr>
          <a:xfrm>
            <a:off x="6720840" y="3968496"/>
            <a:ext cx="640080" cy="640080"/>
          </a:xfrm>
          <a:prstGeom prst="ellipse">
            <a:avLst/>
          </a:prstGeom>
          <a:solidFill>
            <a:schemeClr val="accent1"/>
          </a:solidFill>
          <a:ln/>
        </p:spPr>
      </p:sp>
      <p:pic>
        <p:nvPicPr>
          <p:cNvPr id="48" name="icon-384" descr="LuImage">    </p:cNvPr>
          <p:cNvPicPr>
            <a:picLocks noChangeAspect="1"/>
          </p:cNvPicPr>
          <p:nvPr/>
        </p:nvPicPr>
        <p:blipFill>
          <a:blip r:embed="rId3"/>
          <a:stretch>
            <a:fillRect/>
          </a:stretch>
        </p:blipFill>
        <p:spPr>
          <a:xfrm>
            <a:off x="6887261" y="4134917"/>
            <a:ext cx="307238" cy="307238"/>
          </a:xfrm>
          <a:prstGeom prst="rect">
            <a:avLst/>
          </a:prstGeom>
        </p:spPr>
      </p:pic>
      <p:sp>
        <p:nvSpPr>
          <p:cNvPr id="49" name="flex-title-385"/>
          <p:cNvSpPr txBox="1"/>
          <p:nvPr/>
        </p:nvSpPr>
        <p:spPr>
          <a:xfrm>
            <a:off x="7589520" y="3950208"/>
            <a:ext cx="4053535" cy="365760"/>
          </a:xfrm>
          <a:prstGeom prst="rect">
            <a:avLst/>
          </a:prstGeom>
          <a:noFill/>
          <a:ln/>
        </p:spPr>
        <p:txBody>
          <a:bodyPr wrap="square" lIns="0" tIns="0" rIns="0" bIns="0" rtlCol="0" anchor="t"/>
          <a:lstStyle/>
          <a:p>
            <a:pPr indent="0" marL="0">
              <a:buNone/>
            </a:pPr>
            <a:r>
              <a:rPr lang="en-US" sz="1800" b="1" dirty="0">
                <a:solidFill>
                  <a:schemeClr val="tx2"/>
                </a:solidFill>
              </a:rPr>
              <a:t>Swap the representation</a:t>
            </a:r>
            <a:endParaRPr lang="en-US" sz="1800" dirty="0"/>
          </a:p>
        </p:txBody>
      </p:sp>
      <p:sp>
        <p:nvSpPr>
          <p:cNvPr id="50" name="flex-desc-386"/>
          <p:cNvSpPr txBox="1"/>
          <p:nvPr/>
        </p:nvSpPr>
        <p:spPr>
          <a:xfrm>
            <a:off x="7589520" y="4334256"/>
            <a:ext cx="4053535" cy="685800"/>
          </a:xfrm>
          <a:prstGeom prst="rect">
            <a:avLst/>
          </a:prstGeom>
          <a:noFill/>
          <a:ln/>
        </p:spPr>
        <p:txBody>
          <a:bodyPr wrap="square" lIns="0" tIns="0" rIns="0" bIns="0" rtlCol="0" anchor="t"/>
          <a:lstStyle/>
          <a:p>
            <a:pPr indent="0" marL="0">
              <a:buNone/>
            </a:pPr>
            <a:r>
              <a:rPr lang="en-US" sz="1500" dirty="0">
                <a:solidFill>
                  <a:schemeClr val="tx1"/>
                </a:solidFill>
              </a:rPr>
              <a:t>Explain images with patches instead of single pixels.</a:t>
            </a:r>
            <a:endParaRPr lang="en-US" sz="1500" dirty="0"/>
          </a:p>
        </p:txBody>
      </p:sp>
      <p:sp>
        <p:nvSpPr>
          <p:cNvPr id="51" name="contrast-card-387"/>
          <p:cNvSpPr/>
          <p:nvPr/>
        </p:nvSpPr>
        <p:spPr>
          <a:xfrm>
            <a:off x="6720840" y="5257800"/>
            <a:ext cx="4922215" cy="914400"/>
          </a:xfrm>
          <a:prstGeom prst="roundRect">
            <a:avLst>
              <a:gd name="adj" fmla="val 10000"/>
            </a:avLst>
          </a:prstGeom>
          <a:solidFill>
            <a:schemeClr val="bg2"/>
          </a:solidFill>
          <a:ln/>
        </p:spPr>
      </p:sp>
      <p:sp>
        <p:nvSpPr>
          <p:cNvPr id="52" name="contrast-text-388"/>
          <p:cNvSpPr txBox="1"/>
          <p:nvPr/>
        </p:nvSpPr>
        <p:spPr>
          <a:xfrm>
            <a:off x="6903720" y="5257800"/>
            <a:ext cx="4556455" cy="914400"/>
          </a:xfrm>
          <a:prstGeom prst="rect">
            <a:avLst/>
          </a:prstGeom>
          <a:noFill/>
          <a:ln/>
        </p:spPr>
        <p:txBody>
          <a:bodyPr wrap="square" lIns="0" tIns="0" rIns="0" bIns="0" rtlCol="0" anchor="ctr"/>
          <a:lstStyle/>
          <a:p>
            <a:pPr indent="0" marL="0">
              <a:buNone/>
            </a:pPr>
            <a:r>
              <a:rPr lang="en-US" sz="1400" b="1" dirty="0">
                <a:solidFill>
                  <a:schemeClr val="accent2"/>
                </a:solidFill>
              </a:rPr>
              <a:t>Compare: </a:t>
            </a:r>
            <a:pPr indent="0" marL="0">
              <a:buNone/>
            </a:pPr>
            <a:r>
              <a:rPr lang="en-US" sz="1400" dirty="0">
                <a:solidFill>
                  <a:schemeClr val="tx1"/>
                </a:solidFill>
              </a:rPr>
              <a:t>with linear regression coefficients, switching to a rule-based model also changes the interpretation tool.</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5852160" cy="292608"/>
          </a:xfrm>
          <a:prstGeom prst="rect">
            <a:avLst/>
          </a:prstGeom>
          <a:noFill/>
          <a:ln/>
        </p:spPr>
        <p:txBody>
          <a:bodyPr wrap="square" lIns="0" tIns="0" rIns="0" bIns="0" rtlCol="0" anchor="b"/>
          <a:lstStyle/>
          <a:p>
            <a:pPr algn="l" indent="0" marL="0">
              <a:buNone/>
            </a:pPr>
            <a:r>
              <a:rPr lang="en-US" sz="1200" b="1" spc="200" kern="0" dirty="0">
                <a:solidFill>
                  <a:schemeClr val="accent1"/>
                </a:solidFill>
              </a:rPr>
              <a:t>LOCAL METHODS</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200" b="1" dirty="0">
                <a:solidFill>
                  <a:schemeClr val="tx2"/>
                </a:solidFill>
                <a:latin typeface="Avenir" pitchFamily="34" charset="0"/>
                <a:ea typeface="Avenir" pitchFamily="34" charset="-122"/>
                <a:cs typeface="Avenir" pitchFamily="34" charset="-120"/>
              </a:rPr>
              <a:t>Local methods explain a single prediction</a:t>
            </a:r>
            <a:endParaRPr lang="en-US" sz="3200" dirty="0"/>
          </a:p>
        </p:txBody>
      </p:sp>
      <p:sp>
        <p:nvSpPr>
          <p:cNvPr id="4" name="pill-389"/>
          <p:cNvSpPr/>
          <p:nvPr/>
        </p:nvSpPr>
        <p:spPr>
          <a:xfrm>
            <a:off x="6357823" y="274320"/>
            <a:ext cx="1280160" cy="274320"/>
          </a:xfrm>
          <a:prstGeom prst="roundRect">
            <a:avLst>
              <a:gd name="adj" fmla="val 50000"/>
            </a:avLst>
          </a:prstGeom>
          <a:solidFill>
            <a:schemeClr val="bg2"/>
          </a:solidFill>
          <a:ln/>
        </p:spPr>
      </p:sp>
      <p:sp>
        <p:nvSpPr>
          <p:cNvPr id="5" name="pill-text-390"/>
          <p:cNvSpPr txBox="1"/>
          <p:nvPr/>
        </p:nvSpPr>
        <p:spPr>
          <a:xfrm>
            <a:off x="6357823"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By design</a:t>
            </a:r>
            <a:endParaRPr lang="en-US" sz="1000" dirty="0"/>
          </a:p>
        </p:txBody>
      </p:sp>
      <p:sp>
        <p:nvSpPr>
          <p:cNvPr id="6" name="pill-391"/>
          <p:cNvSpPr/>
          <p:nvPr/>
        </p:nvSpPr>
        <p:spPr>
          <a:xfrm>
            <a:off x="7692847" y="274320"/>
            <a:ext cx="1280160" cy="274320"/>
          </a:xfrm>
          <a:prstGeom prst="roundRect">
            <a:avLst>
              <a:gd name="adj" fmla="val 50000"/>
            </a:avLst>
          </a:prstGeom>
          <a:solidFill>
            <a:schemeClr val="accent1"/>
          </a:solidFill>
          <a:ln/>
        </p:spPr>
      </p:sp>
      <p:sp>
        <p:nvSpPr>
          <p:cNvPr id="7" name="pill-text-392"/>
          <p:cNvSpPr txBox="1"/>
          <p:nvPr/>
        </p:nvSpPr>
        <p:spPr>
          <a:xfrm>
            <a:off x="7692847" y="274320"/>
            <a:ext cx="1280160" cy="274320"/>
          </a:xfrm>
          <a:prstGeom prst="rect">
            <a:avLst/>
          </a:prstGeom>
          <a:noFill/>
          <a:ln/>
        </p:spPr>
        <p:txBody>
          <a:bodyPr wrap="square" lIns="0" tIns="0" rIns="0" bIns="0" rtlCol="0" anchor="ctr"/>
          <a:lstStyle/>
          <a:p>
            <a:pPr algn="ctr" indent="0" marL="0">
              <a:buNone/>
            </a:pPr>
            <a:r>
              <a:rPr lang="en-US" sz="1000" b="1" dirty="0">
                <a:solidFill>
                  <a:schemeClr val="bg1"/>
                </a:solidFill>
              </a:rPr>
              <a:t>Model-agnostic</a:t>
            </a:r>
            <a:endParaRPr lang="en-US" sz="1000" dirty="0"/>
          </a:p>
        </p:txBody>
      </p:sp>
      <p:sp>
        <p:nvSpPr>
          <p:cNvPr id="8" name="pill-393"/>
          <p:cNvSpPr/>
          <p:nvPr/>
        </p:nvSpPr>
        <p:spPr>
          <a:xfrm>
            <a:off x="9027871" y="274320"/>
            <a:ext cx="1280160" cy="274320"/>
          </a:xfrm>
          <a:prstGeom prst="roundRect">
            <a:avLst>
              <a:gd name="adj" fmla="val 50000"/>
            </a:avLst>
          </a:prstGeom>
          <a:solidFill>
            <a:schemeClr val="bg2"/>
          </a:solidFill>
          <a:ln/>
        </p:spPr>
      </p:sp>
      <p:sp>
        <p:nvSpPr>
          <p:cNvPr id="9" name="pill-text-394"/>
          <p:cNvSpPr txBox="1"/>
          <p:nvPr/>
        </p:nvSpPr>
        <p:spPr>
          <a:xfrm>
            <a:off x="9027871"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Model-specific</a:t>
            </a:r>
            <a:endParaRPr lang="en-US" sz="1000" dirty="0"/>
          </a:p>
        </p:txBody>
      </p:sp>
      <p:sp>
        <p:nvSpPr>
          <p:cNvPr id="10" name="pill-395"/>
          <p:cNvSpPr/>
          <p:nvPr/>
        </p:nvSpPr>
        <p:spPr>
          <a:xfrm>
            <a:off x="10362895" y="274320"/>
            <a:ext cx="1280160" cy="274320"/>
          </a:xfrm>
          <a:prstGeom prst="roundRect">
            <a:avLst>
              <a:gd name="adj" fmla="val 50000"/>
            </a:avLst>
          </a:prstGeom>
          <a:solidFill>
            <a:schemeClr val="bg2"/>
          </a:solidFill>
          <a:ln/>
        </p:spPr>
      </p:sp>
      <p:sp>
        <p:nvSpPr>
          <p:cNvPr id="11" name="pill-text-396"/>
          <p:cNvSpPr txBox="1"/>
          <p:nvPr/>
        </p:nvSpPr>
        <p:spPr>
          <a:xfrm>
            <a:off x="10362895"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Synthesis</a:t>
            </a:r>
            <a:endParaRPr lang="en-US" sz="1000" dirty="0"/>
          </a:p>
        </p:txBody>
      </p:sp>
      <p:sp>
        <p:nvSpPr>
          <p:cNvPr id="12" name="zone"/>
          <p:cNvSpPr/>
          <p:nvPr/>
        </p:nvSpPr>
        <p:spPr>
          <a:xfrm>
            <a:off x="548640" y="1554480"/>
            <a:ext cx="3743858" cy="640080"/>
          </a:xfrm>
          <a:prstGeom prst="homePlate">
            <a:avLst/>
          </a:prstGeom>
          <a:solidFill>
            <a:schemeClr val="accent6"/>
          </a:solidFill>
          <a:ln w="25400">
            <a:solidFill>
              <a:schemeClr val="bg1"/>
            </a:solidFill>
            <a:prstDash val="solid"/>
          </a:ln>
        </p:spPr>
      </p:sp>
      <p:sp>
        <p:nvSpPr>
          <p:cNvPr id="13" name="zone-title-397"/>
          <p:cNvSpPr txBox="1"/>
          <p:nvPr/>
        </p:nvSpPr>
        <p:spPr>
          <a:xfrm>
            <a:off x="822960" y="1554480"/>
            <a:ext cx="3149498" cy="640080"/>
          </a:xfrm>
          <a:prstGeom prst="rect">
            <a:avLst/>
          </a:prstGeom>
          <a:noFill/>
          <a:ln/>
        </p:spPr>
        <p:txBody>
          <a:bodyPr wrap="square" lIns="0" tIns="0" rIns="0" bIns="0" rtlCol="0" anchor="ctr"/>
          <a:lstStyle/>
          <a:p>
            <a:pPr algn="ctr" indent="0" marL="0">
              <a:buNone/>
            </a:pPr>
            <a:r>
              <a:rPr lang="en-US" sz="1800" b="1" dirty="0">
                <a:solidFill>
                  <a:schemeClr val="tx2"/>
                </a:solidFill>
              </a:rPr>
              <a:t>Sensitivity</a:t>
            </a:r>
            <a:endParaRPr lang="en-US" sz="1800" dirty="0"/>
          </a:p>
        </p:txBody>
      </p:sp>
      <p:sp>
        <p:nvSpPr>
          <p:cNvPr id="14" name="zone-question-398"/>
          <p:cNvSpPr txBox="1"/>
          <p:nvPr/>
        </p:nvSpPr>
        <p:spPr>
          <a:xfrm>
            <a:off x="731520" y="2377440"/>
            <a:ext cx="3332378" cy="502920"/>
          </a:xfrm>
          <a:prstGeom prst="rect">
            <a:avLst/>
          </a:prstGeom>
          <a:noFill/>
          <a:ln/>
        </p:spPr>
        <p:txBody>
          <a:bodyPr wrap="square" lIns="0" tIns="0" rIns="0" bIns="0" rtlCol="0" anchor="t"/>
          <a:lstStyle/>
          <a:p>
            <a:pPr indent="0" marL="0">
              <a:buNone/>
            </a:pPr>
            <a:r>
              <a:rPr lang="en-US" sz="1400" i="1" dirty="0">
                <a:solidFill>
                  <a:schemeClr val="accent1"/>
                </a:solidFill>
              </a:rPr>
              <a:t>How does the prediction react to one feature?</a:t>
            </a:r>
            <a:endParaRPr lang="en-US" sz="1400" dirty="0"/>
          </a:p>
        </p:txBody>
      </p:sp>
      <p:sp>
        <p:nvSpPr>
          <p:cNvPr id="15" name="method-card-399"/>
          <p:cNvSpPr/>
          <p:nvPr/>
        </p:nvSpPr>
        <p:spPr>
          <a:xfrm>
            <a:off x="640080" y="2971800"/>
            <a:ext cx="3515258" cy="566928"/>
          </a:xfrm>
          <a:prstGeom prst="roundRect">
            <a:avLst>
              <a:gd name="adj" fmla="val 12903"/>
            </a:avLst>
          </a:prstGeom>
          <a:solidFill>
            <a:schemeClr val="bg2"/>
          </a:solidFill>
          <a:ln/>
        </p:spPr>
      </p:sp>
      <p:sp>
        <p:nvSpPr>
          <p:cNvPr id="16" name="method-400"/>
          <p:cNvSpPr txBox="1"/>
          <p:nvPr/>
        </p:nvSpPr>
        <p:spPr>
          <a:xfrm>
            <a:off x="777240" y="2971800"/>
            <a:ext cx="3240938" cy="566928"/>
          </a:xfrm>
          <a:prstGeom prst="rect">
            <a:avLst/>
          </a:prstGeom>
          <a:noFill/>
          <a:ln/>
        </p:spPr>
        <p:txBody>
          <a:bodyPr wrap="square" lIns="0" tIns="0" rIns="0" bIns="0" rtlCol="0" anchor="ctr"/>
          <a:lstStyle/>
          <a:p>
            <a:pPr indent="0" marL="0">
              <a:buNone/>
            </a:pPr>
            <a:r>
              <a:rPr lang="en-US" sz="1400" b="1" dirty="0">
                <a:solidFill>
                  <a:schemeClr val="tx2"/>
                </a:solidFill>
              </a:rPr>
              <a:t>Ceteris paribus</a:t>
            </a:r>
            <a:endParaRPr lang="en-US" sz="1400" dirty="0"/>
          </a:p>
          <a:p>
            <a:pPr indent="0" marL="0">
              <a:buNone/>
            </a:pPr>
            <a:r>
              <a:rPr lang="en-US" sz="1300" dirty="0">
                <a:solidFill>
                  <a:schemeClr val="tx1"/>
                </a:solidFill>
              </a:rPr>
              <a:t>Change one feature, watch the prediction</a:t>
            </a:r>
            <a:endParaRPr lang="en-US" sz="1400" dirty="0"/>
          </a:p>
        </p:txBody>
      </p:sp>
      <p:sp>
        <p:nvSpPr>
          <p:cNvPr id="17" name="method-card-401"/>
          <p:cNvSpPr/>
          <p:nvPr/>
        </p:nvSpPr>
        <p:spPr>
          <a:xfrm>
            <a:off x="640080" y="3630168"/>
            <a:ext cx="3515258" cy="566928"/>
          </a:xfrm>
          <a:prstGeom prst="roundRect">
            <a:avLst>
              <a:gd name="adj" fmla="val 12903"/>
            </a:avLst>
          </a:prstGeom>
          <a:solidFill>
            <a:schemeClr val="bg2"/>
          </a:solidFill>
          <a:ln/>
        </p:spPr>
      </p:sp>
      <p:sp>
        <p:nvSpPr>
          <p:cNvPr id="18" name="method-402"/>
          <p:cNvSpPr txBox="1"/>
          <p:nvPr/>
        </p:nvSpPr>
        <p:spPr>
          <a:xfrm>
            <a:off x="777240" y="3630168"/>
            <a:ext cx="3240938" cy="566928"/>
          </a:xfrm>
          <a:prstGeom prst="rect">
            <a:avLst/>
          </a:prstGeom>
          <a:noFill/>
          <a:ln/>
        </p:spPr>
        <p:txBody>
          <a:bodyPr wrap="square" lIns="0" tIns="0" rIns="0" bIns="0" rtlCol="0" anchor="ctr"/>
          <a:lstStyle/>
          <a:p>
            <a:pPr indent="0" marL="0">
              <a:buNone/>
            </a:pPr>
            <a:r>
              <a:rPr lang="en-US" sz="1400" b="1" dirty="0">
                <a:solidFill>
                  <a:schemeClr val="tx2"/>
                </a:solidFill>
              </a:rPr>
              <a:t>ICE curves</a:t>
            </a:r>
            <a:endParaRPr lang="en-US" sz="1400" dirty="0"/>
          </a:p>
          <a:p>
            <a:pPr indent="0" marL="0">
              <a:buNone/>
            </a:pPr>
            <a:r>
              <a:rPr lang="en-US" sz="1300" dirty="0">
                <a:solidFill>
                  <a:schemeClr val="tx1"/>
                </a:solidFill>
              </a:rPr>
              <a:t>The same, for many data points</a:t>
            </a:r>
            <a:endParaRPr lang="en-US" sz="1400" dirty="0"/>
          </a:p>
        </p:txBody>
      </p:sp>
      <p:sp>
        <p:nvSpPr>
          <p:cNvPr id="19" name="zone"/>
          <p:cNvSpPr/>
          <p:nvPr/>
        </p:nvSpPr>
        <p:spPr>
          <a:xfrm>
            <a:off x="4137050" y="1554480"/>
            <a:ext cx="3853586" cy="640080"/>
          </a:xfrm>
          <a:prstGeom prst="chevron">
            <a:avLst/>
          </a:prstGeom>
          <a:solidFill>
            <a:schemeClr val="accent1"/>
          </a:solidFill>
          <a:ln w="25400">
            <a:solidFill>
              <a:schemeClr val="bg1"/>
            </a:solidFill>
            <a:prstDash val="solid"/>
          </a:ln>
        </p:spPr>
      </p:sp>
      <p:sp>
        <p:nvSpPr>
          <p:cNvPr id="20" name="zone-title-403"/>
          <p:cNvSpPr txBox="1"/>
          <p:nvPr/>
        </p:nvSpPr>
        <p:spPr>
          <a:xfrm>
            <a:off x="4521098" y="1554480"/>
            <a:ext cx="3149498" cy="640080"/>
          </a:xfrm>
          <a:prstGeom prst="rect">
            <a:avLst/>
          </a:prstGeom>
          <a:noFill/>
          <a:ln/>
        </p:spPr>
        <p:txBody>
          <a:bodyPr wrap="square" lIns="0" tIns="0" rIns="0" bIns="0" rtlCol="0" anchor="ctr"/>
          <a:lstStyle/>
          <a:p>
            <a:pPr algn="ctr" indent="0" marL="0">
              <a:buNone/>
            </a:pPr>
            <a:r>
              <a:rPr lang="en-US" sz="1800" b="1" dirty="0">
                <a:solidFill>
                  <a:schemeClr val="bg1"/>
                </a:solidFill>
              </a:rPr>
              <a:t>In between</a:t>
            </a:r>
            <a:endParaRPr lang="en-US" sz="1800" dirty="0"/>
          </a:p>
        </p:txBody>
      </p:sp>
      <p:sp>
        <p:nvSpPr>
          <p:cNvPr id="21" name="zone-question-404"/>
          <p:cNvSpPr txBox="1"/>
          <p:nvPr/>
        </p:nvSpPr>
        <p:spPr>
          <a:xfrm>
            <a:off x="4429658" y="2377440"/>
            <a:ext cx="3332378" cy="502920"/>
          </a:xfrm>
          <a:prstGeom prst="rect">
            <a:avLst/>
          </a:prstGeom>
          <a:noFill/>
          <a:ln/>
        </p:spPr>
        <p:txBody>
          <a:bodyPr wrap="square" lIns="0" tIns="0" rIns="0" bIns="0" rtlCol="0" anchor="t"/>
          <a:lstStyle/>
          <a:p>
            <a:pPr indent="0" marL="0">
              <a:buNone/>
            </a:pPr>
            <a:r>
              <a:rPr lang="en-US" sz="1400" i="1" dirty="0">
                <a:solidFill>
                  <a:schemeClr val="accent1"/>
                </a:solidFill>
              </a:rPr>
              <a:t>Which subset of features matters?</a:t>
            </a:r>
            <a:endParaRPr lang="en-US" sz="1400" dirty="0"/>
          </a:p>
        </p:txBody>
      </p:sp>
      <p:sp>
        <p:nvSpPr>
          <p:cNvPr id="22" name="method-card-405"/>
          <p:cNvSpPr/>
          <p:nvPr/>
        </p:nvSpPr>
        <p:spPr>
          <a:xfrm>
            <a:off x="4338218" y="2971800"/>
            <a:ext cx="3515258" cy="566928"/>
          </a:xfrm>
          <a:prstGeom prst="roundRect">
            <a:avLst>
              <a:gd name="adj" fmla="val 12903"/>
            </a:avLst>
          </a:prstGeom>
          <a:solidFill>
            <a:schemeClr val="bg2"/>
          </a:solidFill>
          <a:ln/>
        </p:spPr>
      </p:sp>
      <p:sp>
        <p:nvSpPr>
          <p:cNvPr id="23" name="method-406"/>
          <p:cNvSpPr txBox="1"/>
          <p:nvPr/>
        </p:nvSpPr>
        <p:spPr>
          <a:xfrm>
            <a:off x="4475378" y="2971800"/>
            <a:ext cx="3240938" cy="566928"/>
          </a:xfrm>
          <a:prstGeom prst="rect">
            <a:avLst/>
          </a:prstGeom>
          <a:noFill/>
          <a:ln/>
        </p:spPr>
        <p:txBody>
          <a:bodyPr wrap="square" lIns="0" tIns="0" rIns="0" bIns="0" rtlCol="0" anchor="ctr"/>
          <a:lstStyle/>
          <a:p>
            <a:pPr indent="0" marL="0">
              <a:buNone/>
            </a:pPr>
            <a:r>
              <a:rPr lang="en-US" sz="1400" b="1" dirty="0">
                <a:solidFill>
                  <a:schemeClr val="tx2"/>
                </a:solidFill>
              </a:rPr>
              <a:t>Counterfactuals</a:t>
            </a:r>
            <a:endParaRPr lang="en-US" sz="1400" dirty="0"/>
          </a:p>
          <a:p>
            <a:pPr indent="0" marL="0">
              <a:buNone/>
            </a:pPr>
            <a:r>
              <a:rPr lang="en-US" sz="1300" dirty="0">
                <a:solidFill>
                  <a:schemeClr val="tx1"/>
                </a:solidFill>
              </a:rPr>
              <a:t>Smallest change for a desired outcome</a:t>
            </a:r>
            <a:endParaRPr lang="en-US" sz="1400" dirty="0"/>
          </a:p>
        </p:txBody>
      </p:sp>
      <p:sp>
        <p:nvSpPr>
          <p:cNvPr id="24" name="method-card-407"/>
          <p:cNvSpPr/>
          <p:nvPr/>
        </p:nvSpPr>
        <p:spPr>
          <a:xfrm>
            <a:off x="4338218" y="3630168"/>
            <a:ext cx="3515258" cy="566928"/>
          </a:xfrm>
          <a:prstGeom prst="roundRect">
            <a:avLst>
              <a:gd name="adj" fmla="val 12903"/>
            </a:avLst>
          </a:prstGeom>
          <a:solidFill>
            <a:schemeClr val="bg2"/>
          </a:solidFill>
          <a:ln/>
        </p:spPr>
      </p:sp>
      <p:sp>
        <p:nvSpPr>
          <p:cNvPr id="25" name="method-408"/>
          <p:cNvSpPr txBox="1"/>
          <p:nvPr/>
        </p:nvSpPr>
        <p:spPr>
          <a:xfrm>
            <a:off x="4475378" y="3630168"/>
            <a:ext cx="3240938" cy="566928"/>
          </a:xfrm>
          <a:prstGeom prst="rect">
            <a:avLst/>
          </a:prstGeom>
          <a:noFill/>
          <a:ln/>
        </p:spPr>
        <p:txBody>
          <a:bodyPr wrap="square" lIns="0" tIns="0" rIns="0" bIns="0" rtlCol="0" anchor="ctr"/>
          <a:lstStyle/>
          <a:p>
            <a:pPr indent="0" marL="0">
              <a:buNone/>
            </a:pPr>
            <a:r>
              <a:rPr lang="en-US" sz="1400" b="1" dirty="0">
                <a:solidFill>
                  <a:schemeClr val="tx2"/>
                </a:solidFill>
              </a:rPr>
              <a:t>Anchors</a:t>
            </a:r>
            <a:endParaRPr lang="en-US" sz="1400" dirty="0"/>
          </a:p>
          <a:p>
            <a:pPr indent="0" marL="0">
              <a:buNone/>
            </a:pPr>
            <a:r>
              <a:rPr lang="en-US" sz="1300" dirty="0">
                <a:solidFill>
                  <a:schemeClr val="tx1"/>
                </a:solidFill>
              </a:rPr>
              <a:t>Values that “anchor” the prediction</a:t>
            </a:r>
            <a:endParaRPr lang="en-US" sz="1400" dirty="0"/>
          </a:p>
        </p:txBody>
      </p:sp>
      <p:sp>
        <p:nvSpPr>
          <p:cNvPr id="26" name="zone"/>
          <p:cNvSpPr/>
          <p:nvPr/>
        </p:nvSpPr>
        <p:spPr>
          <a:xfrm>
            <a:off x="7835189" y="1554480"/>
            <a:ext cx="3853586" cy="640080"/>
          </a:xfrm>
          <a:prstGeom prst="chevron">
            <a:avLst/>
          </a:prstGeom>
          <a:solidFill>
            <a:schemeClr val="tx2"/>
          </a:solidFill>
          <a:ln w="25400">
            <a:solidFill>
              <a:schemeClr val="bg1"/>
            </a:solidFill>
            <a:prstDash val="solid"/>
          </a:ln>
        </p:spPr>
      </p:sp>
      <p:sp>
        <p:nvSpPr>
          <p:cNvPr id="27" name="zone-title-409"/>
          <p:cNvSpPr txBox="1"/>
          <p:nvPr/>
        </p:nvSpPr>
        <p:spPr>
          <a:xfrm>
            <a:off x="8219237" y="1554480"/>
            <a:ext cx="3149498" cy="640080"/>
          </a:xfrm>
          <a:prstGeom prst="rect">
            <a:avLst/>
          </a:prstGeom>
          <a:noFill/>
          <a:ln/>
        </p:spPr>
        <p:txBody>
          <a:bodyPr wrap="square" lIns="0" tIns="0" rIns="0" bIns="0" rtlCol="0" anchor="ctr"/>
          <a:lstStyle/>
          <a:p>
            <a:pPr algn="ctr" indent="0" marL="0">
              <a:buNone/>
            </a:pPr>
            <a:r>
              <a:rPr lang="en-US" sz="1800" b="1" dirty="0">
                <a:solidFill>
                  <a:schemeClr val="bg1"/>
                </a:solidFill>
              </a:rPr>
              <a:t>Attribution</a:t>
            </a:r>
            <a:endParaRPr lang="en-US" sz="1800" dirty="0"/>
          </a:p>
        </p:txBody>
      </p:sp>
      <p:sp>
        <p:nvSpPr>
          <p:cNvPr id="28" name="zone-question-410"/>
          <p:cNvSpPr txBox="1"/>
          <p:nvPr/>
        </p:nvSpPr>
        <p:spPr>
          <a:xfrm>
            <a:off x="8127797" y="2377440"/>
            <a:ext cx="3332378" cy="502920"/>
          </a:xfrm>
          <a:prstGeom prst="rect">
            <a:avLst/>
          </a:prstGeom>
          <a:noFill/>
          <a:ln/>
        </p:spPr>
        <p:txBody>
          <a:bodyPr wrap="square" lIns="0" tIns="0" rIns="0" bIns="0" rtlCol="0" anchor="t"/>
          <a:lstStyle/>
          <a:p>
            <a:pPr indent="0" marL="0">
              <a:buNone/>
            </a:pPr>
            <a:r>
              <a:rPr lang="en-US" sz="1400" i="1" dirty="0">
                <a:solidFill>
                  <a:schemeClr val="accent1"/>
                </a:solidFill>
              </a:rPr>
              <a:t>How is the prediction split among features?</a:t>
            </a:r>
            <a:endParaRPr lang="en-US" sz="1400" dirty="0"/>
          </a:p>
        </p:txBody>
      </p:sp>
      <p:sp>
        <p:nvSpPr>
          <p:cNvPr id="29" name="method-card-411"/>
          <p:cNvSpPr/>
          <p:nvPr/>
        </p:nvSpPr>
        <p:spPr>
          <a:xfrm>
            <a:off x="8036357" y="2971800"/>
            <a:ext cx="3515258" cy="566928"/>
          </a:xfrm>
          <a:prstGeom prst="roundRect">
            <a:avLst>
              <a:gd name="adj" fmla="val 12903"/>
            </a:avLst>
          </a:prstGeom>
          <a:solidFill>
            <a:schemeClr val="bg2"/>
          </a:solidFill>
          <a:ln/>
        </p:spPr>
      </p:sp>
      <p:sp>
        <p:nvSpPr>
          <p:cNvPr id="30" name="method-412"/>
          <p:cNvSpPr txBox="1"/>
          <p:nvPr/>
        </p:nvSpPr>
        <p:spPr>
          <a:xfrm>
            <a:off x="8173517" y="2971800"/>
            <a:ext cx="3240938" cy="566928"/>
          </a:xfrm>
          <a:prstGeom prst="rect">
            <a:avLst/>
          </a:prstGeom>
          <a:noFill/>
          <a:ln/>
        </p:spPr>
        <p:txBody>
          <a:bodyPr wrap="square" lIns="0" tIns="0" rIns="0" bIns="0" rtlCol="0" anchor="ctr"/>
          <a:lstStyle/>
          <a:p>
            <a:pPr indent="0" marL="0">
              <a:buNone/>
            </a:pPr>
            <a:r>
              <a:rPr lang="en-US" sz="1400" b="1" dirty="0">
                <a:solidFill>
                  <a:schemeClr val="tx2"/>
                </a:solidFill>
              </a:rPr>
              <a:t>LIME</a:t>
            </a:r>
            <a:endParaRPr lang="en-US" sz="1400" dirty="0"/>
          </a:p>
          <a:p>
            <a:pPr indent="0" marL="0">
              <a:buNone/>
            </a:pPr>
            <a:r>
              <a:rPr lang="en-US" sz="1300" dirty="0">
                <a:solidFill>
                  <a:schemeClr val="tx1"/>
                </a:solidFill>
              </a:rPr>
              <a:t>Local interpretable surrogate model</a:t>
            </a:r>
            <a:endParaRPr lang="en-US" sz="1400" dirty="0"/>
          </a:p>
        </p:txBody>
      </p:sp>
      <p:sp>
        <p:nvSpPr>
          <p:cNvPr id="31" name="method-card-413"/>
          <p:cNvSpPr/>
          <p:nvPr/>
        </p:nvSpPr>
        <p:spPr>
          <a:xfrm>
            <a:off x="8036357" y="3630168"/>
            <a:ext cx="3515258" cy="566928"/>
          </a:xfrm>
          <a:prstGeom prst="roundRect">
            <a:avLst>
              <a:gd name="adj" fmla="val 12903"/>
            </a:avLst>
          </a:prstGeom>
          <a:solidFill>
            <a:schemeClr val="bg2"/>
          </a:solidFill>
          <a:ln/>
        </p:spPr>
      </p:sp>
      <p:sp>
        <p:nvSpPr>
          <p:cNvPr id="32" name="method-414"/>
          <p:cNvSpPr txBox="1"/>
          <p:nvPr/>
        </p:nvSpPr>
        <p:spPr>
          <a:xfrm>
            <a:off x="8173517" y="3630168"/>
            <a:ext cx="3240938" cy="566928"/>
          </a:xfrm>
          <a:prstGeom prst="rect">
            <a:avLst/>
          </a:prstGeom>
          <a:noFill/>
          <a:ln/>
        </p:spPr>
        <p:txBody>
          <a:bodyPr wrap="square" lIns="0" tIns="0" rIns="0" bIns="0" rtlCol="0" anchor="ctr"/>
          <a:lstStyle/>
          <a:p>
            <a:pPr indent="0" marL="0">
              <a:buNone/>
            </a:pPr>
            <a:r>
              <a:rPr lang="en-US" sz="1400" b="1" dirty="0">
                <a:solidFill>
                  <a:schemeClr val="tx2"/>
                </a:solidFill>
              </a:rPr>
              <a:t>Shapley values</a:t>
            </a:r>
            <a:endParaRPr lang="en-US" sz="1400" dirty="0"/>
          </a:p>
          <a:p>
            <a:pPr indent="0" marL="0">
              <a:buNone/>
            </a:pPr>
            <a:r>
              <a:rPr lang="en-US" sz="1300" dirty="0">
                <a:solidFill>
                  <a:schemeClr val="tx1"/>
                </a:solidFill>
              </a:rPr>
              <a:t>Fair split among the features</a:t>
            </a:r>
            <a:endParaRPr lang="en-US" sz="1400" dirty="0"/>
          </a:p>
        </p:txBody>
      </p:sp>
      <p:sp>
        <p:nvSpPr>
          <p:cNvPr id="33" name="method-card-415"/>
          <p:cNvSpPr/>
          <p:nvPr/>
        </p:nvSpPr>
        <p:spPr>
          <a:xfrm>
            <a:off x="8036357" y="4288536"/>
            <a:ext cx="3515258" cy="566928"/>
          </a:xfrm>
          <a:prstGeom prst="roundRect">
            <a:avLst>
              <a:gd name="adj" fmla="val 12903"/>
            </a:avLst>
          </a:prstGeom>
          <a:solidFill>
            <a:schemeClr val="bg2"/>
          </a:solidFill>
          <a:ln/>
        </p:spPr>
      </p:sp>
      <p:sp>
        <p:nvSpPr>
          <p:cNvPr id="34" name="method-416"/>
          <p:cNvSpPr txBox="1"/>
          <p:nvPr/>
        </p:nvSpPr>
        <p:spPr>
          <a:xfrm>
            <a:off x="8173517" y="4288536"/>
            <a:ext cx="3240938" cy="566928"/>
          </a:xfrm>
          <a:prstGeom prst="rect">
            <a:avLst/>
          </a:prstGeom>
          <a:noFill/>
          <a:ln/>
        </p:spPr>
        <p:txBody>
          <a:bodyPr wrap="square" lIns="0" tIns="0" rIns="0" bIns="0" rtlCol="0" anchor="ctr"/>
          <a:lstStyle/>
          <a:p>
            <a:pPr indent="0" marL="0">
              <a:buNone/>
            </a:pPr>
            <a:r>
              <a:rPr lang="en-US" sz="1400" b="1" dirty="0">
                <a:solidFill>
                  <a:schemeClr val="tx2"/>
                </a:solidFill>
              </a:rPr>
              <a:t>SHAP</a:t>
            </a:r>
            <a:endParaRPr lang="en-US" sz="1400" dirty="0"/>
          </a:p>
          <a:p>
            <a:pPr indent="0" marL="0">
              <a:buNone/>
            </a:pPr>
            <a:r>
              <a:rPr lang="en-US" sz="1300" dirty="0">
                <a:solidFill>
                  <a:schemeClr val="tx1"/>
                </a:solidFill>
              </a:rPr>
              <a:t>Shapley values + global summaries</a:t>
            </a:r>
            <a:endParaRPr lang="en-US" sz="1400" dirty="0"/>
          </a:p>
        </p:txBody>
      </p:sp>
      <p:sp>
        <p:nvSpPr>
          <p:cNvPr id="35" name="axis-left-417"/>
          <p:cNvSpPr txBox="1"/>
          <p:nvPr/>
        </p:nvSpPr>
        <p:spPr>
          <a:xfrm>
            <a:off x="548640" y="1280160"/>
            <a:ext cx="2743200" cy="256032"/>
          </a:xfrm>
          <a:prstGeom prst="rect">
            <a:avLst/>
          </a:prstGeom>
          <a:noFill/>
          <a:ln/>
        </p:spPr>
        <p:txBody>
          <a:bodyPr wrap="square" lIns="0" tIns="0" rIns="0" bIns="0" rtlCol="0" anchor="t"/>
          <a:lstStyle/>
          <a:p>
            <a:pPr indent="0" marL="0">
              <a:buNone/>
            </a:pPr>
            <a:r>
              <a:rPr lang="en-US" sz="1100" dirty="0">
                <a:solidFill>
                  <a:schemeClr val="tx2"/>
                </a:solidFill>
              </a:rPr>
              <a:t>← one feature at a time</a:t>
            </a:r>
            <a:endParaRPr lang="en-US" sz="1100" dirty="0"/>
          </a:p>
        </p:txBody>
      </p:sp>
      <p:sp>
        <p:nvSpPr>
          <p:cNvPr id="36" name="axis-right-418"/>
          <p:cNvSpPr txBox="1"/>
          <p:nvPr/>
        </p:nvSpPr>
        <p:spPr>
          <a:xfrm>
            <a:off x="8899855" y="1280160"/>
            <a:ext cx="2743200" cy="256032"/>
          </a:xfrm>
          <a:prstGeom prst="rect">
            <a:avLst/>
          </a:prstGeom>
          <a:noFill/>
          <a:ln/>
        </p:spPr>
        <p:txBody>
          <a:bodyPr wrap="square" lIns="0" tIns="0" rIns="0" bIns="0" rtlCol="0" anchor="t"/>
          <a:lstStyle/>
          <a:p>
            <a:pPr algn="r" indent="0" marL="0">
              <a:buNone/>
            </a:pPr>
            <a:r>
              <a:rPr lang="en-US" sz="1100" dirty="0">
                <a:solidFill>
                  <a:schemeClr val="tx2"/>
                </a:solidFill>
              </a:rPr>
              <a:t>the whole prediction →</a:t>
            </a:r>
            <a:endParaRPr lang="en-US" sz="1100" dirty="0"/>
          </a:p>
        </p:txBody>
      </p:sp>
      <p:sp>
        <p:nvSpPr>
          <p:cNvPr id="37" name="goal-card-419"/>
          <p:cNvSpPr/>
          <p:nvPr/>
        </p:nvSpPr>
        <p:spPr>
          <a:xfrm>
            <a:off x="548640" y="5120640"/>
            <a:ext cx="5410048" cy="1051560"/>
          </a:xfrm>
          <a:prstGeom prst="roundRect">
            <a:avLst>
              <a:gd name="adj" fmla="val 8696"/>
            </a:avLst>
          </a:prstGeom>
          <a:solidFill>
            <a:schemeClr val="bg1"/>
          </a:solidFill>
          <a:ln w="15875">
            <a:solidFill>
              <a:schemeClr val="accent2"/>
            </a:solidFill>
            <a:prstDash val="solid"/>
          </a:ln>
        </p:spPr>
      </p:sp>
      <p:sp>
        <p:nvSpPr>
          <p:cNvPr id="38" name="icon-bg-420"/>
          <p:cNvSpPr/>
          <p:nvPr/>
        </p:nvSpPr>
        <p:spPr>
          <a:xfrm>
            <a:off x="731520" y="5330952"/>
            <a:ext cx="621792" cy="621792"/>
          </a:xfrm>
          <a:prstGeom prst="ellipse">
            <a:avLst/>
          </a:prstGeom>
          <a:solidFill>
            <a:schemeClr val="accent2"/>
          </a:solidFill>
          <a:ln/>
        </p:spPr>
      </p:sp>
      <p:pic>
        <p:nvPicPr>
          <p:cNvPr id="39" name="icon-421" descr="LuZoomIn">    </p:cNvPr>
          <p:cNvPicPr>
            <a:picLocks noChangeAspect="1"/>
          </p:cNvPicPr>
          <p:nvPr/>
        </p:nvPicPr>
        <p:blipFill>
          <a:blip r:embed="rId1"/>
          <a:stretch>
            <a:fillRect/>
          </a:stretch>
        </p:blipFill>
        <p:spPr>
          <a:xfrm>
            <a:off x="893186" y="5492618"/>
            <a:ext cx="298460" cy="298460"/>
          </a:xfrm>
          <a:prstGeom prst="rect">
            <a:avLst/>
          </a:prstGeom>
        </p:spPr>
      </p:pic>
      <p:sp>
        <p:nvSpPr>
          <p:cNvPr id="40" name="goal-text-422"/>
          <p:cNvSpPr txBox="1"/>
          <p:nvPr/>
        </p:nvSpPr>
        <p:spPr>
          <a:xfrm>
            <a:off x="1508760" y="5120640"/>
            <a:ext cx="4267048" cy="1051560"/>
          </a:xfrm>
          <a:prstGeom prst="rect">
            <a:avLst/>
          </a:prstGeom>
          <a:noFill/>
          <a:ln/>
        </p:spPr>
        <p:txBody>
          <a:bodyPr wrap="square" lIns="0" tIns="0" rIns="0" bIns="0" rtlCol="0" anchor="ctr"/>
          <a:lstStyle/>
          <a:p>
            <a:pPr indent="0" marL="0">
              <a:buNone/>
            </a:pPr>
            <a:r>
              <a:rPr lang="en-US" sz="1400" b="1" dirty="0">
                <a:solidFill>
                  <a:schemeClr val="accent2"/>
                </a:solidFill>
              </a:rPr>
              <a:t>Debugging</a:t>
            </a:r>
            <a:endParaRPr lang="en-US" sz="1400" dirty="0"/>
          </a:p>
          <a:p>
            <a:pPr indent="0" marL="0">
              <a:buNone/>
            </a:pPr>
            <a:r>
              <a:rPr lang="en-US" sz="1400" dirty="0">
                <a:solidFill>
                  <a:schemeClr val="tx1"/>
                </a:solidFill>
              </a:rPr>
              <a:t>Zoom in on the worst prediction: hard data point, weak model, or wrong label?</a:t>
            </a:r>
            <a:endParaRPr lang="en-US" sz="1400" dirty="0"/>
          </a:p>
        </p:txBody>
      </p:sp>
      <p:sp>
        <p:nvSpPr>
          <p:cNvPr id="41" name="goal-card-423"/>
          <p:cNvSpPr/>
          <p:nvPr/>
        </p:nvSpPr>
        <p:spPr>
          <a:xfrm>
            <a:off x="6233008" y="5120640"/>
            <a:ext cx="5410048" cy="1051560"/>
          </a:xfrm>
          <a:prstGeom prst="roundRect">
            <a:avLst>
              <a:gd name="adj" fmla="val 8696"/>
            </a:avLst>
          </a:prstGeom>
          <a:solidFill>
            <a:schemeClr val="bg1"/>
          </a:solidFill>
          <a:ln w="15875">
            <a:solidFill>
              <a:schemeClr val="accent2"/>
            </a:solidFill>
            <a:prstDash val="solid"/>
          </a:ln>
        </p:spPr>
      </p:sp>
      <p:sp>
        <p:nvSpPr>
          <p:cNvPr id="42" name="icon-bg-424"/>
          <p:cNvSpPr/>
          <p:nvPr/>
        </p:nvSpPr>
        <p:spPr>
          <a:xfrm>
            <a:off x="6415888" y="5330952"/>
            <a:ext cx="621792" cy="621792"/>
          </a:xfrm>
          <a:prstGeom prst="ellipse">
            <a:avLst/>
          </a:prstGeom>
          <a:solidFill>
            <a:schemeClr val="accent2"/>
          </a:solidFill>
          <a:ln/>
        </p:spPr>
      </p:sp>
      <p:pic>
        <p:nvPicPr>
          <p:cNvPr id="43" name="icon-425" descr="LuScale">    </p:cNvPr>
          <p:cNvPicPr>
            <a:picLocks noChangeAspect="1"/>
          </p:cNvPicPr>
          <p:nvPr/>
        </p:nvPicPr>
        <p:blipFill>
          <a:blip r:embed="rId2"/>
          <a:stretch>
            <a:fillRect/>
          </a:stretch>
        </p:blipFill>
        <p:spPr>
          <a:xfrm>
            <a:off x="6577554" y="5492618"/>
            <a:ext cx="298460" cy="298460"/>
          </a:xfrm>
          <a:prstGeom prst="rect">
            <a:avLst/>
          </a:prstGeom>
        </p:spPr>
      </p:pic>
      <p:sp>
        <p:nvSpPr>
          <p:cNvPr id="44" name="goal-text-426"/>
          <p:cNvSpPr txBox="1"/>
          <p:nvPr/>
        </p:nvSpPr>
        <p:spPr>
          <a:xfrm>
            <a:off x="7193128" y="5120640"/>
            <a:ext cx="4267048" cy="1051560"/>
          </a:xfrm>
          <a:prstGeom prst="rect">
            <a:avLst/>
          </a:prstGeom>
          <a:noFill/>
          <a:ln/>
        </p:spPr>
        <p:txBody>
          <a:bodyPr wrap="square" lIns="0" tIns="0" rIns="0" bIns="0" rtlCol="0" anchor="ctr"/>
          <a:lstStyle/>
          <a:p>
            <a:pPr indent="0" marL="0">
              <a:buNone/>
            </a:pPr>
            <a:r>
              <a:rPr lang="en-US" sz="1400" b="1" dirty="0">
                <a:solidFill>
                  <a:schemeClr val="accent2"/>
                </a:solidFill>
              </a:rPr>
              <a:t>Justification</a:t>
            </a:r>
            <a:endParaRPr lang="en-US" sz="1400" dirty="0"/>
          </a:p>
          <a:p>
            <a:pPr indent="0" marL="0">
              <a:buNone/>
            </a:pPr>
            <a:r>
              <a:rPr lang="en-US" sz="1400" dirty="0">
                <a:solidFill>
                  <a:schemeClr val="tx1"/>
                </a:solidFill>
              </a:rPr>
              <a:t>CP and counterfactuals are faithful; SHAP/LIME less so for high stakes (Rudin, 2019).</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5852160" cy="292608"/>
          </a:xfrm>
          <a:prstGeom prst="rect">
            <a:avLst/>
          </a:prstGeom>
          <a:noFill/>
          <a:ln/>
        </p:spPr>
        <p:txBody>
          <a:bodyPr wrap="square" lIns="0" tIns="0" rIns="0" bIns="0" rtlCol="0" anchor="b"/>
          <a:lstStyle/>
          <a:p>
            <a:pPr algn="l" indent="0" marL="0">
              <a:buNone/>
            </a:pPr>
            <a:r>
              <a:rPr lang="en-US" sz="1200" b="1" spc="200" kern="0" dirty="0">
                <a:solidFill>
                  <a:schemeClr val="accent1"/>
                </a:solidFill>
              </a:rPr>
              <a:t>GLOBAL METHODS</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200" b="1" dirty="0">
                <a:solidFill>
                  <a:schemeClr val="tx2"/>
                </a:solidFill>
                <a:latin typeface="Avenir" pitchFamily="34" charset="0"/>
                <a:ea typeface="Avenir" pitchFamily="34" charset="-122"/>
                <a:cs typeface="Avenir" pitchFamily="34" charset="-120"/>
              </a:rPr>
              <a:t>Global methods explain average behavior</a:t>
            </a:r>
            <a:endParaRPr lang="en-US" sz="3200" dirty="0"/>
          </a:p>
        </p:txBody>
      </p:sp>
      <p:sp>
        <p:nvSpPr>
          <p:cNvPr id="4" name="pill-427"/>
          <p:cNvSpPr/>
          <p:nvPr/>
        </p:nvSpPr>
        <p:spPr>
          <a:xfrm>
            <a:off x="6357823" y="274320"/>
            <a:ext cx="1280160" cy="274320"/>
          </a:xfrm>
          <a:prstGeom prst="roundRect">
            <a:avLst>
              <a:gd name="adj" fmla="val 50000"/>
            </a:avLst>
          </a:prstGeom>
          <a:solidFill>
            <a:schemeClr val="bg2"/>
          </a:solidFill>
          <a:ln/>
        </p:spPr>
      </p:sp>
      <p:sp>
        <p:nvSpPr>
          <p:cNvPr id="5" name="pill-text-428"/>
          <p:cNvSpPr txBox="1"/>
          <p:nvPr/>
        </p:nvSpPr>
        <p:spPr>
          <a:xfrm>
            <a:off x="6357823"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By design</a:t>
            </a:r>
            <a:endParaRPr lang="en-US" sz="1000" dirty="0"/>
          </a:p>
        </p:txBody>
      </p:sp>
      <p:sp>
        <p:nvSpPr>
          <p:cNvPr id="6" name="pill-429"/>
          <p:cNvSpPr/>
          <p:nvPr/>
        </p:nvSpPr>
        <p:spPr>
          <a:xfrm>
            <a:off x="7692847" y="274320"/>
            <a:ext cx="1280160" cy="274320"/>
          </a:xfrm>
          <a:prstGeom prst="roundRect">
            <a:avLst>
              <a:gd name="adj" fmla="val 50000"/>
            </a:avLst>
          </a:prstGeom>
          <a:solidFill>
            <a:schemeClr val="accent1"/>
          </a:solidFill>
          <a:ln/>
        </p:spPr>
      </p:sp>
      <p:sp>
        <p:nvSpPr>
          <p:cNvPr id="7" name="pill-text-430"/>
          <p:cNvSpPr txBox="1"/>
          <p:nvPr/>
        </p:nvSpPr>
        <p:spPr>
          <a:xfrm>
            <a:off x="7692847" y="274320"/>
            <a:ext cx="1280160" cy="274320"/>
          </a:xfrm>
          <a:prstGeom prst="rect">
            <a:avLst/>
          </a:prstGeom>
          <a:noFill/>
          <a:ln/>
        </p:spPr>
        <p:txBody>
          <a:bodyPr wrap="square" lIns="0" tIns="0" rIns="0" bIns="0" rtlCol="0" anchor="ctr"/>
          <a:lstStyle/>
          <a:p>
            <a:pPr algn="ctr" indent="0" marL="0">
              <a:buNone/>
            </a:pPr>
            <a:r>
              <a:rPr lang="en-US" sz="1000" b="1" dirty="0">
                <a:solidFill>
                  <a:schemeClr val="bg1"/>
                </a:solidFill>
              </a:rPr>
              <a:t>Model-agnostic</a:t>
            </a:r>
            <a:endParaRPr lang="en-US" sz="1000" dirty="0"/>
          </a:p>
        </p:txBody>
      </p:sp>
      <p:sp>
        <p:nvSpPr>
          <p:cNvPr id="8" name="pill-431"/>
          <p:cNvSpPr/>
          <p:nvPr/>
        </p:nvSpPr>
        <p:spPr>
          <a:xfrm>
            <a:off x="9027871" y="274320"/>
            <a:ext cx="1280160" cy="274320"/>
          </a:xfrm>
          <a:prstGeom prst="roundRect">
            <a:avLst>
              <a:gd name="adj" fmla="val 50000"/>
            </a:avLst>
          </a:prstGeom>
          <a:solidFill>
            <a:schemeClr val="bg2"/>
          </a:solidFill>
          <a:ln/>
        </p:spPr>
      </p:sp>
      <p:sp>
        <p:nvSpPr>
          <p:cNvPr id="9" name="pill-text-432"/>
          <p:cNvSpPr txBox="1"/>
          <p:nvPr/>
        </p:nvSpPr>
        <p:spPr>
          <a:xfrm>
            <a:off x="9027871"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Model-specific</a:t>
            </a:r>
            <a:endParaRPr lang="en-US" sz="1000" dirty="0"/>
          </a:p>
        </p:txBody>
      </p:sp>
      <p:sp>
        <p:nvSpPr>
          <p:cNvPr id="10" name="pill-433"/>
          <p:cNvSpPr/>
          <p:nvPr/>
        </p:nvSpPr>
        <p:spPr>
          <a:xfrm>
            <a:off x="10362895" y="274320"/>
            <a:ext cx="1280160" cy="274320"/>
          </a:xfrm>
          <a:prstGeom prst="roundRect">
            <a:avLst>
              <a:gd name="adj" fmla="val 50000"/>
            </a:avLst>
          </a:prstGeom>
          <a:solidFill>
            <a:schemeClr val="bg2"/>
          </a:solidFill>
          <a:ln/>
        </p:spPr>
      </p:sp>
      <p:sp>
        <p:nvSpPr>
          <p:cNvPr id="11" name="pill-text-434"/>
          <p:cNvSpPr txBox="1"/>
          <p:nvPr/>
        </p:nvSpPr>
        <p:spPr>
          <a:xfrm>
            <a:off x="10362895"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Synthesis</a:t>
            </a:r>
            <a:endParaRPr lang="en-US" sz="1000" dirty="0"/>
          </a:p>
        </p:txBody>
      </p:sp>
      <p:sp>
        <p:nvSpPr>
          <p:cNvPr id="12" name="group-card-435"/>
          <p:cNvSpPr/>
          <p:nvPr/>
        </p:nvSpPr>
        <p:spPr>
          <a:xfrm>
            <a:off x="548640" y="1554480"/>
            <a:ext cx="5410048" cy="3337560"/>
          </a:xfrm>
          <a:prstGeom prst="roundRect">
            <a:avLst>
              <a:gd name="adj" fmla="val 2740"/>
            </a:avLst>
          </a:prstGeom>
          <a:solidFill>
            <a:schemeClr val="bg2"/>
          </a:solidFill>
          <a:ln/>
        </p:spPr>
      </p:sp>
      <p:sp>
        <p:nvSpPr>
          <p:cNvPr id="13" name="group-title-436"/>
          <p:cNvSpPr txBox="1"/>
          <p:nvPr/>
        </p:nvSpPr>
        <p:spPr>
          <a:xfrm>
            <a:off x="822960" y="1691640"/>
            <a:ext cx="4861408" cy="777240"/>
          </a:xfrm>
          <a:prstGeom prst="rect">
            <a:avLst/>
          </a:prstGeom>
          <a:noFill/>
          <a:ln/>
        </p:spPr>
        <p:txBody>
          <a:bodyPr wrap="square" lIns="0" tIns="0" rIns="0" bIns="0" rtlCol="0" anchor="t"/>
          <a:lstStyle/>
          <a:p>
            <a:pPr indent="0" marL="0">
              <a:buNone/>
            </a:pPr>
            <a:r>
              <a:rPr lang="en-US" sz="2200" b="1" dirty="0">
                <a:solidFill>
                  <a:schemeClr val="tx2"/>
                </a:solidFill>
                <a:latin typeface="Avenir" pitchFamily="34" charset="0"/>
                <a:ea typeface="Avenir" pitchFamily="34" charset="-122"/>
                <a:cs typeface="Avenir" pitchFamily="34" charset="-120"/>
              </a:rPr>
              <a:t>Feature effects</a:t>
            </a:r>
            <a:endParaRPr lang="en-US" sz="1600" dirty="0"/>
          </a:p>
          <a:p>
            <a:pPr indent="0" marL="0">
              <a:buNone/>
            </a:pPr>
            <a:r>
              <a:rPr lang="en-US" sz="1400" i="1" dirty="0">
                <a:solidFill>
                  <a:schemeClr val="accent1"/>
                </a:solidFill>
              </a:rPr>
              <a:t>How does the output change with an input?</a:t>
            </a:r>
            <a:endParaRPr lang="en-US" sz="1600" dirty="0"/>
          </a:p>
        </p:txBody>
      </p:sp>
      <p:sp>
        <p:nvSpPr>
          <p:cNvPr id="14" name="method-437"/>
          <p:cNvSpPr txBox="1"/>
          <p:nvPr/>
        </p:nvSpPr>
        <p:spPr>
          <a:xfrm>
            <a:off x="822960" y="2606040"/>
            <a:ext cx="2468880" cy="502920"/>
          </a:xfrm>
          <a:prstGeom prst="rect">
            <a:avLst/>
          </a:prstGeom>
          <a:noFill/>
          <a:ln/>
        </p:spPr>
        <p:txBody>
          <a:bodyPr wrap="square" lIns="0" tIns="0" rIns="0" bIns="0" rtlCol="0" anchor="ctr"/>
          <a:lstStyle/>
          <a:p>
            <a:pPr indent="0" marL="0">
              <a:buNone/>
            </a:pPr>
            <a:r>
              <a:rPr lang="en-US" sz="1500" b="1" dirty="0">
                <a:solidFill>
                  <a:schemeClr val="tx2"/>
                </a:solidFill>
              </a:rPr>
              <a:t>PDP</a:t>
            </a:r>
            <a:endParaRPr lang="en-US" sz="1500" dirty="0"/>
          </a:p>
          <a:p>
            <a:pPr indent="0" marL="0">
              <a:buNone/>
            </a:pPr>
            <a:r>
              <a:rPr lang="en-US" sz="1300" dirty="0">
                <a:solidFill>
                  <a:schemeClr val="tx1"/>
                </a:solidFill>
              </a:rPr>
              <a:t>partial dependence</a:t>
            </a:r>
            <a:endParaRPr lang="en-US" sz="1500" dirty="0"/>
          </a:p>
        </p:txBody>
      </p:sp>
      <p:sp>
        <p:nvSpPr>
          <p:cNvPr id="15" name="method-438"/>
          <p:cNvSpPr txBox="1"/>
          <p:nvPr/>
        </p:nvSpPr>
        <p:spPr>
          <a:xfrm>
            <a:off x="822960" y="3154680"/>
            <a:ext cx="2468880" cy="502920"/>
          </a:xfrm>
          <a:prstGeom prst="rect">
            <a:avLst/>
          </a:prstGeom>
          <a:noFill/>
          <a:ln/>
        </p:spPr>
        <p:txBody>
          <a:bodyPr wrap="square" lIns="0" tIns="0" rIns="0" bIns="0" rtlCol="0" anchor="ctr"/>
          <a:lstStyle/>
          <a:p>
            <a:pPr indent="0" marL="0">
              <a:buNone/>
            </a:pPr>
            <a:r>
              <a:rPr lang="en-US" sz="1500" b="1" dirty="0">
                <a:solidFill>
                  <a:schemeClr val="tx2"/>
                </a:solidFill>
              </a:rPr>
              <a:t>ALE</a:t>
            </a:r>
            <a:endParaRPr lang="en-US" sz="1500" dirty="0"/>
          </a:p>
          <a:p>
            <a:pPr indent="0" marL="0">
              <a:buNone/>
            </a:pPr>
            <a:r>
              <a:rPr lang="en-US" sz="1300" dirty="0">
                <a:solidFill>
                  <a:schemeClr val="tx1"/>
                </a:solidFill>
              </a:rPr>
              <a:t>works with correlated features</a:t>
            </a:r>
            <a:endParaRPr lang="en-US" sz="1500" dirty="0"/>
          </a:p>
        </p:txBody>
      </p:sp>
      <p:sp>
        <p:nvSpPr>
          <p:cNvPr id="16" name="method-439"/>
          <p:cNvSpPr txBox="1"/>
          <p:nvPr/>
        </p:nvSpPr>
        <p:spPr>
          <a:xfrm>
            <a:off x="822960" y="3703320"/>
            <a:ext cx="2468880" cy="502920"/>
          </a:xfrm>
          <a:prstGeom prst="rect">
            <a:avLst/>
          </a:prstGeom>
          <a:noFill/>
          <a:ln/>
        </p:spPr>
        <p:txBody>
          <a:bodyPr wrap="square" lIns="0" tIns="0" rIns="0" bIns="0" rtlCol="0" anchor="ctr"/>
          <a:lstStyle/>
          <a:p>
            <a:pPr indent="0" marL="0">
              <a:buNone/>
            </a:pPr>
            <a:r>
              <a:rPr lang="en-US" sz="1500" b="1" dirty="0">
                <a:solidFill>
                  <a:schemeClr val="tx2"/>
                </a:solidFill>
              </a:rPr>
              <a:t>H-statistic</a:t>
            </a:r>
            <a:endParaRPr lang="en-US" sz="1500" dirty="0"/>
          </a:p>
          <a:p>
            <a:pPr indent="0" marL="0">
              <a:buNone/>
            </a:pPr>
            <a:r>
              <a:rPr lang="en-US" sz="1300" dirty="0">
                <a:solidFill>
                  <a:schemeClr val="tx1"/>
                </a:solidFill>
              </a:rPr>
              <a:t>interaction strength</a:t>
            </a:r>
            <a:endParaRPr lang="en-US" sz="1500" dirty="0"/>
          </a:p>
        </p:txBody>
      </p:sp>
      <p:sp>
        <p:nvSpPr>
          <p:cNvPr id="17" name="method-440"/>
          <p:cNvSpPr txBox="1"/>
          <p:nvPr/>
        </p:nvSpPr>
        <p:spPr>
          <a:xfrm>
            <a:off x="822960" y="4251960"/>
            <a:ext cx="2468880" cy="502920"/>
          </a:xfrm>
          <a:prstGeom prst="rect">
            <a:avLst/>
          </a:prstGeom>
          <a:noFill/>
          <a:ln/>
        </p:spPr>
        <p:txBody>
          <a:bodyPr wrap="square" lIns="0" tIns="0" rIns="0" bIns="0" rtlCol="0" anchor="ctr"/>
          <a:lstStyle/>
          <a:p>
            <a:pPr indent="0" marL="0">
              <a:buNone/>
            </a:pPr>
            <a:r>
              <a:rPr lang="en-US" sz="1500" b="1" dirty="0">
                <a:solidFill>
                  <a:schemeClr val="tx2"/>
                </a:solidFill>
              </a:rPr>
              <a:t>Decomposition</a:t>
            </a:r>
            <a:endParaRPr lang="en-US" sz="1500" dirty="0"/>
          </a:p>
          <a:p>
            <a:pPr indent="0" marL="0">
              <a:buNone/>
            </a:pPr>
            <a:r>
              <a:rPr lang="en-US" sz="1300" dirty="0">
                <a:solidFill>
                  <a:schemeClr val="tx1"/>
                </a:solidFill>
              </a:rPr>
              <a:t>split into parts</a:t>
            </a:r>
            <a:endParaRPr lang="en-US" sz="1500" dirty="0"/>
          </a:p>
        </p:txBody>
      </p:sp>
      <p:sp>
        <p:nvSpPr>
          <p:cNvPr id="18" name="schematic-card-441"/>
          <p:cNvSpPr/>
          <p:nvPr/>
        </p:nvSpPr>
        <p:spPr>
          <a:xfrm>
            <a:off x="3337560" y="2606040"/>
            <a:ext cx="2392528" cy="2103120"/>
          </a:xfrm>
          <a:prstGeom prst="roundRect">
            <a:avLst>
              <a:gd name="adj" fmla="val 3478"/>
            </a:avLst>
          </a:prstGeom>
          <a:solidFill>
            <a:schemeClr val="bg1"/>
          </a:solidFill>
          <a:ln/>
        </p:spPr>
      </p:sp>
      <p:sp>
        <p:nvSpPr>
          <p:cNvPr id="19" name="line-442"/>
          <p:cNvSpPr/>
          <p:nvPr/>
        </p:nvSpPr>
        <p:spPr>
          <a:xfrm>
            <a:off x="3611880" y="4251960"/>
            <a:ext cx="1843888" cy="0"/>
          </a:xfrm>
          <a:prstGeom prst="line">
            <a:avLst/>
          </a:prstGeom>
          <a:noFill/>
          <a:ln w="12700">
            <a:solidFill>
              <a:srgbClr val="9DB7C2"/>
            </a:solidFill>
            <a:prstDash val="solid"/>
          </a:ln>
        </p:spPr>
      </p:sp>
      <p:sp>
        <p:nvSpPr>
          <p:cNvPr id="20" name="line-443"/>
          <p:cNvSpPr/>
          <p:nvPr/>
        </p:nvSpPr>
        <p:spPr>
          <a:xfrm>
            <a:off x="3611880" y="2788920"/>
            <a:ext cx="0" cy="1463040"/>
          </a:xfrm>
          <a:prstGeom prst="line">
            <a:avLst/>
          </a:prstGeom>
          <a:noFill/>
          <a:ln w="12700">
            <a:solidFill>
              <a:srgbClr val="9DB7C2"/>
            </a:solidFill>
            <a:prstDash val="solid"/>
          </a:ln>
        </p:spPr>
      </p:sp>
      <p:sp>
        <p:nvSpPr>
          <p:cNvPr id="21" name="line-444"/>
          <p:cNvSpPr/>
          <p:nvPr/>
        </p:nvSpPr>
        <p:spPr>
          <a:xfrm flipV="1">
            <a:off x="3611880" y="4129752"/>
            <a:ext cx="76829" cy="8565"/>
          </a:xfrm>
          <a:prstGeom prst="line">
            <a:avLst/>
          </a:prstGeom>
          <a:noFill/>
          <a:ln w="38100">
            <a:solidFill>
              <a:srgbClr val="127C8A"/>
            </a:solidFill>
            <a:prstDash val="solid"/>
          </a:ln>
        </p:spPr>
      </p:sp>
      <p:sp>
        <p:nvSpPr>
          <p:cNvPr id="22" name="line-445"/>
          <p:cNvSpPr/>
          <p:nvPr/>
        </p:nvSpPr>
        <p:spPr>
          <a:xfrm flipV="1">
            <a:off x="3688709" y="4117999"/>
            <a:ext cx="76829" cy="11753"/>
          </a:xfrm>
          <a:prstGeom prst="line">
            <a:avLst/>
          </a:prstGeom>
          <a:noFill/>
          <a:ln w="38100">
            <a:solidFill>
              <a:srgbClr val="127C8A"/>
            </a:solidFill>
            <a:prstDash val="solid"/>
          </a:ln>
        </p:spPr>
      </p:sp>
      <p:sp>
        <p:nvSpPr>
          <p:cNvPr id="23" name="line-446"/>
          <p:cNvSpPr/>
          <p:nvPr/>
        </p:nvSpPr>
        <p:spPr>
          <a:xfrm flipV="1">
            <a:off x="3765537" y="4101976"/>
            <a:ext cx="76829" cy="16024"/>
          </a:xfrm>
          <a:prstGeom prst="line">
            <a:avLst/>
          </a:prstGeom>
          <a:noFill/>
          <a:ln w="38100">
            <a:solidFill>
              <a:srgbClr val="127C8A"/>
            </a:solidFill>
            <a:prstDash val="solid"/>
          </a:ln>
        </p:spPr>
      </p:sp>
      <p:sp>
        <p:nvSpPr>
          <p:cNvPr id="24" name="line-447"/>
          <p:cNvSpPr/>
          <p:nvPr/>
        </p:nvSpPr>
        <p:spPr>
          <a:xfrm flipV="1">
            <a:off x="3842366" y="4080319"/>
            <a:ext cx="76829" cy="21656"/>
          </a:xfrm>
          <a:prstGeom prst="line">
            <a:avLst/>
          </a:prstGeom>
          <a:noFill/>
          <a:ln w="38100">
            <a:solidFill>
              <a:srgbClr val="127C8A"/>
            </a:solidFill>
            <a:prstDash val="solid"/>
          </a:ln>
        </p:spPr>
      </p:sp>
      <p:sp>
        <p:nvSpPr>
          <p:cNvPr id="25" name="line-448"/>
          <p:cNvSpPr/>
          <p:nvPr/>
        </p:nvSpPr>
        <p:spPr>
          <a:xfrm flipV="1">
            <a:off x="3919195" y="4051396"/>
            <a:ext cx="76829" cy="28924"/>
          </a:xfrm>
          <a:prstGeom prst="line">
            <a:avLst/>
          </a:prstGeom>
          <a:noFill/>
          <a:ln w="38100">
            <a:solidFill>
              <a:srgbClr val="127C8A"/>
            </a:solidFill>
            <a:prstDash val="solid"/>
          </a:ln>
        </p:spPr>
      </p:sp>
      <p:sp>
        <p:nvSpPr>
          <p:cNvPr id="26" name="line-449"/>
          <p:cNvSpPr/>
          <p:nvPr/>
        </p:nvSpPr>
        <p:spPr>
          <a:xfrm flipV="1">
            <a:off x="3996023" y="4013371"/>
            <a:ext cx="76829" cy="38025"/>
          </a:xfrm>
          <a:prstGeom prst="line">
            <a:avLst/>
          </a:prstGeom>
          <a:noFill/>
          <a:ln w="38100">
            <a:solidFill>
              <a:srgbClr val="127C8A"/>
            </a:solidFill>
            <a:prstDash val="solid"/>
          </a:ln>
        </p:spPr>
      </p:sp>
      <p:sp>
        <p:nvSpPr>
          <p:cNvPr id="27" name="line-450"/>
          <p:cNvSpPr/>
          <p:nvPr/>
        </p:nvSpPr>
        <p:spPr>
          <a:xfrm flipV="1">
            <a:off x="4072852" y="3964406"/>
            <a:ext cx="76829" cy="48966"/>
          </a:xfrm>
          <a:prstGeom prst="line">
            <a:avLst/>
          </a:prstGeom>
          <a:noFill/>
          <a:ln w="38100">
            <a:solidFill>
              <a:srgbClr val="127C8A"/>
            </a:solidFill>
            <a:prstDash val="solid"/>
          </a:ln>
        </p:spPr>
      </p:sp>
      <p:sp>
        <p:nvSpPr>
          <p:cNvPr id="28" name="line-451"/>
          <p:cNvSpPr/>
          <p:nvPr/>
        </p:nvSpPr>
        <p:spPr>
          <a:xfrm flipV="1">
            <a:off x="4149681" y="3903005"/>
            <a:ext cx="76829" cy="61400"/>
          </a:xfrm>
          <a:prstGeom prst="line">
            <a:avLst/>
          </a:prstGeom>
          <a:noFill/>
          <a:ln w="38100">
            <a:solidFill>
              <a:srgbClr val="127C8A"/>
            </a:solidFill>
            <a:prstDash val="solid"/>
          </a:ln>
        </p:spPr>
      </p:sp>
      <p:sp>
        <p:nvSpPr>
          <p:cNvPr id="29" name="line-452"/>
          <p:cNvSpPr/>
          <p:nvPr/>
        </p:nvSpPr>
        <p:spPr>
          <a:xfrm flipV="1">
            <a:off x="4226509" y="3828528"/>
            <a:ext cx="76829" cy="74477"/>
          </a:xfrm>
          <a:prstGeom prst="line">
            <a:avLst/>
          </a:prstGeom>
          <a:noFill/>
          <a:ln w="38100">
            <a:solidFill>
              <a:srgbClr val="127C8A"/>
            </a:solidFill>
            <a:prstDash val="solid"/>
          </a:ln>
        </p:spPr>
      </p:sp>
      <p:sp>
        <p:nvSpPr>
          <p:cNvPr id="30" name="line-453"/>
          <p:cNvSpPr/>
          <p:nvPr/>
        </p:nvSpPr>
        <p:spPr>
          <a:xfrm flipV="1">
            <a:off x="4303338" y="3741744"/>
            <a:ext cx="76829" cy="86784"/>
          </a:xfrm>
          <a:prstGeom prst="line">
            <a:avLst/>
          </a:prstGeom>
          <a:noFill/>
          <a:ln w="38100">
            <a:solidFill>
              <a:srgbClr val="127C8A"/>
            </a:solidFill>
            <a:prstDash val="solid"/>
          </a:ln>
        </p:spPr>
      </p:sp>
      <p:sp>
        <p:nvSpPr>
          <p:cNvPr id="31" name="line-454"/>
          <p:cNvSpPr/>
          <p:nvPr/>
        </p:nvSpPr>
        <p:spPr>
          <a:xfrm flipV="1">
            <a:off x="4380167" y="3645228"/>
            <a:ext cx="76829" cy="96516"/>
          </a:xfrm>
          <a:prstGeom prst="line">
            <a:avLst/>
          </a:prstGeom>
          <a:noFill/>
          <a:ln w="38100">
            <a:solidFill>
              <a:srgbClr val="127C8A"/>
            </a:solidFill>
            <a:prstDash val="solid"/>
          </a:ln>
        </p:spPr>
      </p:sp>
      <p:sp>
        <p:nvSpPr>
          <p:cNvPr id="32" name="line-455"/>
          <p:cNvSpPr/>
          <p:nvPr/>
        </p:nvSpPr>
        <p:spPr>
          <a:xfrm flipV="1">
            <a:off x="4456995" y="3543300"/>
            <a:ext cx="76829" cy="101928"/>
          </a:xfrm>
          <a:prstGeom prst="line">
            <a:avLst/>
          </a:prstGeom>
          <a:noFill/>
          <a:ln w="38100">
            <a:solidFill>
              <a:srgbClr val="127C8A"/>
            </a:solidFill>
            <a:prstDash val="solid"/>
          </a:ln>
        </p:spPr>
      </p:sp>
      <p:sp>
        <p:nvSpPr>
          <p:cNvPr id="33" name="line-456"/>
          <p:cNvSpPr/>
          <p:nvPr/>
        </p:nvSpPr>
        <p:spPr>
          <a:xfrm flipV="1">
            <a:off x="4533824" y="3441372"/>
            <a:ext cx="76829" cy="101928"/>
          </a:xfrm>
          <a:prstGeom prst="line">
            <a:avLst/>
          </a:prstGeom>
          <a:noFill/>
          <a:ln w="38100">
            <a:solidFill>
              <a:srgbClr val="127C8A"/>
            </a:solidFill>
            <a:prstDash val="solid"/>
          </a:ln>
        </p:spPr>
      </p:sp>
      <p:sp>
        <p:nvSpPr>
          <p:cNvPr id="34" name="line-457"/>
          <p:cNvSpPr/>
          <p:nvPr/>
        </p:nvSpPr>
        <p:spPr>
          <a:xfrm flipV="1">
            <a:off x="4610652" y="3344856"/>
            <a:ext cx="76829" cy="96516"/>
          </a:xfrm>
          <a:prstGeom prst="line">
            <a:avLst/>
          </a:prstGeom>
          <a:noFill/>
          <a:ln w="38100">
            <a:solidFill>
              <a:srgbClr val="127C8A"/>
            </a:solidFill>
            <a:prstDash val="solid"/>
          </a:ln>
        </p:spPr>
      </p:sp>
      <p:sp>
        <p:nvSpPr>
          <p:cNvPr id="35" name="line-458"/>
          <p:cNvSpPr/>
          <p:nvPr/>
        </p:nvSpPr>
        <p:spPr>
          <a:xfrm flipV="1">
            <a:off x="4687481" y="3258072"/>
            <a:ext cx="76829" cy="86784"/>
          </a:xfrm>
          <a:prstGeom prst="line">
            <a:avLst/>
          </a:prstGeom>
          <a:noFill/>
          <a:ln w="38100">
            <a:solidFill>
              <a:srgbClr val="127C8A"/>
            </a:solidFill>
            <a:prstDash val="solid"/>
          </a:ln>
        </p:spPr>
      </p:sp>
      <p:sp>
        <p:nvSpPr>
          <p:cNvPr id="36" name="line-459"/>
          <p:cNvSpPr/>
          <p:nvPr/>
        </p:nvSpPr>
        <p:spPr>
          <a:xfrm flipV="1">
            <a:off x="4764310" y="3183595"/>
            <a:ext cx="76829" cy="74477"/>
          </a:xfrm>
          <a:prstGeom prst="line">
            <a:avLst/>
          </a:prstGeom>
          <a:noFill/>
          <a:ln w="38100">
            <a:solidFill>
              <a:srgbClr val="127C8A"/>
            </a:solidFill>
            <a:prstDash val="solid"/>
          </a:ln>
        </p:spPr>
      </p:sp>
      <p:sp>
        <p:nvSpPr>
          <p:cNvPr id="37" name="line-460"/>
          <p:cNvSpPr/>
          <p:nvPr/>
        </p:nvSpPr>
        <p:spPr>
          <a:xfrm flipV="1">
            <a:off x="4841138" y="3122194"/>
            <a:ext cx="76829" cy="61400"/>
          </a:xfrm>
          <a:prstGeom prst="line">
            <a:avLst/>
          </a:prstGeom>
          <a:noFill/>
          <a:ln w="38100">
            <a:solidFill>
              <a:srgbClr val="127C8A"/>
            </a:solidFill>
            <a:prstDash val="solid"/>
          </a:ln>
        </p:spPr>
      </p:sp>
      <p:sp>
        <p:nvSpPr>
          <p:cNvPr id="38" name="line-461"/>
          <p:cNvSpPr/>
          <p:nvPr/>
        </p:nvSpPr>
        <p:spPr>
          <a:xfrm flipV="1">
            <a:off x="4917967" y="3073229"/>
            <a:ext cx="76829" cy="48966"/>
          </a:xfrm>
          <a:prstGeom prst="line">
            <a:avLst/>
          </a:prstGeom>
          <a:noFill/>
          <a:ln w="38100">
            <a:solidFill>
              <a:srgbClr val="127C8A"/>
            </a:solidFill>
            <a:prstDash val="solid"/>
          </a:ln>
        </p:spPr>
      </p:sp>
      <p:sp>
        <p:nvSpPr>
          <p:cNvPr id="39" name="line-462"/>
          <p:cNvSpPr/>
          <p:nvPr/>
        </p:nvSpPr>
        <p:spPr>
          <a:xfrm flipV="1">
            <a:off x="4994796" y="3035204"/>
            <a:ext cx="76829" cy="38025"/>
          </a:xfrm>
          <a:prstGeom prst="line">
            <a:avLst/>
          </a:prstGeom>
          <a:noFill/>
          <a:ln w="38100">
            <a:solidFill>
              <a:srgbClr val="127C8A"/>
            </a:solidFill>
            <a:prstDash val="solid"/>
          </a:ln>
        </p:spPr>
      </p:sp>
      <p:sp>
        <p:nvSpPr>
          <p:cNvPr id="40" name="line-463"/>
          <p:cNvSpPr/>
          <p:nvPr/>
        </p:nvSpPr>
        <p:spPr>
          <a:xfrm flipV="1">
            <a:off x="5071624" y="3006281"/>
            <a:ext cx="76829" cy="28924"/>
          </a:xfrm>
          <a:prstGeom prst="line">
            <a:avLst/>
          </a:prstGeom>
          <a:noFill/>
          <a:ln w="38100">
            <a:solidFill>
              <a:srgbClr val="127C8A"/>
            </a:solidFill>
            <a:prstDash val="solid"/>
          </a:ln>
        </p:spPr>
      </p:sp>
      <p:sp>
        <p:nvSpPr>
          <p:cNvPr id="41" name="line-464"/>
          <p:cNvSpPr/>
          <p:nvPr/>
        </p:nvSpPr>
        <p:spPr>
          <a:xfrm flipV="1">
            <a:off x="5148453" y="2984624"/>
            <a:ext cx="76829" cy="21656"/>
          </a:xfrm>
          <a:prstGeom prst="line">
            <a:avLst/>
          </a:prstGeom>
          <a:noFill/>
          <a:ln w="38100">
            <a:solidFill>
              <a:srgbClr val="127C8A"/>
            </a:solidFill>
            <a:prstDash val="solid"/>
          </a:ln>
        </p:spPr>
      </p:sp>
      <p:sp>
        <p:nvSpPr>
          <p:cNvPr id="42" name="line-465"/>
          <p:cNvSpPr/>
          <p:nvPr/>
        </p:nvSpPr>
        <p:spPr>
          <a:xfrm flipV="1">
            <a:off x="5225282" y="2968601"/>
            <a:ext cx="76829" cy="16024"/>
          </a:xfrm>
          <a:prstGeom prst="line">
            <a:avLst/>
          </a:prstGeom>
          <a:noFill/>
          <a:ln w="38100">
            <a:solidFill>
              <a:srgbClr val="127C8A"/>
            </a:solidFill>
            <a:prstDash val="solid"/>
          </a:ln>
        </p:spPr>
      </p:sp>
      <p:sp>
        <p:nvSpPr>
          <p:cNvPr id="43" name="line-466"/>
          <p:cNvSpPr/>
          <p:nvPr/>
        </p:nvSpPr>
        <p:spPr>
          <a:xfrm flipV="1">
            <a:off x="5302110" y="2956848"/>
            <a:ext cx="76829" cy="11753"/>
          </a:xfrm>
          <a:prstGeom prst="line">
            <a:avLst/>
          </a:prstGeom>
          <a:noFill/>
          <a:ln w="38100">
            <a:solidFill>
              <a:srgbClr val="127C8A"/>
            </a:solidFill>
            <a:prstDash val="solid"/>
          </a:ln>
        </p:spPr>
      </p:sp>
      <p:sp>
        <p:nvSpPr>
          <p:cNvPr id="44" name="line-467"/>
          <p:cNvSpPr/>
          <p:nvPr/>
        </p:nvSpPr>
        <p:spPr>
          <a:xfrm flipV="1">
            <a:off x="5378939" y="2948283"/>
            <a:ext cx="76829" cy="8565"/>
          </a:xfrm>
          <a:prstGeom prst="line">
            <a:avLst/>
          </a:prstGeom>
          <a:noFill/>
          <a:ln w="38100">
            <a:solidFill>
              <a:srgbClr val="127C8A"/>
            </a:solidFill>
            <a:prstDash val="solid"/>
          </a:ln>
        </p:spPr>
      </p:sp>
      <p:sp>
        <p:nvSpPr>
          <p:cNvPr id="45" name="schematic-label-468"/>
          <p:cNvSpPr txBox="1"/>
          <p:nvPr/>
        </p:nvSpPr>
        <p:spPr>
          <a:xfrm>
            <a:off x="3337560" y="4407408"/>
            <a:ext cx="2392528" cy="256032"/>
          </a:xfrm>
          <a:prstGeom prst="rect">
            <a:avLst/>
          </a:prstGeom>
          <a:noFill/>
          <a:ln/>
        </p:spPr>
        <p:txBody>
          <a:bodyPr wrap="square" lIns="0" tIns="0" rIns="0" bIns="0" rtlCol="0" anchor="t"/>
          <a:lstStyle/>
          <a:p>
            <a:pPr algn="ctr" indent="0" marL="0">
              <a:buNone/>
            </a:pPr>
            <a:r>
              <a:rPr lang="en-US" sz="1000" i="1" dirty="0">
                <a:solidFill>
                  <a:schemeClr val="tx2"/>
                </a:solidFill>
              </a:rPr>
              <a:t>schematic</a:t>
            </a:r>
            <a:endParaRPr lang="en-US" sz="1000" dirty="0"/>
          </a:p>
        </p:txBody>
      </p:sp>
      <p:sp>
        <p:nvSpPr>
          <p:cNvPr id="46" name="group-card-469"/>
          <p:cNvSpPr/>
          <p:nvPr/>
        </p:nvSpPr>
        <p:spPr>
          <a:xfrm>
            <a:off x="6233008" y="1554480"/>
            <a:ext cx="5410048" cy="3337560"/>
          </a:xfrm>
          <a:prstGeom prst="roundRect">
            <a:avLst>
              <a:gd name="adj" fmla="val 2740"/>
            </a:avLst>
          </a:prstGeom>
          <a:solidFill>
            <a:schemeClr val="bg2"/>
          </a:solidFill>
          <a:ln/>
        </p:spPr>
      </p:sp>
      <p:sp>
        <p:nvSpPr>
          <p:cNvPr id="47" name="group-title-470"/>
          <p:cNvSpPr txBox="1"/>
          <p:nvPr/>
        </p:nvSpPr>
        <p:spPr>
          <a:xfrm>
            <a:off x="6507328" y="1691640"/>
            <a:ext cx="4861408" cy="777240"/>
          </a:xfrm>
          <a:prstGeom prst="rect">
            <a:avLst/>
          </a:prstGeom>
          <a:noFill/>
          <a:ln/>
        </p:spPr>
        <p:txBody>
          <a:bodyPr wrap="square" lIns="0" tIns="0" rIns="0" bIns="0" rtlCol="0" anchor="t"/>
          <a:lstStyle/>
          <a:p>
            <a:pPr indent="0" marL="0">
              <a:buNone/>
            </a:pPr>
            <a:r>
              <a:rPr lang="en-US" sz="2200" b="1" dirty="0">
                <a:solidFill>
                  <a:schemeClr val="tx2"/>
                </a:solidFill>
                <a:latin typeface="Avenir" pitchFamily="34" charset="0"/>
                <a:ea typeface="Avenir" pitchFamily="34" charset="-122"/>
                <a:cs typeface="Avenir" pitchFamily="34" charset="-120"/>
              </a:rPr>
              <a:t>Feature importance</a:t>
            </a:r>
            <a:endParaRPr lang="en-US" sz="1600" dirty="0"/>
          </a:p>
          <a:p>
            <a:pPr indent="0" marL="0">
              <a:buNone/>
            </a:pPr>
            <a:r>
              <a:rPr lang="en-US" sz="1400" i="1" dirty="0">
                <a:solidFill>
                  <a:schemeClr val="accent1"/>
                </a:solidFill>
              </a:rPr>
              <a:t>Which features matter most?</a:t>
            </a:r>
            <a:endParaRPr lang="en-US" sz="1600" dirty="0"/>
          </a:p>
        </p:txBody>
      </p:sp>
      <p:sp>
        <p:nvSpPr>
          <p:cNvPr id="48" name="method-471"/>
          <p:cNvSpPr txBox="1"/>
          <p:nvPr/>
        </p:nvSpPr>
        <p:spPr>
          <a:xfrm>
            <a:off x="6507328" y="2606040"/>
            <a:ext cx="2468880" cy="502920"/>
          </a:xfrm>
          <a:prstGeom prst="rect">
            <a:avLst/>
          </a:prstGeom>
          <a:noFill/>
          <a:ln/>
        </p:spPr>
        <p:txBody>
          <a:bodyPr wrap="square" lIns="0" tIns="0" rIns="0" bIns="0" rtlCol="0" anchor="ctr"/>
          <a:lstStyle/>
          <a:p>
            <a:pPr indent="0" marL="0">
              <a:buNone/>
            </a:pPr>
            <a:r>
              <a:rPr lang="en-US" sz="1500" b="1" dirty="0">
                <a:solidFill>
                  <a:schemeClr val="tx2"/>
                </a:solidFill>
              </a:rPr>
              <a:t>PFI</a:t>
            </a:r>
            <a:endParaRPr lang="en-US" sz="1500" dirty="0"/>
          </a:p>
          <a:p>
            <a:pPr indent="0" marL="0">
              <a:buNone/>
            </a:pPr>
            <a:r>
              <a:rPr lang="en-US" sz="1300" dirty="0">
                <a:solidFill>
                  <a:schemeClr val="tx1"/>
                </a:solidFill>
              </a:rPr>
              <a:t>loss increase when permuted</a:t>
            </a:r>
            <a:endParaRPr lang="en-US" sz="1500" dirty="0"/>
          </a:p>
        </p:txBody>
      </p:sp>
      <p:sp>
        <p:nvSpPr>
          <p:cNvPr id="49" name="method-472"/>
          <p:cNvSpPr txBox="1"/>
          <p:nvPr/>
        </p:nvSpPr>
        <p:spPr>
          <a:xfrm>
            <a:off x="6507328" y="3154680"/>
            <a:ext cx="2468880" cy="502920"/>
          </a:xfrm>
          <a:prstGeom prst="rect">
            <a:avLst/>
          </a:prstGeom>
          <a:noFill/>
          <a:ln/>
        </p:spPr>
        <p:txBody>
          <a:bodyPr wrap="square" lIns="0" tIns="0" rIns="0" bIns="0" rtlCol="0" anchor="ctr"/>
          <a:lstStyle/>
          <a:p>
            <a:pPr indent="0" marL="0">
              <a:buNone/>
            </a:pPr>
            <a:r>
              <a:rPr lang="en-US" sz="1500" b="1" dirty="0">
                <a:solidFill>
                  <a:schemeClr val="tx2"/>
                </a:solidFill>
              </a:rPr>
              <a:t>LOFO</a:t>
            </a:r>
            <a:endParaRPr lang="en-US" sz="1500" dirty="0"/>
          </a:p>
          <a:p>
            <a:pPr indent="0" marL="0">
              <a:buNone/>
            </a:pPr>
            <a:r>
              <a:rPr lang="en-US" sz="1300" dirty="0">
                <a:solidFill>
                  <a:schemeClr val="tx1"/>
                </a:solidFill>
              </a:rPr>
              <a:t>drop the feature, retrain</a:t>
            </a:r>
            <a:endParaRPr lang="en-US" sz="1500" dirty="0"/>
          </a:p>
        </p:txBody>
      </p:sp>
      <p:sp>
        <p:nvSpPr>
          <p:cNvPr id="50" name="method-473"/>
          <p:cNvSpPr txBox="1"/>
          <p:nvPr/>
        </p:nvSpPr>
        <p:spPr>
          <a:xfrm>
            <a:off x="6507328" y="3703320"/>
            <a:ext cx="2468880" cy="502920"/>
          </a:xfrm>
          <a:prstGeom prst="rect">
            <a:avLst/>
          </a:prstGeom>
          <a:noFill/>
          <a:ln/>
        </p:spPr>
        <p:txBody>
          <a:bodyPr wrap="square" lIns="0" tIns="0" rIns="0" bIns="0" rtlCol="0" anchor="ctr"/>
          <a:lstStyle/>
          <a:p>
            <a:pPr indent="0" marL="0">
              <a:buNone/>
            </a:pPr>
            <a:r>
              <a:rPr lang="en-US" sz="1500" b="1" dirty="0">
                <a:solidFill>
                  <a:schemeClr val="tx2"/>
                </a:solidFill>
              </a:rPr>
              <a:t>SHAP importance</a:t>
            </a:r>
            <a:endParaRPr lang="en-US" sz="1500" dirty="0"/>
          </a:p>
          <a:p>
            <a:pPr indent="0" marL="0">
              <a:buNone/>
            </a:pPr>
            <a:r>
              <a:rPr lang="en-US" sz="1300" dirty="0">
                <a:solidFill>
                  <a:schemeClr val="tx1"/>
                </a:solidFill>
              </a:rPr>
              <a:t>from Shapley values</a:t>
            </a:r>
            <a:endParaRPr lang="en-US" sz="1500" dirty="0"/>
          </a:p>
        </p:txBody>
      </p:sp>
      <p:sp>
        <p:nvSpPr>
          <p:cNvPr id="51" name="schematic-card-474"/>
          <p:cNvSpPr/>
          <p:nvPr/>
        </p:nvSpPr>
        <p:spPr>
          <a:xfrm>
            <a:off x="9021928" y="2606040"/>
            <a:ext cx="2392528" cy="2103120"/>
          </a:xfrm>
          <a:prstGeom prst="roundRect">
            <a:avLst>
              <a:gd name="adj" fmla="val 3478"/>
            </a:avLst>
          </a:prstGeom>
          <a:solidFill>
            <a:schemeClr val="bg1"/>
          </a:solidFill>
          <a:ln/>
        </p:spPr>
      </p:sp>
      <p:sp>
        <p:nvSpPr>
          <p:cNvPr id="52" name="line-475"/>
          <p:cNvSpPr/>
          <p:nvPr/>
        </p:nvSpPr>
        <p:spPr>
          <a:xfrm>
            <a:off x="9296248" y="4251960"/>
            <a:ext cx="1843888" cy="0"/>
          </a:xfrm>
          <a:prstGeom prst="line">
            <a:avLst/>
          </a:prstGeom>
          <a:noFill/>
          <a:ln w="12700">
            <a:solidFill>
              <a:srgbClr val="9DB7C2"/>
            </a:solidFill>
            <a:prstDash val="solid"/>
          </a:ln>
        </p:spPr>
      </p:sp>
      <p:sp>
        <p:nvSpPr>
          <p:cNvPr id="53" name="line-476"/>
          <p:cNvSpPr/>
          <p:nvPr/>
        </p:nvSpPr>
        <p:spPr>
          <a:xfrm>
            <a:off x="9296248" y="2788920"/>
            <a:ext cx="0" cy="1463040"/>
          </a:xfrm>
          <a:prstGeom prst="line">
            <a:avLst/>
          </a:prstGeom>
          <a:noFill/>
          <a:ln w="12700">
            <a:solidFill>
              <a:srgbClr val="9DB7C2"/>
            </a:solidFill>
            <a:prstDash val="solid"/>
          </a:ln>
        </p:spPr>
      </p:sp>
      <p:sp>
        <p:nvSpPr>
          <p:cNvPr id="54" name="schematic-bar"/>
          <p:cNvSpPr/>
          <p:nvPr/>
        </p:nvSpPr>
        <p:spPr>
          <a:xfrm>
            <a:off x="9341968" y="2898648"/>
            <a:ext cx="1577203" cy="237744"/>
          </a:xfrm>
          <a:prstGeom prst="rect">
            <a:avLst/>
          </a:prstGeom>
          <a:solidFill>
            <a:schemeClr val="accent2"/>
          </a:solidFill>
          <a:ln/>
        </p:spPr>
      </p:sp>
      <p:sp>
        <p:nvSpPr>
          <p:cNvPr id="55" name="schematic-bar"/>
          <p:cNvSpPr/>
          <p:nvPr/>
        </p:nvSpPr>
        <p:spPr>
          <a:xfrm>
            <a:off x="9341968" y="3246120"/>
            <a:ext cx="1051469" cy="237744"/>
          </a:xfrm>
          <a:prstGeom prst="rect">
            <a:avLst/>
          </a:prstGeom>
          <a:solidFill>
            <a:schemeClr val="accent6"/>
          </a:solidFill>
          <a:ln/>
        </p:spPr>
      </p:sp>
      <p:sp>
        <p:nvSpPr>
          <p:cNvPr id="56" name="schematic-bar"/>
          <p:cNvSpPr/>
          <p:nvPr/>
        </p:nvSpPr>
        <p:spPr>
          <a:xfrm>
            <a:off x="9341968" y="3593592"/>
            <a:ext cx="613357" cy="237744"/>
          </a:xfrm>
          <a:prstGeom prst="rect">
            <a:avLst/>
          </a:prstGeom>
          <a:solidFill>
            <a:schemeClr val="accent6"/>
          </a:solidFill>
          <a:ln/>
        </p:spPr>
      </p:sp>
      <p:sp>
        <p:nvSpPr>
          <p:cNvPr id="57" name="schematic-bar"/>
          <p:cNvSpPr/>
          <p:nvPr/>
        </p:nvSpPr>
        <p:spPr>
          <a:xfrm>
            <a:off x="9341968" y="3941064"/>
            <a:ext cx="262867" cy="237744"/>
          </a:xfrm>
          <a:prstGeom prst="rect">
            <a:avLst/>
          </a:prstGeom>
          <a:solidFill>
            <a:schemeClr val="accent6"/>
          </a:solidFill>
          <a:ln/>
        </p:spPr>
      </p:sp>
      <p:sp>
        <p:nvSpPr>
          <p:cNvPr id="58" name="schematic-label-477"/>
          <p:cNvSpPr txBox="1"/>
          <p:nvPr/>
        </p:nvSpPr>
        <p:spPr>
          <a:xfrm>
            <a:off x="9021928" y="4407408"/>
            <a:ext cx="2392528" cy="256032"/>
          </a:xfrm>
          <a:prstGeom prst="rect">
            <a:avLst/>
          </a:prstGeom>
          <a:noFill/>
          <a:ln/>
        </p:spPr>
        <p:txBody>
          <a:bodyPr wrap="square" lIns="0" tIns="0" rIns="0" bIns="0" rtlCol="0" anchor="t"/>
          <a:lstStyle/>
          <a:p>
            <a:pPr algn="ctr" indent="0" marL="0">
              <a:buNone/>
            </a:pPr>
            <a:r>
              <a:rPr lang="en-US" sz="1000" i="1" dirty="0">
                <a:solidFill>
                  <a:schemeClr val="tx2"/>
                </a:solidFill>
              </a:rPr>
              <a:t>schematic</a:t>
            </a:r>
            <a:endParaRPr lang="en-US" sz="1000" dirty="0"/>
          </a:p>
        </p:txBody>
      </p:sp>
      <p:sp>
        <p:nvSpPr>
          <p:cNvPr id="59" name="other-card-478"/>
          <p:cNvSpPr/>
          <p:nvPr/>
        </p:nvSpPr>
        <p:spPr>
          <a:xfrm>
            <a:off x="548640" y="5074920"/>
            <a:ext cx="5410048" cy="1097280"/>
          </a:xfrm>
          <a:prstGeom prst="roundRect">
            <a:avLst>
              <a:gd name="adj" fmla="val 8333"/>
            </a:avLst>
          </a:prstGeom>
          <a:solidFill>
            <a:schemeClr val="bg1"/>
          </a:solidFill>
          <a:ln w="15875">
            <a:solidFill>
              <a:schemeClr val="bg2"/>
            </a:solidFill>
            <a:prstDash val="solid"/>
          </a:ln>
        </p:spPr>
      </p:sp>
      <p:sp>
        <p:nvSpPr>
          <p:cNvPr id="60" name="other-text-479"/>
          <p:cNvSpPr txBox="1"/>
          <p:nvPr/>
        </p:nvSpPr>
        <p:spPr>
          <a:xfrm>
            <a:off x="777240" y="5074920"/>
            <a:ext cx="4952848" cy="1097280"/>
          </a:xfrm>
          <a:prstGeom prst="rect">
            <a:avLst/>
          </a:prstGeom>
          <a:noFill/>
          <a:ln/>
        </p:spPr>
        <p:txBody>
          <a:bodyPr wrap="square" lIns="0" tIns="0" rIns="0" bIns="0" rtlCol="0" anchor="ctr"/>
          <a:lstStyle/>
          <a:p>
            <a:pPr indent="0" marL="0">
              <a:buNone/>
            </a:pPr>
            <a:r>
              <a:rPr lang="en-US" sz="1500" b="1" dirty="0">
                <a:solidFill>
                  <a:schemeClr val="tx2"/>
                </a:solidFill>
              </a:rPr>
              <a:t>Also: </a:t>
            </a:r>
            <a:pPr indent="0" marL="0">
              <a:buNone/>
            </a:pPr>
            <a:r>
              <a:rPr lang="en-US" sz="1500" dirty="0">
                <a:solidFill>
                  <a:schemeClr val="tx1"/>
                </a:solidFill>
              </a:rPr>
              <a:t>surrogate models, and prototypes and criticisms (representative data points).</a:t>
            </a:r>
            <a:endParaRPr lang="en-US" sz="1500" dirty="0"/>
          </a:p>
        </p:txBody>
      </p:sp>
      <p:sp>
        <p:nvSpPr>
          <p:cNvPr id="61" name="tip-card-480"/>
          <p:cNvSpPr/>
          <p:nvPr/>
        </p:nvSpPr>
        <p:spPr>
          <a:xfrm>
            <a:off x="6233008" y="5074920"/>
            <a:ext cx="5410048" cy="1097280"/>
          </a:xfrm>
          <a:prstGeom prst="roundRect">
            <a:avLst>
              <a:gd name="adj" fmla="val 8333"/>
            </a:avLst>
          </a:prstGeom>
          <a:solidFill>
            <a:schemeClr val="accent2"/>
          </a:solidFill>
          <a:ln/>
        </p:spPr>
      </p:sp>
      <p:sp>
        <p:nvSpPr>
          <p:cNvPr id="62" name="icon-bg-481"/>
          <p:cNvSpPr/>
          <p:nvPr/>
        </p:nvSpPr>
        <p:spPr>
          <a:xfrm>
            <a:off x="6461608" y="5303520"/>
            <a:ext cx="640080" cy="640080"/>
          </a:xfrm>
          <a:prstGeom prst="ellipse">
            <a:avLst/>
          </a:prstGeom>
          <a:solidFill>
            <a:schemeClr val="bg1"/>
          </a:solidFill>
          <a:ln/>
        </p:spPr>
      </p:sp>
      <p:pic>
        <p:nvPicPr>
          <p:cNvPr id="63" name="icon-482" descr="LuLightbulb">    </p:cNvPr>
          <p:cNvPicPr>
            <a:picLocks noChangeAspect="1"/>
          </p:cNvPicPr>
          <p:nvPr/>
        </p:nvPicPr>
        <p:blipFill>
          <a:blip r:embed="rId1"/>
          <a:stretch>
            <a:fillRect/>
          </a:stretch>
        </p:blipFill>
        <p:spPr>
          <a:xfrm>
            <a:off x="6628028" y="5469941"/>
            <a:ext cx="307238" cy="307238"/>
          </a:xfrm>
          <a:prstGeom prst="rect">
            <a:avLst/>
          </a:prstGeom>
        </p:spPr>
      </p:pic>
      <p:sp>
        <p:nvSpPr>
          <p:cNvPr id="64" name="tip-text-483"/>
          <p:cNvSpPr txBox="1"/>
          <p:nvPr/>
        </p:nvSpPr>
        <p:spPr>
          <a:xfrm>
            <a:off x="7284568" y="5074920"/>
            <a:ext cx="4175608" cy="1097280"/>
          </a:xfrm>
          <a:prstGeom prst="rect">
            <a:avLst/>
          </a:prstGeom>
          <a:noFill/>
          <a:ln/>
        </p:spPr>
        <p:txBody>
          <a:bodyPr wrap="square" lIns="0" tIns="0" rIns="0" bIns="0" rtlCol="0" anchor="ctr"/>
          <a:lstStyle/>
          <a:p>
            <a:pPr indent="0" marL="0">
              <a:buNone/>
            </a:pPr>
            <a:r>
              <a:rPr lang="en-US" sz="1500" b="1" dirty="0">
                <a:solidFill>
                  <a:schemeClr val="bg1"/>
                </a:solidFill>
              </a:rPr>
              <a:t>Tip: </a:t>
            </a:r>
            <a:pPr indent="0" marL="0">
              <a:buNone/>
            </a:pPr>
            <a:r>
              <a:rPr lang="en-US" sz="1500" dirty="0">
                <a:solidFill>
                  <a:schemeClr val="bg1"/>
                </a:solidFill>
              </a:rPr>
              <a:t>run global methods on subsets of the data for “group-wise” or “regional” insights.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3657600" cy="1463040"/>
          </a:xfrm>
          <a:prstGeom prst="rect">
            <a:avLst/>
          </a:prstGeom>
          <a:noFill/>
          <a:ln/>
        </p:spPr>
        <p:txBody>
          <a:bodyPr wrap="square" lIns="0" tIns="0" rIns="0" bIns="0" rtlCol="0" anchor="b"/>
          <a:lstStyle/>
          <a:p>
            <a:pPr algn="l" indent="0" marL="0">
              <a:buNone/>
            </a:pPr>
            <a:r>
              <a:rPr lang="en-US" sz="9600" b="1" dirty="0">
                <a:solidFill>
                  <a:schemeClr val="accent2"/>
                </a:solidFill>
                <a:latin typeface="Avenir" pitchFamily="34" charset="0"/>
                <a:ea typeface="Avenir" pitchFamily="34" charset="-122"/>
                <a:cs typeface="Avenir" pitchFamily="34" charset="-120"/>
              </a:rPr>
              <a:t>03</a:t>
            </a:r>
            <a:endParaRPr lang="en-US" sz="9600" dirty="0"/>
          </a:p>
        </p:txBody>
      </p:sp>
      <p:sp>
        <p:nvSpPr>
          <p:cNvPr id="3" name="Text 0"/>
          <p:cNvSpPr/>
          <p:nvPr>
            <p:ph idx="101" type="title" hasCustomPrompt="1"/>
          </p:nvPr>
        </p:nvSpPr>
        <p:spPr>
          <a:xfrm>
            <a:off x="731520" y="3063240"/>
            <a:ext cx="10058400" cy="1005840"/>
          </a:xfrm>
          <a:prstGeom prst="rect">
            <a:avLst/>
          </a:prstGeom>
          <a:noFill/>
          <a:ln/>
        </p:spPr>
        <p:txBody>
          <a:bodyPr wrap="square" lIns="0" tIns="0" rIns="0" bIns="0" rtlCol="0" anchor="t"/>
          <a:lstStyle/>
          <a:p>
            <a:pPr algn="l" indent="0" marL="0">
              <a:buNone/>
            </a:pPr>
            <a:r>
              <a:rPr lang="en-US" sz="4400" b="1" dirty="0">
                <a:solidFill>
                  <a:schemeClr val="bg1"/>
                </a:solidFill>
                <a:latin typeface="Avenir" pitchFamily="34" charset="0"/>
                <a:ea typeface="Avenir" pitchFamily="34" charset="-122"/>
                <a:cs typeface="Avenir" pitchFamily="34" charset="-120"/>
              </a:rPr>
              <a:t>Model-specific methods</a:t>
            </a:r>
            <a:endParaRPr lang="en-US" sz="4400" dirty="0"/>
          </a:p>
        </p:txBody>
      </p:sp>
      <p:sp>
        <p:nvSpPr>
          <p:cNvPr id="4" name="Text 0"/>
          <p:cNvSpPr/>
          <p:nvPr>
            <p:ph idx="102" type="body" hasCustomPrompt="1"/>
          </p:nvPr>
        </p:nvSpPr>
        <p:spPr>
          <a:xfrm>
            <a:off x="731520" y="4114800"/>
            <a:ext cx="9144000" cy="914400"/>
          </a:xfrm>
          <a:prstGeom prst="rect">
            <a:avLst/>
          </a:prstGeom>
          <a:noFill/>
          <a:ln/>
        </p:spPr>
        <p:txBody>
          <a:bodyPr wrap="square" lIns="0" tIns="0" rIns="0" bIns="0" rtlCol="0" anchor="t"/>
          <a:lstStyle/>
          <a:p>
            <a:pPr algn="l" indent="0" marL="0">
              <a:buNone/>
            </a:pPr>
            <a:r>
              <a:rPr lang="en-US" sz="2000" dirty="0">
                <a:solidFill>
                  <a:schemeClr val="bg2"/>
                </a:solidFill>
              </a:rPr>
              <a:t>Post-hoc methods built for one type of model</a:t>
            </a:r>
            <a:endParaRPr lang="en-US" sz="2000" dirty="0"/>
          </a:p>
        </p:txBody>
      </p:sp>
      <p:sp>
        <p:nvSpPr>
          <p:cNvPr id="5" name="pill-484"/>
          <p:cNvSpPr/>
          <p:nvPr/>
        </p:nvSpPr>
        <p:spPr>
          <a:xfrm>
            <a:off x="731520" y="5120640"/>
            <a:ext cx="1531620" cy="384048"/>
          </a:xfrm>
          <a:prstGeom prst="roundRect">
            <a:avLst>
              <a:gd name="adj" fmla="val 50000"/>
            </a:avLst>
          </a:prstGeom>
          <a:solidFill>
            <a:schemeClr val="accent1"/>
          </a:solidFill>
          <a:ln/>
        </p:spPr>
      </p:sp>
      <p:sp>
        <p:nvSpPr>
          <p:cNvPr id="6" name="pill-text-485"/>
          <p:cNvSpPr txBox="1"/>
          <p:nvPr/>
        </p:nvSpPr>
        <p:spPr>
          <a:xfrm>
            <a:off x="731520" y="5120640"/>
            <a:ext cx="1531620" cy="384048"/>
          </a:xfrm>
          <a:prstGeom prst="rect">
            <a:avLst/>
          </a:prstGeom>
          <a:noFill/>
          <a:ln/>
        </p:spPr>
        <p:txBody>
          <a:bodyPr wrap="square" lIns="0" tIns="0" rIns="0" bIns="0" rtlCol="0" anchor="ctr"/>
          <a:lstStyle/>
          <a:p>
            <a:pPr algn="ctr" indent="0" marL="0">
              <a:buNone/>
            </a:pPr>
            <a:r>
              <a:rPr lang="en-US" sz="1300" b="1" dirty="0">
                <a:solidFill>
                  <a:schemeClr val="bg1"/>
                </a:solidFill>
              </a:rPr>
              <a:t>Neural networks</a:t>
            </a:r>
            <a:endParaRPr lang="en-US" sz="1300" dirty="0"/>
          </a:p>
        </p:txBody>
      </p:sp>
      <p:sp>
        <p:nvSpPr>
          <p:cNvPr id="7" name="line-486"/>
          <p:cNvSpPr/>
          <p:nvPr/>
        </p:nvSpPr>
        <p:spPr>
          <a:xfrm>
            <a:off x="9587484" y="2435047"/>
            <a:ext cx="0" cy="160934"/>
          </a:xfrm>
          <a:prstGeom prst="line">
            <a:avLst/>
          </a:prstGeom>
          <a:noFill/>
          <a:ln w="15875">
            <a:solidFill>
              <a:srgbClr val="9DB7C2"/>
            </a:solidFill>
            <a:prstDash val="solid"/>
          </a:ln>
        </p:spPr>
      </p:sp>
      <p:sp>
        <p:nvSpPr>
          <p:cNvPr id="8" name="line-487"/>
          <p:cNvSpPr/>
          <p:nvPr/>
        </p:nvSpPr>
        <p:spPr>
          <a:xfrm flipH="1">
            <a:off x="8380476" y="2595982"/>
            <a:ext cx="1207008" cy="0"/>
          </a:xfrm>
          <a:prstGeom prst="line">
            <a:avLst/>
          </a:prstGeom>
          <a:noFill/>
          <a:ln w="15875">
            <a:solidFill>
              <a:srgbClr val="9DB7C2"/>
            </a:solidFill>
            <a:prstDash val="solid"/>
          </a:ln>
        </p:spPr>
      </p:sp>
      <p:sp>
        <p:nvSpPr>
          <p:cNvPr id="9" name="line-488"/>
          <p:cNvSpPr/>
          <p:nvPr/>
        </p:nvSpPr>
        <p:spPr>
          <a:xfrm>
            <a:off x="8380476" y="2595982"/>
            <a:ext cx="0" cy="160934"/>
          </a:xfrm>
          <a:prstGeom prst="line">
            <a:avLst/>
          </a:prstGeom>
          <a:noFill/>
          <a:ln w="15875">
            <a:solidFill>
              <a:srgbClr val="9DB7C2"/>
            </a:solidFill>
            <a:prstDash val="solid"/>
            <a:tailEnd type="triangle"/>
          </a:ln>
        </p:spPr>
      </p:sp>
      <p:sp>
        <p:nvSpPr>
          <p:cNvPr id="10" name="line-489"/>
          <p:cNvSpPr/>
          <p:nvPr/>
        </p:nvSpPr>
        <p:spPr>
          <a:xfrm>
            <a:off x="9587484" y="2435047"/>
            <a:ext cx="0" cy="160934"/>
          </a:xfrm>
          <a:prstGeom prst="line">
            <a:avLst/>
          </a:prstGeom>
          <a:noFill/>
          <a:ln w="15875">
            <a:solidFill>
              <a:srgbClr val="9DB7C2"/>
            </a:solidFill>
            <a:prstDash val="solid"/>
          </a:ln>
        </p:spPr>
      </p:sp>
      <p:sp>
        <p:nvSpPr>
          <p:cNvPr id="11" name="line-490"/>
          <p:cNvSpPr/>
          <p:nvPr/>
        </p:nvSpPr>
        <p:spPr>
          <a:xfrm>
            <a:off x="9587484" y="2595982"/>
            <a:ext cx="804672" cy="0"/>
          </a:xfrm>
          <a:prstGeom prst="line">
            <a:avLst/>
          </a:prstGeom>
          <a:noFill/>
          <a:ln w="15875">
            <a:solidFill>
              <a:srgbClr val="9DB7C2"/>
            </a:solidFill>
            <a:prstDash val="solid"/>
          </a:ln>
        </p:spPr>
      </p:sp>
      <p:sp>
        <p:nvSpPr>
          <p:cNvPr id="12" name="line-491"/>
          <p:cNvSpPr/>
          <p:nvPr/>
        </p:nvSpPr>
        <p:spPr>
          <a:xfrm>
            <a:off x="10392156" y="2595982"/>
            <a:ext cx="0" cy="160934"/>
          </a:xfrm>
          <a:prstGeom prst="line">
            <a:avLst/>
          </a:prstGeom>
          <a:noFill/>
          <a:ln w="15875">
            <a:solidFill>
              <a:srgbClr val="9DB7C2"/>
            </a:solidFill>
            <a:prstDash val="solid"/>
            <a:tailEnd type="triangle"/>
          </a:ln>
        </p:spPr>
      </p:sp>
      <p:sp>
        <p:nvSpPr>
          <p:cNvPr id="13" name="line-492"/>
          <p:cNvSpPr/>
          <p:nvPr/>
        </p:nvSpPr>
        <p:spPr>
          <a:xfrm>
            <a:off x="10392156" y="3088843"/>
            <a:ext cx="0" cy="160934"/>
          </a:xfrm>
          <a:prstGeom prst="line">
            <a:avLst/>
          </a:prstGeom>
          <a:noFill/>
          <a:ln w="15875">
            <a:solidFill>
              <a:srgbClr val="9DB7C2"/>
            </a:solidFill>
            <a:prstDash val="solid"/>
          </a:ln>
        </p:spPr>
      </p:sp>
      <p:sp>
        <p:nvSpPr>
          <p:cNvPr id="14" name="line-493"/>
          <p:cNvSpPr/>
          <p:nvPr/>
        </p:nvSpPr>
        <p:spPr>
          <a:xfrm flipH="1">
            <a:off x="9688068" y="3249778"/>
            <a:ext cx="704088" cy="0"/>
          </a:xfrm>
          <a:prstGeom prst="line">
            <a:avLst/>
          </a:prstGeom>
          <a:noFill/>
          <a:ln w="15875">
            <a:solidFill>
              <a:srgbClr val="9DB7C2"/>
            </a:solidFill>
            <a:prstDash val="solid"/>
          </a:ln>
        </p:spPr>
      </p:sp>
      <p:sp>
        <p:nvSpPr>
          <p:cNvPr id="15" name="line-494"/>
          <p:cNvSpPr/>
          <p:nvPr/>
        </p:nvSpPr>
        <p:spPr>
          <a:xfrm>
            <a:off x="9688068" y="3249778"/>
            <a:ext cx="0" cy="160934"/>
          </a:xfrm>
          <a:prstGeom prst="line">
            <a:avLst/>
          </a:prstGeom>
          <a:noFill/>
          <a:ln w="15875">
            <a:solidFill>
              <a:srgbClr val="9DB7C2"/>
            </a:solidFill>
            <a:prstDash val="solid"/>
            <a:tailEnd type="triangle"/>
          </a:ln>
        </p:spPr>
      </p:sp>
      <p:sp>
        <p:nvSpPr>
          <p:cNvPr id="16" name="line-495"/>
          <p:cNvSpPr/>
          <p:nvPr/>
        </p:nvSpPr>
        <p:spPr>
          <a:xfrm>
            <a:off x="10392156" y="3088843"/>
            <a:ext cx="0" cy="160934"/>
          </a:xfrm>
          <a:prstGeom prst="line">
            <a:avLst/>
          </a:prstGeom>
          <a:noFill/>
          <a:ln w="15875">
            <a:solidFill>
              <a:srgbClr val="9DB7C2"/>
            </a:solidFill>
            <a:prstDash val="solid"/>
          </a:ln>
        </p:spPr>
      </p:sp>
      <p:sp>
        <p:nvSpPr>
          <p:cNvPr id="17" name="line-496"/>
          <p:cNvSpPr/>
          <p:nvPr/>
        </p:nvSpPr>
        <p:spPr>
          <a:xfrm>
            <a:off x="10392156" y="3249778"/>
            <a:ext cx="653796" cy="0"/>
          </a:xfrm>
          <a:prstGeom prst="line">
            <a:avLst/>
          </a:prstGeom>
          <a:noFill/>
          <a:ln w="15875">
            <a:solidFill>
              <a:srgbClr val="9DB7C2"/>
            </a:solidFill>
            <a:prstDash val="solid"/>
          </a:ln>
        </p:spPr>
      </p:sp>
      <p:sp>
        <p:nvSpPr>
          <p:cNvPr id="18" name="line-497"/>
          <p:cNvSpPr/>
          <p:nvPr/>
        </p:nvSpPr>
        <p:spPr>
          <a:xfrm>
            <a:off x="11045952" y="3249778"/>
            <a:ext cx="0" cy="160934"/>
          </a:xfrm>
          <a:prstGeom prst="line">
            <a:avLst/>
          </a:prstGeom>
          <a:noFill/>
          <a:ln w="15875">
            <a:solidFill>
              <a:srgbClr val="9DB7C2"/>
            </a:solidFill>
            <a:prstDash val="solid"/>
            <a:tailEnd type="triangle"/>
          </a:ln>
        </p:spPr>
      </p:sp>
      <p:sp>
        <p:nvSpPr>
          <p:cNvPr id="19" name="line-498"/>
          <p:cNvSpPr/>
          <p:nvPr/>
        </p:nvSpPr>
        <p:spPr>
          <a:xfrm>
            <a:off x="9688068" y="3742639"/>
            <a:ext cx="0" cy="160934"/>
          </a:xfrm>
          <a:prstGeom prst="line">
            <a:avLst/>
          </a:prstGeom>
          <a:noFill/>
          <a:ln w="15875">
            <a:solidFill>
              <a:srgbClr val="9DB7C2"/>
            </a:solidFill>
            <a:prstDash val="solid"/>
          </a:ln>
        </p:spPr>
      </p:sp>
      <p:sp>
        <p:nvSpPr>
          <p:cNvPr id="20" name="line-499"/>
          <p:cNvSpPr/>
          <p:nvPr/>
        </p:nvSpPr>
        <p:spPr>
          <a:xfrm flipH="1">
            <a:off x="9160002" y="3903574"/>
            <a:ext cx="528066" cy="0"/>
          </a:xfrm>
          <a:prstGeom prst="line">
            <a:avLst/>
          </a:prstGeom>
          <a:noFill/>
          <a:ln w="15875">
            <a:solidFill>
              <a:srgbClr val="9DB7C2"/>
            </a:solidFill>
            <a:prstDash val="solid"/>
          </a:ln>
        </p:spPr>
      </p:sp>
      <p:sp>
        <p:nvSpPr>
          <p:cNvPr id="21" name="line-500"/>
          <p:cNvSpPr/>
          <p:nvPr/>
        </p:nvSpPr>
        <p:spPr>
          <a:xfrm>
            <a:off x="9160002" y="3903574"/>
            <a:ext cx="0" cy="160934"/>
          </a:xfrm>
          <a:prstGeom prst="line">
            <a:avLst/>
          </a:prstGeom>
          <a:noFill/>
          <a:ln w="15875">
            <a:solidFill>
              <a:srgbClr val="9DB7C2"/>
            </a:solidFill>
            <a:prstDash val="solid"/>
            <a:tailEnd type="triangle"/>
          </a:ln>
        </p:spPr>
      </p:sp>
      <p:sp>
        <p:nvSpPr>
          <p:cNvPr id="22" name="line-501"/>
          <p:cNvSpPr/>
          <p:nvPr/>
        </p:nvSpPr>
        <p:spPr>
          <a:xfrm>
            <a:off x="9688068" y="3742639"/>
            <a:ext cx="0" cy="160934"/>
          </a:xfrm>
          <a:prstGeom prst="line">
            <a:avLst/>
          </a:prstGeom>
          <a:noFill/>
          <a:ln w="15875">
            <a:solidFill>
              <a:srgbClr val="9DB7C2"/>
            </a:solidFill>
            <a:prstDash val="solid"/>
          </a:ln>
        </p:spPr>
      </p:sp>
      <p:sp>
        <p:nvSpPr>
          <p:cNvPr id="23" name="line-502"/>
          <p:cNvSpPr/>
          <p:nvPr/>
        </p:nvSpPr>
        <p:spPr>
          <a:xfrm>
            <a:off x="9688068" y="3903574"/>
            <a:ext cx="528066" cy="0"/>
          </a:xfrm>
          <a:prstGeom prst="line">
            <a:avLst/>
          </a:prstGeom>
          <a:noFill/>
          <a:ln w="15875">
            <a:solidFill>
              <a:srgbClr val="9DB7C2"/>
            </a:solidFill>
            <a:prstDash val="solid"/>
          </a:ln>
        </p:spPr>
      </p:sp>
      <p:sp>
        <p:nvSpPr>
          <p:cNvPr id="24" name="line-503"/>
          <p:cNvSpPr/>
          <p:nvPr/>
        </p:nvSpPr>
        <p:spPr>
          <a:xfrm>
            <a:off x="10216134" y="3903574"/>
            <a:ext cx="0" cy="160934"/>
          </a:xfrm>
          <a:prstGeom prst="line">
            <a:avLst/>
          </a:prstGeom>
          <a:noFill/>
          <a:ln w="15875">
            <a:solidFill>
              <a:srgbClr val="9DB7C2"/>
            </a:solidFill>
            <a:prstDash val="solid"/>
            <a:tailEnd type="triangle"/>
          </a:ln>
        </p:spPr>
      </p:sp>
      <p:sp>
        <p:nvSpPr>
          <p:cNvPr id="25" name="tax-box-504"/>
          <p:cNvSpPr/>
          <p:nvPr/>
        </p:nvSpPr>
        <p:spPr>
          <a:xfrm>
            <a:off x="8833104" y="2103120"/>
            <a:ext cx="1508760" cy="331927"/>
          </a:xfrm>
          <a:prstGeom prst="roundRect">
            <a:avLst>
              <a:gd name="adj" fmla="val 15152"/>
            </a:avLst>
          </a:prstGeom>
          <a:solidFill>
            <a:schemeClr val="tx2"/>
          </a:solidFill>
          <a:ln w="15875">
            <a:solidFill>
              <a:schemeClr val="accent6"/>
            </a:solidFill>
            <a:prstDash val="solid"/>
          </a:ln>
        </p:spPr>
      </p:sp>
      <p:sp>
        <p:nvSpPr>
          <p:cNvPr id="26" name="tax-label-505"/>
          <p:cNvSpPr txBox="1"/>
          <p:nvPr/>
        </p:nvSpPr>
        <p:spPr>
          <a:xfrm>
            <a:off x="8833104" y="2103120"/>
            <a:ext cx="1508760" cy="331927"/>
          </a:xfrm>
          <a:prstGeom prst="rect">
            <a:avLst/>
          </a:prstGeom>
          <a:noFill/>
          <a:ln/>
        </p:spPr>
        <p:txBody>
          <a:bodyPr wrap="square" lIns="0" tIns="0" rIns="0" bIns="0" rtlCol="0" anchor="ctr"/>
          <a:lstStyle/>
          <a:p>
            <a:pPr algn="ctr" indent="0" marL="0">
              <a:buNone/>
            </a:pPr>
            <a:r>
              <a:rPr lang="en-US" sz="1000" b="1" dirty="0">
                <a:solidFill>
                  <a:schemeClr val="bg2"/>
                </a:solidFill>
              </a:rPr>
              <a:t>ML interpretability</a:t>
            </a:r>
            <a:endParaRPr lang="en-US" sz="1000" dirty="0"/>
          </a:p>
        </p:txBody>
      </p:sp>
      <p:sp>
        <p:nvSpPr>
          <p:cNvPr id="27" name="tax-box-506"/>
          <p:cNvSpPr/>
          <p:nvPr/>
        </p:nvSpPr>
        <p:spPr>
          <a:xfrm>
            <a:off x="7726680" y="2756916"/>
            <a:ext cx="1307592" cy="331927"/>
          </a:xfrm>
          <a:prstGeom prst="roundRect">
            <a:avLst>
              <a:gd name="adj" fmla="val 15152"/>
            </a:avLst>
          </a:prstGeom>
          <a:solidFill>
            <a:schemeClr val="tx2"/>
          </a:solidFill>
          <a:ln w="15875">
            <a:solidFill>
              <a:schemeClr val="accent6"/>
            </a:solidFill>
            <a:prstDash val="solid"/>
          </a:ln>
        </p:spPr>
      </p:sp>
      <p:sp>
        <p:nvSpPr>
          <p:cNvPr id="28" name="tax-label-507"/>
          <p:cNvSpPr txBox="1"/>
          <p:nvPr/>
        </p:nvSpPr>
        <p:spPr>
          <a:xfrm>
            <a:off x="7726680" y="2756916"/>
            <a:ext cx="1307592" cy="331927"/>
          </a:xfrm>
          <a:prstGeom prst="rect">
            <a:avLst/>
          </a:prstGeom>
          <a:noFill/>
          <a:ln/>
        </p:spPr>
        <p:txBody>
          <a:bodyPr wrap="square" lIns="0" tIns="0" rIns="0" bIns="0" rtlCol="0" anchor="ctr"/>
          <a:lstStyle/>
          <a:p>
            <a:pPr algn="ctr" indent="0" marL="0">
              <a:buNone/>
            </a:pPr>
            <a:r>
              <a:rPr lang="en-US" sz="1000" b="1" dirty="0">
                <a:solidFill>
                  <a:schemeClr val="bg2"/>
                </a:solidFill>
              </a:rPr>
              <a:t>By design</a:t>
            </a:r>
            <a:endParaRPr lang="en-US" sz="1000" dirty="0"/>
          </a:p>
        </p:txBody>
      </p:sp>
      <p:sp>
        <p:nvSpPr>
          <p:cNvPr id="29" name="tax-box-508"/>
          <p:cNvSpPr/>
          <p:nvPr/>
        </p:nvSpPr>
        <p:spPr>
          <a:xfrm>
            <a:off x="9738360" y="2756916"/>
            <a:ext cx="1307592" cy="331927"/>
          </a:xfrm>
          <a:prstGeom prst="roundRect">
            <a:avLst>
              <a:gd name="adj" fmla="val 15152"/>
            </a:avLst>
          </a:prstGeom>
          <a:solidFill>
            <a:schemeClr val="accent2"/>
          </a:solidFill>
          <a:ln/>
        </p:spPr>
      </p:sp>
      <p:sp>
        <p:nvSpPr>
          <p:cNvPr id="30" name="tax-label-509"/>
          <p:cNvSpPr txBox="1"/>
          <p:nvPr/>
        </p:nvSpPr>
        <p:spPr>
          <a:xfrm>
            <a:off x="9738360" y="2756916"/>
            <a:ext cx="1307592" cy="331927"/>
          </a:xfrm>
          <a:prstGeom prst="rect">
            <a:avLst/>
          </a:prstGeom>
          <a:noFill/>
          <a:ln/>
        </p:spPr>
        <p:txBody>
          <a:bodyPr wrap="square" lIns="0" tIns="0" rIns="0" bIns="0" rtlCol="0" anchor="ctr"/>
          <a:lstStyle/>
          <a:p>
            <a:pPr algn="ctr" indent="0" marL="0">
              <a:buNone/>
            </a:pPr>
            <a:r>
              <a:rPr lang="en-US" sz="1000" b="1" dirty="0">
                <a:solidFill>
                  <a:schemeClr val="bg1"/>
                </a:solidFill>
              </a:rPr>
              <a:t>Post-hoc</a:t>
            </a:r>
            <a:endParaRPr lang="en-US" sz="1000" dirty="0"/>
          </a:p>
        </p:txBody>
      </p:sp>
      <p:sp>
        <p:nvSpPr>
          <p:cNvPr id="31" name="tax-box-510"/>
          <p:cNvSpPr/>
          <p:nvPr/>
        </p:nvSpPr>
        <p:spPr>
          <a:xfrm>
            <a:off x="9034272" y="3410712"/>
            <a:ext cx="1307592" cy="331927"/>
          </a:xfrm>
          <a:prstGeom prst="roundRect">
            <a:avLst>
              <a:gd name="adj" fmla="val 15152"/>
            </a:avLst>
          </a:prstGeom>
          <a:solidFill>
            <a:schemeClr val="tx2"/>
          </a:solidFill>
          <a:ln w="15875">
            <a:solidFill>
              <a:schemeClr val="accent6"/>
            </a:solidFill>
            <a:prstDash val="solid"/>
          </a:ln>
        </p:spPr>
      </p:sp>
      <p:sp>
        <p:nvSpPr>
          <p:cNvPr id="32" name="tax-label-511"/>
          <p:cNvSpPr txBox="1"/>
          <p:nvPr/>
        </p:nvSpPr>
        <p:spPr>
          <a:xfrm>
            <a:off x="9034272" y="3410712"/>
            <a:ext cx="1307592" cy="331927"/>
          </a:xfrm>
          <a:prstGeom prst="rect">
            <a:avLst/>
          </a:prstGeom>
          <a:noFill/>
          <a:ln/>
        </p:spPr>
        <p:txBody>
          <a:bodyPr wrap="square" lIns="0" tIns="0" rIns="0" bIns="0" rtlCol="0" anchor="ctr"/>
          <a:lstStyle/>
          <a:p>
            <a:pPr algn="ctr" indent="0" marL="0">
              <a:buNone/>
            </a:pPr>
            <a:r>
              <a:rPr lang="en-US" sz="1000" b="1" dirty="0">
                <a:solidFill>
                  <a:schemeClr val="bg2"/>
                </a:solidFill>
              </a:rPr>
              <a:t>Model-agnostic</a:t>
            </a:r>
            <a:endParaRPr lang="en-US" sz="1000" dirty="0"/>
          </a:p>
        </p:txBody>
      </p:sp>
      <p:sp>
        <p:nvSpPr>
          <p:cNvPr id="33" name="tax-box-512"/>
          <p:cNvSpPr/>
          <p:nvPr/>
        </p:nvSpPr>
        <p:spPr>
          <a:xfrm>
            <a:off x="10492740" y="3410712"/>
            <a:ext cx="1106424" cy="331927"/>
          </a:xfrm>
          <a:prstGeom prst="roundRect">
            <a:avLst>
              <a:gd name="adj" fmla="val 15152"/>
            </a:avLst>
          </a:prstGeom>
          <a:solidFill>
            <a:schemeClr val="accent2"/>
          </a:solidFill>
          <a:ln/>
        </p:spPr>
      </p:sp>
      <p:sp>
        <p:nvSpPr>
          <p:cNvPr id="34" name="tax-label-513"/>
          <p:cNvSpPr txBox="1"/>
          <p:nvPr/>
        </p:nvSpPr>
        <p:spPr>
          <a:xfrm>
            <a:off x="10492740" y="3410712"/>
            <a:ext cx="1106424" cy="331927"/>
          </a:xfrm>
          <a:prstGeom prst="rect">
            <a:avLst/>
          </a:prstGeom>
          <a:noFill/>
          <a:ln/>
        </p:spPr>
        <p:txBody>
          <a:bodyPr wrap="square" lIns="0" tIns="0" rIns="0" bIns="0" rtlCol="0" anchor="ctr"/>
          <a:lstStyle/>
          <a:p>
            <a:pPr algn="ctr" indent="0" marL="0">
              <a:buNone/>
            </a:pPr>
            <a:r>
              <a:rPr lang="en-US" sz="1000" b="1" dirty="0">
                <a:solidFill>
                  <a:schemeClr val="bg1"/>
                </a:solidFill>
              </a:rPr>
              <a:t>Model-specific</a:t>
            </a:r>
            <a:endParaRPr lang="en-US" sz="1000" dirty="0"/>
          </a:p>
        </p:txBody>
      </p:sp>
      <p:sp>
        <p:nvSpPr>
          <p:cNvPr id="35" name="tax-box-514"/>
          <p:cNvSpPr/>
          <p:nvPr/>
        </p:nvSpPr>
        <p:spPr>
          <a:xfrm>
            <a:off x="8732520" y="4064508"/>
            <a:ext cx="854964" cy="331927"/>
          </a:xfrm>
          <a:prstGeom prst="roundRect">
            <a:avLst>
              <a:gd name="adj" fmla="val 15152"/>
            </a:avLst>
          </a:prstGeom>
          <a:solidFill>
            <a:schemeClr val="tx2"/>
          </a:solidFill>
          <a:ln w="15875">
            <a:solidFill>
              <a:schemeClr val="accent6"/>
            </a:solidFill>
            <a:prstDash val="solid"/>
          </a:ln>
        </p:spPr>
      </p:sp>
      <p:sp>
        <p:nvSpPr>
          <p:cNvPr id="36" name="tax-label-515"/>
          <p:cNvSpPr txBox="1"/>
          <p:nvPr/>
        </p:nvSpPr>
        <p:spPr>
          <a:xfrm>
            <a:off x="8732520" y="4064508"/>
            <a:ext cx="854964" cy="331927"/>
          </a:xfrm>
          <a:prstGeom prst="rect">
            <a:avLst/>
          </a:prstGeom>
          <a:noFill/>
          <a:ln/>
        </p:spPr>
        <p:txBody>
          <a:bodyPr wrap="square" lIns="0" tIns="0" rIns="0" bIns="0" rtlCol="0" anchor="ctr"/>
          <a:lstStyle/>
          <a:p>
            <a:pPr algn="ctr" indent="0" marL="0">
              <a:buNone/>
            </a:pPr>
            <a:r>
              <a:rPr lang="en-US" sz="1000" b="1" dirty="0">
                <a:solidFill>
                  <a:schemeClr val="bg2"/>
                </a:solidFill>
              </a:rPr>
              <a:t>Local</a:t>
            </a:r>
            <a:endParaRPr lang="en-US" sz="1000" dirty="0"/>
          </a:p>
        </p:txBody>
      </p:sp>
      <p:sp>
        <p:nvSpPr>
          <p:cNvPr id="37" name="tax-box-516"/>
          <p:cNvSpPr/>
          <p:nvPr/>
        </p:nvSpPr>
        <p:spPr>
          <a:xfrm>
            <a:off x="9788652" y="4064508"/>
            <a:ext cx="854964" cy="331927"/>
          </a:xfrm>
          <a:prstGeom prst="roundRect">
            <a:avLst>
              <a:gd name="adj" fmla="val 15152"/>
            </a:avLst>
          </a:prstGeom>
          <a:solidFill>
            <a:schemeClr val="tx2"/>
          </a:solidFill>
          <a:ln w="15875">
            <a:solidFill>
              <a:schemeClr val="accent6"/>
            </a:solidFill>
            <a:prstDash val="solid"/>
          </a:ln>
        </p:spPr>
      </p:sp>
      <p:sp>
        <p:nvSpPr>
          <p:cNvPr id="38" name="tax-label-517"/>
          <p:cNvSpPr txBox="1"/>
          <p:nvPr/>
        </p:nvSpPr>
        <p:spPr>
          <a:xfrm>
            <a:off x="9788652" y="4064508"/>
            <a:ext cx="854964" cy="331927"/>
          </a:xfrm>
          <a:prstGeom prst="rect">
            <a:avLst/>
          </a:prstGeom>
          <a:noFill/>
          <a:ln/>
        </p:spPr>
        <p:txBody>
          <a:bodyPr wrap="square" lIns="0" tIns="0" rIns="0" bIns="0" rtlCol="0" anchor="ctr"/>
          <a:lstStyle/>
          <a:p>
            <a:pPr algn="ctr" indent="0" marL="0">
              <a:buNone/>
            </a:pPr>
            <a:r>
              <a:rPr lang="en-US" sz="1000" b="1" dirty="0">
                <a:solidFill>
                  <a:schemeClr val="bg2"/>
                </a:solidFill>
              </a:rPr>
              <a:t>Global</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5852160" cy="292608"/>
          </a:xfrm>
          <a:prstGeom prst="rect">
            <a:avLst/>
          </a:prstGeom>
          <a:noFill/>
          <a:ln/>
        </p:spPr>
        <p:txBody>
          <a:bodyPr wrap="square" lIns="0" tIns="0" rIns="0" bIns="0" rtlCol="0" anchor="b"/>
          <a:lstStyle/>
          <a:p>
            <a:pPr algn="l" indent="0" marL="0">
              <a:buNone/>
            </a:pPr>
            <a:r>
              <a:rPr lang="en-US" sz="1200" b="1" spc="200" kern="0" dirty="0">
                <a:solidFill>
                  <a:schemeClr val="accent1"/>
                </a:solidFill>
              </a:rPr>
              <a:t>NEURAL NETWORKS</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200" b="1" dirty="0">
                <a:solidFill>
                  <a:schemeClr val="tx2"/>
                </a:solidFill>
                <a:latin typeface="Avenir" pitchFamily="34" charset="0"/>
                <a:ea typeface="Avenir" pitchFamily="34" charset="-122"/>
                <a:cs typeface="Avenir" pitchFamily="34" charset="-120"/>
              </a:rPr>
              <a:t>Model-specific methods look inside neural networks</a:t>
            </a:r>
            <a:endParaRPr lang="en-US" sz="3200" dirty="0"/>
          </a:p>
        </p:txBody>
      </p:sp>
      <p:sp>
        <p:nvSpPr>
          <p:cNvPr id="4" name="pill-518"/>
          <p:cNvSpPr/>
          <p:nvPr/>
        </p:nvSpPr>
        <p:spPr>
          <a:xfrm>
            <a:off x="6357823" y="274320"/>
            <a:ext cx="1280160" cy="274320"/>
          </a:xfrm>
          <a:prstGeom prst="roundRect">
            <a:avLst>
              <a:gd name="adj" fmla="val 50000"/>
            </a:avLst>
          </a:prstGeom>
          <a:solidFill>
            <a:schemeClr val="bg2"/>
          </a:solidFill>
          <a:ln/>
        </p:spPr>
      </p:sp>
      <p:sp>
        <p:nvSpPr>
          <p:cNvPr id="5" name="pill-text-519"/>
          <p:cNvSpPr txBox="1"/>
          <p:nvPr/>
        </p:nvSpPr>
        <p:spPr>
          <a:xfrm>
            <a:off x="6357823"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By design</a:t>
            </a:r>
            <a:endParaRPr lang="en-US" sz="1000" dirty="0"/>
          </a:p>
        </p:txBody>
      </p:sp>
      <p:sp>
        <p:nvSpPr>
          <p:cNvPr id="6" name="pill-520"/>
          <p:cNvSpPr/>
          <p:nvPr/>
        </p:nvSpPr>
        <p:spPr>
          <a:xfrm>
            <a:off x="7692847" y="274320"/>
            <a:ext cx="1280160" cy="274320"/>
          </a:xfrm>
          <a:prstGeom prst="roundRect">
            <a:avLst>
              <a:gd name="adj" fmla="val 50000"/>
            </a:avLst>
          </a:prstGeom>
          <a:solidFill>
            <a:schemeClr val="bg2"/>
          </a:solidFill>
          <a:ln/>
        </p:spPr>
      </p:sp>
      <p:sp>
        <p:nvSpPr>
          <p:cNvPr id="7" name="pill-text-521"/>
          <p:cNvSpPr txBox="1"/>
          <p:nvPr/>
        </p:nvSpPr>
        <p:spPr>
          <a:xfrm>
            <a:off x="7692847"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Model-agnostic</a:t>
            </a:r>
            <a:endParaRPr lang="en-US" sz="1000" dirty="0"/>
          </a:p>
        </p:txBody>
      </p:sp>
      <p:sp>
        <p:nvSpPr>
          <p:cNvPr id="8" name="pill-522"/>
          <p:cNvSpPr/>
          <p:nvPr/>
        </p:nvSpPr>
        <p:spPr>
          <a:xfrm>
            <a:off x="9027871" y="274320"/>
            <a:ext cx="1280160" cy="274320"/>
          </a:xfrm>
          <a:prstGeom prst="roundRect">
            <a:avLst>
              <a:gd name="adj" fmla="val 50000"/>
            </a:avLst>
          </a:prstGeom>
          <a:solidFill>
            <a:schemeClr val="accent1"/>
          </a:solidFill>
          <a:ln/>
        </p:spPr>
      </p:sp>
      <p:sp>
        <p:nvSpPr>
          <p:cNvPr id="9" name="pill-text-523"/>
          <p:cNvSpPr txBox="1"/>
          <p:nvPr/>
        </p:nvSpPr>
        <p:spPr>
          <a:xfrm>
            <a:off x="9027871" y="274320"/>
            <a:ext cx="1280160" cy="274320"/>
          </a:xfrm>
          <a:prstGeom prst="rect">
            <a:avLst/>
          </a:prstGeom>
          <a:noFill/>
          <a:ln/>
        </p:spPr>
        <p:txBody>
          <a:bodyPr wrap="square" lIns="0" tIns="0" rIns="0" bIns="0" rtlCol="0" anchor="ctr"/>
          <a:lstStyle/>
          <a:p>
            <a:pPr algn="ctr" indent="0" marL="0">
              <a:buNone/>
            </a:pPr>
            <a:r>
              <a:rPr lang="en-US" sz="1000" b="1" dirty="0">
                <a:solidFill>
                  <a:schemeClr val="bg1"/>
                </a:solidFill>
              </a:rPr>
              <a:t>Model-specific</a:t>
            </a:r>
            <a:endParaRPr lang="en-US" sz="1000" dirty="0"/>
          </a:p>
        </p:txBody>
      </p:sp>
      <p:sp>
        <p:nvSpPr>
          <p:cNvPr id="10" name="pill-524"/>
          <p:cNvSpPr/>
          <p:nvPr/>
        </p:nvSpPr>
        <p:spPr>
          <a:xfrm>
            <a:off x="10362895" y="274320"/>
            <a:ext cx="1280160" cy="274320"/>
          </a:xfrm>
          <a:prstGeom prst="roundRect">
            <a:avLst>
              <a:gd name="adj" fmla="val 50000"/>
            </a:avLst>
          </a:prstGeom>
          <a:solidFill>
            <a:schemeClr val="bg2"/>
          </a:solidFill>
          <a:ln/>
        </p:spPr>
      </p:sp>
      <p:sp>
        <p:nvSpPr>
          <p:cNvPr id="11" name="pill-text-525"/>
          <p:cNvSpPr txBox="1"/>
          <p:nvPr/>
        </p:nvSpPr>
        <p:spPr>
          <a:xfrm>
            <a:off x="10362895"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Synthesis</a:t>
            </a:r>
            <a:endParaRPr lang="en-US" sz="1000" dirty="0"/>
          </a:p>
        </p:txBody>
      </p:sp>
      <p:sp>
        <p:nvSpPr>
          <p:cNvPr id="12" name="fig-card-526"/>
          <p:cNvSpPr/>
          <p:nvPr/>
        </p:nvSpPr>
        <p:spPr>
          <a:xfrm>
            <a:off x="548640" y="1554480"/>
            <a:ext cx="5120640" cy="3063240"/>
          </a:xfrm>
          <a:prstGeom prst="roundRect">
            <a:avLst>
              <a:gd name="adj" fmla="val 2985"/>
            </a:avLst>
          </a:prstGeom>
          <a:solidFill>
            <a:schemeClr val="bg1"/>
          </a:solidFill>
          <a:ln w="12700">
            <a:solidFill>
              <a:schemeClr val="bg2"/>
            </a:solidFill>
            <a:prstDash val="solid"/>
          </a:ln>
        </p:spPr>
      </p:sp>
      <p:pic>
        <p:nvPicPr>
          <p:cNvPr id="13" name="fig-specific" descr="Model-specific methods analyze the inside of the model">    </p:cNvPr>
          <p:cNvPicPr>
            <a:picLocks noChangeAspect="1"/>
          </p:cNvPicPr>
          <p:nvPr/>
        </p:nvPicPr>
        <p:blipFill>
          <a:blip r:embed="rId1"/>
          <a:stretch>
            <a:fillRect/>
          </a:stretch>
        </p:blipFill>
        <p:spPr>
          <a:xfrm>
            <a:off x="685800" y="1645920"/>
            <a:ext cx="4846320" cy="2724912"/>
          </a:xfrm>
          <a:prstGeom prst="rect">
            <a:avLst/>
          </a:prstGeom>
        </p:spPr>
      </p:pic>
      <p:sp>
        <p:nvSpPr>
          <p:cNvPr id="14" name="fig-caption-527"/>
          <p:cNvSpPr txBox="1"/>
          <p:nvPr/>
        </p:nvSpPr>
        <p:spPr>
          <a:xfrm>
            <a:off x="548640" y="4663440"/>
            <a:ext cx="5120640" cy="274320"/>
          </a:xfrm>
          <a:prstGeom prst="rect">
            <a:avLst/>
          </a:prstGeom>
          <a:noFill/>
          <a:ln/>
        </p:spPr>
        <p:txBody>
          <a:bodyPr wrap="square" lIns="0" tIns="0" rIns="0" bIns="0" rtlCol="0" anchor="t"/>
          <a:lstStyle/>
          <a:p>
            <a:pPr indent="0" marL="0">
              <a:buNone/>
            </a:pPr>
            <a:r>
              <a:rPr lang="en-US" sz="1100" i="1" dirty="0">
                <a:solidFill>
                  <a:schemeClr val="tx2"/>
                </a:solidFill>
              </a:rPr>
              <a:t>Figure: Molnar (2025)</a:t>
            </a:r>
            <a:endParaRPr lang="en-US" sz="1100" dirty="0"/>
          </a:p>
        </p:txBody>
      </p:sp>
      <p:sp>
        <p:nvSpPr>
          <p:cNvPr id="15" name="stat-528"/>
          <p:cNvSpPr txBox="1"/>
          <p:nvPr/>
        </p:nvSpPr>
        <p:spPr>
          <a:xfrm>
            <a:off x="548640" y="5029200"/>
            <a:ext cx="5120640" cy="640080"/>
          </a:xfrm>
          <a:prstGeom prst="rect">
            <a:avLst/>
          </a:prstGeom>
          <a:noFill/>
          <a:ln/>
        </p:spPr>
        <p:txBody>
          <a:bodyPr wrap="square" lIns="0" tIns="0" rIns="0" bIns="0" rtlCol="0" anchor="t"/>
          <a:lstStyle/>
          <a:p>
            <a:pPr indent="0" marL="0">
              <a:buNone/>
            </a:pPr>
            <a:r>
              <a:rPr lang="en-US" sz="4000" b="1" dirty="0">
                <a:solidFill>
                  <a:schemeClr val="accent2"/>
                </a:solidFill>
                <a:latin typeface="Avenir" pitchFamily="34" charset="0"/>
                <a:ea typeface="Avenir" pitchFamily="34" charset="-122"/>
                <a:cs typeface="Avenir" pitchFamily="34" charset="-120"/>
              </a:rPr>
              <a:t>Millions</a:t>
            </a:r>
            <a:endParaRPr lang="en-US" sz="4000" dirty="0"/>
          </a:p>
        </p:txBody>
      </p:sp>
      <p:sp>
        <p:nvSpPr>
          <p:cNvPr id="16" name="stat-label-529"/>
          <p:cNvSpPr txBox="1"/>
          <p:nvPr/>
        </p:nvSpPr>
        <p:spPr>
          <a:xfrm>
            <a:off x="548640" y="5669280"/>
            <a:ext cx="5120640" cy="548640"/>
          </a:xfrm>
          <a:prstGeom prst="rect">
            <a:avLst/>
          </a:prstGeom>
          <a:noFill/>
          <a:ln/>
        </p:spPr>
        <p:txBody>
          <a:bodyPr wrap="square" lIns="0" tIns="0" rIns="0" bIns="0" rtlCol="0" anchor="t"/>
          <a:lstStyle/>
          <a:p>
            <a:pPr indent="0" marL="0">
              <a:buNone/>
            </a:pPr>
            <a:r>
              <a:rPr lang="en-US" sz="1500" dirty="0">
                <a:solidFill>
                  <a:schemeClr val="tx1"/>
                </a:solidFill>
              </a:rPr>
              <a:t>of multiplications can go into a single prediction, too many to trace by hand.</a:t>
            </a:r>
            <a:endParaRPr lang="en-US" sz="1500" dirty="0"/>
          </a:p>
        </p:txBody>
      </p:sp>
      <p:sp>
        <p:nvSpPr>
          <p:cNvPr id="17" name="q-row-530"/>
          <p:cNvSpPr/>
          <p:nvPr/>
        </p:nvSpPr>
        <p:spPr>
          <a:xfrm>
            <a:off x="5989320" y="1554480"/>
            <a:ext cx="5653735" cy="804672"/>
          </a:xfrm>
          <a:prstGeom prst="roundRect">
            <a:avLst>
              <a:gd name="adj" fmla="val 11364"/>
            </a:avLst>
          </a:prstGeom>
          <a:solidFill>
            <a:schemeClr val="bg2"/>
          </a:solidFill>
          <a:ln/>
        </p:spPr>
      </p:sp>
      <p:sp>
        <p:nvSpPr>
          <p:cNvPr id="18" name="icon-bg-531"/>
          <p:cNvSpPr/>
          <p:nvPr/>
        </p:nvSpPr>
        <p:spPr>
          <a:xfrm>
            <a:off x="6144768" y="1682496"/>
            <a:ext cx="548640" cy="548640"/>
          </a:xfrm>
          <a:prstGeom prst="ellipse">
            <a:avLst/>
          </a:prstGeom>
          <a:solidFill>
            <a:schemeClr val="accent1"/>
          </a:solidFill>
          <a:ln/>
        </p:spPr>
      </p:sp>
      <p:pic>
        <p:nvPicPr>
          <p:cNvPr id="19" name="icon-532" descr="LuLayers">    </p:cNvPr>
          <p:cNvPicPr>
            <a:picLocks noChangeAspect="1"/>
          </p:cNvPicPr>
          <p:nvPr/>
        </p:nvPicPr>
        <p:blipFill>
          <a:blip r:embed="rId2"/>
          <a:stretch>
            <a:fillRect/>
          </a:stretch>
        </p:blipFill>
        <p:spPr>
          <a:xfrm>
            <a:off x="6287414" y="1825142"/>
            <a:ext cx="263347" cy="263347"/>
          </a:xfrm>
          <a:prstGeom prst="rect">
            <a:avLst/>
          </a:prstGeom>
        </p:spPr>
      </p:pic>
      <p:sp>
        <p:nvSpPr>
          <p:cNvPr id="20" name="q-text-533"/>
          <p:cNvSpPr txBox="1"/>
          <p:nvPr/>
        </p:nvSpPr>
        <p:spPr>
          <a:xfrm>
            <a:off x="6858000" y="1554480"/>
            <a:ext cx="4602175" cy="804672"/>
          </a:xfrm>
          <a:prstGeom prst="rect">
            <a:avLst/>
          </a:prstGeom>
          <a:noFill/>
          <a:ln/>
        </p:spPr>
        <p:txBody>
          <a:bodyPr wrap="square" lIns="0" tIns="0" rIns="0" bIns="0" rtlCol="0" anchor="ctr"/>
          <a:lstStyle/>
          <a:p>
            <a:pPr indent="0" marL="0">
              <a:buNone/>
            </a:pPr>
            <a:r>
              <a:rPr lang="en-US" sz="1700" b="1" dirty="0">
                <a:solidFill>
                  <a:schemeClr val="tx2"/>
                </a:solidFill>
              </a:rPr>
              <a:t>Learned features</a:t>
            </a:r>
            <a:endParaRPr lang="en-US" sz="1600" dirty="0"/>
          </a:p>
          <a:p>
            <a:pPr indent="0" marL="0">
              <a:buNone/>
            </a:pPr>
            <a:r>
              <a:rPr lang="en-US" sz="1500" dirty="0">
                <a:solidFill>
                  <a:schemeClr val="tx1"/>
                </a:solidFill>
              </a:rPr>
              <a:t>Which features did the network learn?</a:t>
            </a:r>
            <a:endParaRPr lang="en-US" sz="1600" dirty="0"/>
          </a:p>
        </p:txBody>
      </p:sp>
      <p:sp>
        <p:nvSpPr>
          <p:cNvPr id="21" name="q-row-534"/>
          <p:cNvSpPr/>
          <p:nvPr/>
        </p:nvSpPr>
        <p:spPr>
          <a:xfrm>
            <a:off x="5989320" y="2496312"/>
            <a:ext cx="5653735" cy="804672"/>
          </a:xfrm>
          <a:prstGeom prst="roundRect">
            <a:avLst>
              <a:gd name="adj" fmla="val 11364"/>
            </a:avLst>
          </a:prstGeom>
          <a:solidFill>
            <a:schemeClr val="bg2"/>
          </a:solidFill>
          <a:ln/>
        </p:spPr>
      </p:sp>
      <p:sp>
        <p:nvSpPr>
          <p:cNvPr id="22" name="icon-bg-535"/>
          <p:cNvSpPr/>
          <p:nvPr/>
        </p:nvSpPr>
        <p:spPr>
          <a:xfrm>
            <a:off x="6144768" y="2624328"/>
            <a:ext cx="548640" cy="548640"/>
          </a:xfrm>
          <a:prstGeom prst="ellipse">
            <a:avLst/>
          </a:prstGeom>
          <a:solidFill>
            <a:schemeClr val="accent1"/>
          </a:solidFill>
          <a:ln/>
        </p:spPr>
      </p:sp>
      <p:pic>
        <p:nvPicPr>
          <p:cNvPr id="23" name="icon-536" descr="LuScanEye">    </p:cNvPr>
          <p:cNvPicPr>
            <a:picLocks noChangeAspect="1"/>
          </p:cNvPicPr>
          <p:nvPr/>
        </p:nvPicPr>
        <p:blipFill>
          <a:blip r:embed="rId3"/>
          <a:stretch>
            <a:fillRect/>
          </a:stretch>
        </p:blipFill>
        <p:spPr>
          <a:xfrm>
            <a:off x="6287414" y="2766974"/>
            <a:ext cx="263347" cy="263347"/>
          </a:xfrm>
          <a:prstGeom prst="rect">
            <a:avLst/>
          </a:prstGeom>
        </p:spPr>
      </p:pic>
      <p:sp>
        <p:nvSpPr>
          <p:cNvPr id="24" name="q-text-537"/>
          <p:cNvSpPr txBox="1"/>
          <p:nvPr/>
        </p:nvSpPr>
        <p:spPr>
          <a:xfrm>
            <a:off x="6858000" y="2496312"/>
            <a:ext cx="4602175" cy="804672"/>
          </a:xfrm>
          <a:prstGeom prst="rect">
            <a:avLst/>
          </a:prstGeom>
          <a:noFill/>
          <a:ln/>
        </p:spPr>
        <p:txBody>
          <a:bodyPr wrap="square" lIns="0" tIns="0" rIns="0" bIns="0" rtlCol="0" anchor="ctr"/>
          <a:lstStyle/>
          <a:p>
            <a:pPr indent="0" marL="0">
              <a:buNone/>
            </a:pPr>
            <a:r>
              <a:rPr lang="en-US" sz="1700" b="1" dirty="0">
                <a:solidFill>
                  <a:schemeClr val="tx2"/>
                </a:solidFill>
              </a:rPr>
              <a:t>Saliency maps</a:t>
            </a:r>
            <a:endParaRPr lang="en-US" sz="1600" dirty="0"/>
          </a:p>
          <a:p>
            <a:pPr indent="0" marL="0">
              <a:buNone/>
            </a:pPr>
            <a:r>
              <a:rPr lang="en-US" sz="1500" dirty="0">
                <a:solidFill>
                  <a:schemeClr val="tx1"/>
                </a:solidFill>
              </a:rPr>
              <a:t>How did each pixel contribute to a prediction?</a:t>
            </a:r>
            <a:endParaRPr lang="en-US" sz="1600" dirty="0"/>
          </a:p>
        </p:txBody>
      </p:sp>
      <p:sp>
        <p:nvSpPr>
          <p:cNvPr id="25" name="q-row-538"/>
          <p:cNvSpPr/>
          <p:nvPr/>
        </p:nvSpPr>
        <p:spPr>
          <a:xfrm>
            <a:off x="5989320" y="3438144"/>
            <a:ext cx="5653735" cy="804672"/>
          </a:xfrm>
          <a:prstGeom prst="roundRect">
            <a:avLst>
              <a:gd name="adj" fmla="val 11364"/>
            </a:avLst>
          </a:prstGeom>
          <a:solidFill>
            <a:schemeClr val="bg2"/>
          </a:solidFill>
          <a:ln/>
        </p:spPr>
      </p:sp>
      <p:sp>
        <p:nvSpPr>
          <p:cNvPr id="26" name="icon-bg-539"/>
          <p:cNvSpPr/>
          <p:nvPr/>
        </p:nvSpPr>
        <p:spPr>
          <a:xfrm>
            <a:off x="6144768" y="3566160"/>
            <a:ext cx="548640" cy="548640"/>
          </a:xfrm>
          <a:prstGeom prst="ellipse">
            <a:avLst/>
          </a:prstGeom>
          <a:solidFill>
            <a:schemeClr val="accent1"/>
          </a:solidFill>
          <a:ln/>
        </p:spPr>
      </p:sp>
      <p:pic>
        <p:nvPicPr>
          <p:cNvPr id="27" name="icon-540" descr="LuBrain">    </p:cNvPr>
          <p:cNvPicPr>
            <a:picLocks noChangeAspect="1"/>
          </p:cNvPicPr>
          <p:nvPr/>
        </p:nvPicPr>
        <p:blipFill>
          <a:blip r:embed="rId4"/>
          <a:stretch>
            <a:fillRect/>
          </a:stretch>
        </p:blipFill>
        <p:spPr>
          <a:xfrm>
            <a:off x="6287414" y="3708806"/>
            <a:ext cx="263347" cy="263347"/>
          </a:xfrm>
          <a:prstGeom prst="rect">
            <a:avLst/>
          </a:prstGeom>
        </p:spPr>
      </p:pic>
      <p:sp>
        <p:nvSpPr>
          <p:cNvPr id="28" name="q-text-541"/>
          <p:cNvSpPr txBox="1"/>
          <p:nvPr/>
        </p:nvSpPr>
        <p:spPr>
          <a:xfrm>
            <a:off x="6858000" y="3438144"/>
            <a:ext cx="4602175" cy="804672"/>
          </a:xfrm>
          <a:prstGeom prst="rect">
            <a:avLst/>
          </a:prstGeom>
          <a:noFill/>
          <a:ln/>
        </p:spPr>
        <p:txBody>
          <a:bodyPr wrap="square" lIns="0" tIns="0" rIns="0" bIns="0" rtlCol="0" anchor="ctr"/>
          <a:lstStyle/>
          <a:p>
            <a:pPr indent="0" marL="0">
              <a:buNone/>
            </a:pPr>
            <a:r>
              <a:rPr lang="en-US" sz="1700" b="1" dirty="0">
                <a:solidFill>
                  <a:schemeClr val="tx2"/>
                </a:solidFill>
              </a:rPr>
              <a:t>Concepts</a:t>
            </a:r>
            <a:endParaRPr lang="en-US" sz="1600" dirty="0"/>
          </a:p>
          <a:p>
            <a:pPr indent="0" marL="0">
              <a:buNone/>
            </a:pPr>
            <a:r>
              <a:rPr lang="en-US" sz="1500" dirty="0">
                <a:solidFill>
                  <a:schemeClr val="tx1"/>
                </a:solidFill>
              </a:rPr>
              <a:t>Which concepts did the network learn?</a:t>
            </a:r>
            <a:endParaRPr lang="en-US" sz="1600" dirty="0"/>
          </a:p>
        </p:txBody>
      </p:sp>
      <p:sp>
        <p:nvSpPr>
          <p:cNvPr id="29" name="q-row-542"/>
          <p:cNvSpPr/>
          <p:nvPr/>
        </p:nvSpPr>
        <p:spPr>
          <a:xfrm>
            <a:off x="5989320" y="4379976"/>
            <a:ext cx="5653735" cy="804672"/>
          </a:xfrm>
          <a:prstGeom prst="roundRect">
            <a:avLst>
              <a:gd name="adj" fmla="val 11364"/>
            </a:avLst>
          </a:prstGeom>
          <a:solidFill>
            <a:schemeClr val="bg2"/>
          </a:solidFill>
          <a:ln/>
        </p:spPr>
      </p:sp>
      <p:sp>
        <p:nvSpPr>
          <p:cNvPr id="30" name="icon-bg-543"/>
          <p:cNvSpPr/>
          <p:nvPr/>
        </p:nvSpPr>
        <p:spPr>
          <a:xfrm>
            <a:off x="6144768" y="4507992"/>
            <a:ext cx="548640" cy="548640"/>
          </a:xfrm>
          <a:prstGeom prst="ellipse">
            <a:avLst/>
          </a:prstGeom>
          <a:solidFill>
            <a:schemeClr val="accent1"/>
          </a:solidFill>
          <a:ln/>
        </p:spPr>
      </p:sp>
      <p:pic>
        <p:nvPicPr>
          <p:cNvPr id="31" name="icon-544" descr="LuShieldAlert">    </p:cNvPr>
          <p:cNvPicPr>
            <a:picLocks noChangeAspect="1"/>
          </p:cNvPicPr>
          <p:nvPr/>
        </p:nvPicPr>
        <p:blipFill>
          <a:blip r:embed="rId5"/>
          <a:stretch>
            <a:fillRect/>
          </a:stretch>
        </p:blipFill>
        <p:spPr>
          <a:xfrm>
            <a:off x="6287414" y="4650638"/>
            <a:ext cx="263347" cy="263347"/>
          </a:xfrm>
          <a:prstGeom prst="rect">
            <a:avLst/>
          </a:prstGeom>
        </p:spPr>
      </p:pic>
      <p:sp>
        <p:nvSpPr>
          <p:cNvPr id="32" name="q-text-545"/>
          <p:cNvSpPr txBox="1"/>
          <p:nvPr/>
        </p:nvSpPr>
        <p:spPr>
          <a:xfrm>
            <a:off x="6858000" y="4379976"/>
            <a:ext cx="4602175" cy="804672"/>
          </a:xfrm>
          <a:prstGeom prst="rect">
            <a:avLst/>
          </a:prstGeom>
          <a:noFill/>
          <a:ln/>
        </p:spPr>
        <p:txBody>
          <a:bodyPr wrap="square" lIns="0" tIns="0" rIns="0" bIns="0" rtlCol="0" anchor="ctr"/>
          <a:lstStyle/>
          <a:p>
            <a:pPr indent="0" marL="0">
              <a:buNone/>
            </a:pPr>
            <a:r>
              <a:rPr lang="en-US" sz="1700" b="1" dirty="0">
                <a:solidFill>
                  <a:schemeClr val="tx2"/>
                </a:solidFill>
              </a:rPr>
              <a:t>Adversarial examples</a:t>
            </a:r>
            <a:endParaRPr lang="en-US" sz="1600" dirty="0"/>
          </a:p>
          <a:p>
            <a:pPr indent="0" marL="0">
              <a:buNone/>
            </a:pPr>
            <a:r>
              <a:rPr lang="en-US" sz="1500" dirty="0">
                <a:solidFill>
                  <a:schemeClr val="tx1"/>
                </a:solidFill>
              </a:rPr>
              <a:t>How can we fool the network?</a:t>
            </a:r>
            <a:endParaRPr lang="en-US" sz="1600" dirty="0"/>
          </a:p>
        </p:txBody>
      </p:sp>
      <p:sp>
        <p:nvSpPr>
          <p:cNvPr id="33" name="q-row-546"/>
          <p:cNvSpPr/>
          <p:nvPr/>
        </p:nvSpPr>
        <p:spPr>
          <a:xfrm>
            <a:off x="5989320" y="5321808"/>
            <a:ext cx="5653735" cy="804672"/>
          </a:xfrm>
          <a:prstGeom prst="roundRect">
            <a:avLst>
              <a:gd name="adj" fmla="val 11364"/>
            </a:avLst>
          </a:prstGeom>
          <a:solidFill>
            <a:schemeClr val="bg2"/>
          </a:solidFill>
          <a:ln/>
        </p:spPr>
      </p:sp>
      <p:sp>
        <p:nvSpPr>
          <p:cNvPr id="34" name="icon-bg-547"/>
          <p:cNvSpPr/>
          <p:nvPr/>
        </p:nvSpPr>
        <p:spPr>
          <a:xfrm>
            <a:off x="6144768" y="5449824"/>
            <a:ext cx="548640" cy="548640"/>
          </a:xfrm>
          <a:prstGeom prst="ellipse">
            <a:avLst/>
          </a:prstGeom>
          <a:solidFill>
            <a:schemeClr val="accent1"/>
          </a:solidFill>
          <a:ln/>
        </p:spPr>
      </p:sp>
      <p:pic>
        <p:nvPicPr>
          <p:cNvPr id="35" name="icon-548" descr="LuFootprints">    </p:cNvPr>
          <p:cNvPicPr>
            <a:picLocks noChangeAspect="1"/>
          </p:cNvPicPr>
          <p:nvPr/>
        </p:nvPicPr>
        <p:blipFill>
          <a:blip r:embed="rId6"/>
          <a:stretch>
            <a:fillRect/>
          </a:stretch>
        </p:blipFill>
        <p:spPr>
          <a:xfrm>
            <a:off x="6287414" y="5592470"/>
            <a:ext cx="263347" cy="263347"/>
          </a:xfrm>
          <a:prstGeom prst="rect">
            <a:avLst/>
          </a:prstGeom>
        </p:spPr>
      </p:pic>
      <p:sp>
        <p:nvSpPr>
          <p:cNvPr id="36" name="q-text-549"/>
          <p:cNvSpPr txBox="1"/>
          <p:nvPr/>
        </p:nvSpPr>
        <p:spPr>
          <a:xfrm>
            <a:off x="6858000" y="5321808"/>
            <a:ext cx="4602175" cy="804672"/>
          </a:xfrm>
          <a:prstGeom prst="rect">
            <a:avLst/>
          </a:prstGeom>
          <a:noFill/>
          <a:ln/>
        </p:spPr>
        <p:txBody>
          <a:bodyPr wrap="square" lIns="0" tIns="0" rIns="0" bIns="0" rtlCol="0" anchor="ctr"/>
          <a:lstStyle/>
          <a:p>
            <a:pPr indent="0" marL="0">
              <a:buNone/>
            </a:pPr>
            <a:r>
              <a:rPr lang="en-US" sz="1700" b="1" dirty="0">
                <a:solidFill>
                  <a:schemeClr val="tx2"/>
                </a:solidFill>
              </a:rPr>
              <a:t>Influential instances</a:t>
            </a:r>
            <a:endParaRPr lang="en-US" sz="1600" dirty="0"/>
          </a:p>
          <a:p>
            <a:pPr indent="0" marL="0">
              <a:buNone/>
            </a:pPr>
            <a:r>
              <a:rPr lang="en-US" sz="1500" dirty="0">
                <a:solidFill>
                  <a:schemeClr val="tx1"/>
                </a:solidFill>
              </a:rPr>
              <a:t>Which training point influenced the prediction most?</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5852160" cy="292608"/>
          </a:xfrm>
          <a:prstGeom prst="rect">
            <a:avLst/>
          </a:prstGeom>
          <a:noFill/>
          <a:ln/>
        </p:spPr>
        <p:txBody>
          <a:bodyPr wrap="square" lIns="0" tIns="0" rIns="0" bIns="0" rtlCol="0" anchor="b"/>
          <a:lstStyle/>
          <a:p>
            <a:pPr algn="l" indent="0" marL="0">
              <a:buNone/>
            </a:pPr>
            <a:r>
              <a:rPr lang="en-US" sz="1200" b="1" spc="200" kern="0" dirty="0">
                <a:solidFill>
                  <a:schemeClr val="accent1"/>
                </a:solidFill>
              </a:rPr>
              <a:t>SYNTHESIS</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200" b="1" dirty="0">
                <a:solidFill>
                  <a:schemeClr val="tx2"/>
                </a:solidFill>
                <a:latin typeface="Avenir" pitchFamily="34" charset="0"/>
                <a:ea typeface="Avenir" pitchFamily="34" charset="-122"/>
                <a:cs typeface="Avenir" pitchFamily="34" charset="-120"/>
              </a:rPr>
              <a:t>Which approach serves which goal?</a:t>
            </a:r>
            <a:endParaRPr lang="en-US" sz="3200" dirty="0"/>
          </a:p>
        </p:txBody>
      </p:sp>
      <p:sp>
        <p:nvSpPr>
          <p:cNvPr id="4" name="pill-550"/>
          <p:cNvSpPr/>
          <p:nvPr/>
        </p:nvSpPr>
        <p:spPr>
          <a:xfrm>
            <a:off x="6357823" y="274320"/>
            <a:ext cx="1280160" cy="274320"/>
          </a:xfrm>
          <a:prstGeom prst="roundRect">
            <a:avLst>
              <a:gd name="adj" fmla="val 50000"/>
            </a:avLst>
          </a:prstGeom>
          <a:solidFill>
            <a:schemeClr val="bg2"/>
          </a:solidFill>
          <a:ln/>
        </p:spPr>
      </p:sp>
      <p:sp>
        <p:nvSpPr>
          <p:cNvPr id="5" name="pill-text-551"/>
          <p:cNvSpPr txBox="1"/>
          <p:nvPr/>
        </p:nvSpPr>
        <p:spPr>
          <a:xfrm>
            <a:off x="6357823"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By design</a:t>
            </a:r>
            <a:endParaRPr lang="en-US" sz="1000" dirty="0"/>
          </a:p>
        </p:txBody>
      </p:sp>
      <p:sp>
        <p:nvSpPr>
          <p:cNvPr id="6" name="pill-552"/>
          <p:cNvSpPr/>
          <p:nvPr/>
        </p:nvSpPr>
        <p:spPr>
          <a:xfrm>
            <a:off x="7692847" y="274320"/>
            <a:ext cx="1280160" cy="274320"/>
          </a:xfrm>
          <a:prstGeom prst="roundRect">
            <a:avLst>
              <a:gd name="adj" fmla="val 50000"/>
            </a:avLst>
          </a:prstGeom>
          <a:solidFill>
            <a:schemeClr val="bg2"/>
          </a:solidFill>
          <a:ln/>
        </p:spPr>
      </p:sp>
      <p:sp>
        <p:nvSpPr>
          <p:cNvPr id="7" name="pill-text-553"/>
          <p:cNvSpPr txBox="1"/>
          <p:nvPr/>
        </p:nvSpPr>
        <p:spPr>
          <a:xfrm>
            <a:off x="7692847"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Model-agnostic</a:t>
            </a:r>
            <a:endParaRPr lang="en-US" sz="1000" dirty="0"/>
          </a:p>
        </p:txBody>
      </p:sp>
      <p:sp>
        <p:nvSpPr>
          <p:cNvPr id="8" name="pill-554"/>
          <p:cNvSpPr/>
          <p:nvPr/>
        </p:nvSpPr>
        <p:spPr>
          <a:xfrm>
            <a:off x="9027871" y="274320"/>
            <a:ext cx="1280160" cy="274320"/>
          </a:xfrm>
          <a:prstGeom prst="roundRect">
            <a:avLst>
              <a:gd name="adj" fmla="val 50000"/>
            </a:avLst>
          </a:prstGeom>
          <a:solidFill>
            <a:schemeClr val="bg2"/>
          </a:solidFill>
          <a:ln/>
        </p:spPr>
      </p:sp>
      <p:sp>
        <p:nvSpPr>
          <p:cNvPr id="9" name="pill-text-555"/>
          <p:cNvSpPr txBox="1"/>
          <p:nvPr/>
        </p:nvSpPr>
        <p:spPr>
          <a:xfrm>
            <a:off x="9027871"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Model-specific</a:t>
            </a:r>
            <a:endParaRPr lang="en-US" sz="1000" dirty="0"/>
          </a:p>
        </p:txBody>
      </p:sp>
      <p:sp>
        <p:nvSpPr>
          <p:cNvPr id="10" name="pill-556"/>
          <p:cNvSpPr/>
          <p:nvPr/>
        </p:nvSpPr>
        <p:spPr>
          <a:xfrm>
            <a:off x="10362895" y="274320"/>
            <a:ext cx="1280160" cy="274320"/>
          </a:xfrm>
          <a:prstGeom prst="roundRect">
            <a:avLst>
              <a:gd name="adj" fmla="val 50000"/>
            </a:avLst>
          </a:prstGeom>
          <a:solidFill>
            <a:schemeClr val="accent1"/>
          </a:solidFill>
          <a:ln/>
        </p:spPr>
      </p:sp>
      <p:sp>
        <p:nvSpPr>
          <p:cNvPr id="11" name="pill-text-557"/>
          <p:cNvSpPr txBox="1"/>
          <p:nvPr/>
        </p:nvSpPr>
        <p:spPr>
          <a:xfrm>
            <a:off x="10362895" y="274320"/>
            <a:ext cx="1280160" cy="274320"/>
          </a:xfrm>
          <a:prstGeom prst="rect">
            <a:avLst/>
          </a:prstGeom>
          <a:noFill/>
          <a:ln/>
        </p:spPr>
        <p:txBody>
          <a:bodyPr wrap="square" lIns="0" tIns="0" rIns="0" bIns="0" rtlCol="0" anchor="ctr"/>
          <a:lstStyle/>
          <a:p>
            <a:pPr algn="ctr" indent="0" marL="0">
              <a:buNone/>
            </a:pPr>
            <a:r>
              <a:rPr lang="en-US" sz="1000" b="1" dirty="0">
                <a:solidFill>
                  <a:schemeClr val="bg1"/>
                </a:solidFill>
              </a:rPr>
              <a:t>Synthesis</a:t>
            </a:r>
            <a:endParaRPr lang="en-US" sz="1000" dirty="0"/>
          </a:p>
        </p:txBody>
      </p:sp>
      <p:sp>
        <p:nvSpPr>
          <p:cNvPr id="12" name="icon-bg-558"/>
          <p:cNvSpPr/>
          <p:nvPr/>
        </p:nvSpPr>
        <p:spPr>
          <a:xfrm>
            <a:off x="3017520" y="1481328"/>
            <a:ext cx="411480" cy="411480"/>
          </a:xfrm>
          <a:prstGeom prst="ellipse">
            <a:avLst/>
          </a:prstGeom>
          <a:solidFill>
            <a:schemeClr val="accent1"/>
          </a:solidFill>
          <a:ln/>
        </p:spPr>
      </p:sp>
      <p:pic>
        <p:nvPicPr>
          <p:cNvPr id="13" name="icon-559" descr="LuWrench">    </p:cNvPr>
          <p:cNvPicPr>
            <a:picLocks noChangeAspect="1"/>
          </p:cNvPicPr>
          <p:nvPr/>
        </p:nvPicPr>
        <p:blipFill>
          <a:blip r:embed="rId1"/>
          <a:stretch>
            <a:fillRect/>
          </a:stretch>
        </p:blipFill>
        <p:spPr>
          <a:xfrm>
            <a:off x="3124505" y="1588313"/>
            <a:ext cx="197510" cy="197510"/>
          </a:xfrm>
          <a:prstGeom prst="rect">
            <a:avLst/>
          </a:prstGeom>
        </p:spPr>
      </p:pic>
      <p:sp>
        <p:nvSpPr>
          <p:cNvPr id="14" name="col-head-560"/>
          <p:cNvSpPr txBox="1"/>
          <p:nvPr/>
        </p:nvSpPr>
        <p:spPr>
          <a:xfrm>
            <a:off x="3520440" y="1481328"/>
            <a:ext cx="2250338" cy="411480"/>
          </a:xfrm>
          <a:prstGeom prst="rect">
            <a:avLst/>
          </a:prstGeom>
          <a:noFill/>
          <a:ln/>
        </p:spPr>
        <p:txBody>
          <a:bodyPr wrap="square" lIns="0" tIns="0" rIns="0" bIns="0" rtlCol="0" anchor="ctr"/>
          <a:lstStyle/>
          <a:p>
            <a:pPr indent="0" marL="0">
              <a:buNone/>
            </a:pPr>
            <a:r>
              <a:rPr lang="en-US" sz="1500" b="1" dirty="0">
                <a:solidFill>
                  <a:schemeClr val="tx2"/>
                </a:solidFill>
              </a:rPr>
              <a:t>Debugging and improving</a:t>
            </a:r>
            <a:endParaRPr lang="en-US" sz="1500" dirty="0"/>
          </a:p>
        </p:txBody>
      </p:sp>
      <p:sp>
        <p:nvSpPr>
          <p:cNvPr id="15" name="icon-bg-561"/>
          <p:cNvSpPr/>
          <p:nvPr/>
        </p:nvSpPr>
        <p:spPr>
          <a:xfrm>
            <a:off x="5953658" y="1481328"/>
            <a:ext cx="411480" cy="411480"/>
          </a:xfrm>
          <a:prstGeom prst="ellipse">
            <a:avLst/>
          </a:prstGeom>
          <a:solidFill>
            <a:schemeClr val="accent1"/>
          </a:solidFill>
          <a:ln/>
        </p:spPr>
      </p:sp>
      <p:pic>
        <p:nvPicPr>
          <p:cNvPr id="16" name="icon-562" descr="LuScale">    </p:cNvPr>
          <p:cNvPicPr>
            <a:picLocks noChangeAspect="1"/>
          </p:cNvPicPr>
          <p:nvPr/>
        </p:nvPicPr>
        <p:blipFill>
          <a:blip r:embed="rId2"/>
          <a:stretch>
            <a:fillRect/>
          </a:stretch>
        </p:blipFill>
        <p:spPr>
          <a:xfrm>
            <a:off x="6060643" y="1588313"/>
            <a:ext cx="197510" cy="197510"/>
          </a:xfrm>
          <a:prstGeom prst="rect">
            <a:avLst/>
          </a:prstGeom>
        </p:spPr>
      </p:pic>
      <p:sp>
        <p:nvSpPr>
          <p:cNvPr id="17" name="col-head-563"/>
          <p:cNvSpPr txBox="1"/>
          <p:nvPr/>
        </p:nvSpPr>
        <p:spPr>
          <a:xfrm>
            <a:off x="6456578" y="1481328"/>
            <a:ext cx="2250338" cy="411480"/>
          </a:xfrm>
          <a:prstGeom prst="rect">
            <a:avLst/>
          </a:prstGeom>
          <a:noFill/>
          <a:ln/>
        </p:spPr>
        <p:txBody>
          <a:bodyPr wrap="square" lIns="0" tIns="0" rIns="0" bIns="0" rtlCol="0" anchor="ctr"/>
          <a:lstStyle/>
          <a:p>
            <a:pPr indent="0" marL="0">
              <a:buNone/>
            </a:pPr>
            <a:r>
              <a:rPr lang="en-US" sz="1500" b="1" dirty="0">
                <a:solidFill>
                  <a:schemeClr val="tx2"/>
                </a:solidFill>
              </a:rPr>
              <a:t>Justification</a:t>
            </a:r>
            <a:endParaRPr lang="en-US" sz="1500" dirty="0"/>
          </a:p>
        </p:txBody>
      </p:sp>
      <p:sp>
        <p:nvSpPr>
          <p:cNvPr id="18" name="icon-bg-564"/>
          <p:cNvSpPr/>
          <p:nvPr/>
        </p:nvSpPr>
        <p:spPr>
          <a:xfrm>
            <a:off x="8889797" y="1481328"/>
            <a:ext cx="411480" cy="411480"/>
          </a:xfrm>
          <a:prstGeom prst="ellipse">
            <a:avLst/>
          </a:prstGeom>
          <a:solidFill>
            <a:schemeClr val="accent1"/>
          </a:solidFill>
          <a:ln/>
        </p:spPr>
      </p:sp>
      <p:pic>
        <p:nvPicPr>
          <p:cNvPr id="19" name="icon-565" descr="LuLightbulb">    </p:cNvPr>
          <p:cNvPicPr>
            <a:picLocks noChangeAspect="1"/>
          </p:cNvPicPr>
          <p:nvPr/>
        </p:nvPicPr>
        <p:blipFill>
          <a:blip r:embed="rId3"/>
          <a:stretch>
            <a:fillRect/>
          </a:stretch>
        </p:blipFill>
        <p:spPr>
          <a:xfrm>
            <a:off x="8996782" y="1588313"/>
            <a:ext cx="197510" cy="197510"/>
          </a:xfrm>
          <a:prstGeom prst="rect">
            <a:avLst/>
          </a:prstGeom>
        </p:spPr>
      </p:pic>
      <p:sp>
        <p:nvSpPr>
          <p:cNvPr id="20" name="col-head-566"/>
          <p:cNvSpPr txBox="1"/>
          <p:nvPr/>
        </p:nvSpPr>
        <p:spPr>
          <a:xfrm>
            <a:off x="9392717" y="1481328"/>
            <a:ext cx="2250338" cy="411480"/>
          </a:xfrm>
          <a:prstGeom prst="rect">
            <a:avLst/>
          </a:prstGeom>
          <a:noFill/>
          <a:ln/>
        </p:spPr>
        <p:txBody>
          <a:bodyPr wrap="square" lIns="0" tIns="0" rIns="0" bIns="0" rtlCol="0" anchor="ctr"/>
          <a:lstStyle/>
          <a:p>
            <a:pPr indent="0" marL="0">
              <a:buNone/>
            </a:pPr>
            <a:r>
              <a:rPr lang="en-US" sz="1500" b="1" dirty="0">
                <a:solidFill>
                  <a:schemeClr val="tx2"/>
                </a:solidFill>
              </a:rPr>
              <a:t>Insights into the data</a:t>
            </a:r>
            <a:endParaRPr lang="en-US" sz="1500" dirty="0"/>
          </a:p>
        </p:txBody>
      </p:sp>
      <p:sp>
        <p:nvSpPr>
          <p:cNvPr id="21" name="row-head-567"/>
          <p:cNvSpPr/>
          <p:nvPr/>
        </p:nvSpPr>
        <p:spPr>
          <a:xfrm>
            <a:off x="548640" y="2029968"/>
            <a:ext cx="2286000" cy="804672"/>
          </a:xfrm>
          <a:prstGeom prst="roundRect">
            <a:avLst>
              <a:gd name="adj" fmla="val 11364"/>
            </a:avLst>
          </a:prstGeom>
          <a:solidFill>
            <a:schemeClr val="tx2"/>
          </a:solidFill>
          <a:ln/>
        </p:spPr>
      </p:sp>
      <p:sp>
        <p:nvSpPr>
          <p:cNvPr id="22" name="row-head-text-568"/>
          <p:cNvSpPr txBox="1"/>
          <p:nvPr/>
        </p:nvSpPr>
        <p:spPr>
          <a:xfrm>
            <a:off x="731520" y="2029968"/>
            <a:ext cx="2011680" cy="804672"/>
          </a:xfrm>
          <a:prstGeom prst="rect">
            <a:avLst/>
          </a:prstGeom>
          <a:noFill/>
          <a:ln/>
        </p:spPr>
        <p:txBody>
          <a:bodyPr wrap="square" lIns="0" tIns="0" rIns="0" bIns="0" rtlCol="0" anchor="ctr"/>
          <a:lstStyle/>
          <a:p>
            <a:pPr indent="0" marL="0">
              <a:buNone/>
            </a:pPr>
            <a:r>
              <a:rPr lang="en-US" sz="1600" b="1" dirty="0">
                <a:solidFill>
                  <a:schemeClr val="bg1"/>
                </a:solidFill>
              </a:rPr>
              <a:t>By design</a:t>
            </a:r>
            <a:endParaRPr lang="en-US" sz="1600" dirty="0"/>
          </a:p>
        </p:txBody>
      </p:sp>
      <p:sp>
        <p:nvSpPr>
          <p:cNvPr id="23" name="cell-569"/>
          <p:cNvSpPr/>
          <p:nvPr/>
        </p:nvSpPr>
        <p:spPr>
          <a:xfrm>
            <a:off x="2971800" y="2029968"/>
            <a:ext cx="2798978" cy="804672"/>
          </a:xfrm>
          <a:prstGeom prst="roundRect">
            <a:avLst>
              <a:gd name="adj" fmla="val 11364"/>
            </a:avLst>
          </a:prstGeom>
          <a:solidFill>
            <a:schemeClr val="bg2"/>
          </a:solidFill>
          <a:ln/>
        </p:spPr>
      </p:sp>
      <p:sp>
        <p:nvSpPr>
          <p:cNvPr id="24" name="rating-dot"/>
          <p:cNvSpPr/>
          <p:nvPr/>
        </p:nvSpPr>
        <p:spPr>
          <a:xfrm>
            <a:off x="3154680" y="2350008"/>
            <a:ext cx="164592" cy="164592"/>
          </a:xfrm>
          <a:prstGeom prst="ellipse">
            <a:avLst/>
          </a:prstGeom>
          <a:solidFill>
            <a:schemeClr val="accent5"/>
          </a:solidFill>
          <a:ln w="12700">
            <a:solidFill>
              <a:schemeClr val="accent5"/>
            </a:solidFill>
            <a:prstDash val="solid"/>
          </a:ln>
        </p:spPr>
      </p:sp>
      <p:sp>
        <p:nvSpPr>
          <p:cNvPr id="25" name="rating-dot"/>
          <p:cNvSpPr/>
          <p:nvPr/>
        </p:nvSpPr>
        <p:spPr>
          <a:xfrm>
            <a:off x="3392424" y="2350008"/>
            <a:ext cx="164592" cy="164592"/>
          </a:xfrm>
          <a:prstGeom prst="ellipse">
            <a:avLst/>
          </a:prstGeom>
          <a:solidFill>
            <a:schemeClr val="accent5"/>
          </a:solidFill>
          <a:ln w="12700">
            <a:solidFill>
              <a:schemeClr val="accent5"/>
            </a:solidFill>
            <a:prstDash val="solid"/>
          </a:ln>
        </p:spPr>
      </p:sp>
      <p:sp>
        <p:nvSpPr>
          <p:cNvPr id="26" name="rating-dot"/>
          <p:cNvSpPr/>
          <p:nvPr/>
        </p:nvSpPr>
        <p:spPr>
          <a:xfrm>
            <a:off x="3630168" y="2350008"/>
            <a:ext cx="164592" cy="164592"/>
          </a:xfrm>
          <a:prstGeom prst="ellipse">
            <a:avLst/>
          </a:prstGeom>
          <a:solidFill>
            <a:schemeClr val="accent5"/>
          </a:solidFill>
          <a:ln w="12700">
            <a:solidFill>
              <a:schemeClr val="accent5"/>
            </a:solidFill>
            <a:prstDash val="solid"/>
          </a:ln>
        </p:spPr>
      </p:sp>
      <p:sp>
        <p:nvSpPr>
          <p:cNvPr id="27" name="cell-text-570"/>
          <p:cNvSpPr txBox="1"/>
          <p:nvPr/>
        </p:nvSpPr>
        <p:spPr>
          <a:xfrm>
            <a:off x="3931920" y="2029968"/>
            <a:ext cx="1747418" cy="804672"/>
          </a:xfrm>
          <a:prstGeom prst="rect">
            <a:avLst/>
          </a:prstGeom>
          <a:noFill/>
          <a:ln/>
        </p:spPr>
        <p:txBody>
          <a:bodyPr wrap="square" lIns="0" tIns="0" rIns="0" bIns="0" rtlCol="0" anchor="ctr"/>
          <a:lstStyle/>
          <a:p>
            <a:pPr indent="0" marL="0">
              <a:buNone/>
            </a:pPr>
            <a:r>
              <a:rPr lang="en-US" sz="1400" dirty="0">
                <a:solidFill>
                  <a:schemeClr val="tx1"/>
                </a:solidFill>
              </a:rPr>
              <a:t>Inner workings are visible</a:t>
            </a:r>
            <a:endParaRPr lang="en-US" sz="1400" dirty="0"/>
          </a:p>
        </p:txBody>
      </p:sp>
      <p:sp>
        <p:nvSpPr>
          <p:cNvPr id="28" name="cell-571"/>
          <p:cNvSpPr/>
          <p:nvPr/>
        </p:nvSpPr>
        <p:spPr>
          <a:xfrm>
            <a:off x="5907938" y="2029968"/>
            <a:ext cx="2798978" cy="804672"/>
          </a:xfrm>
          <a:prstGeom prst="roundRect">
            <a:avLst>
              <a:gd name="adj" fmla="val 11364"/>
            </a:avLst>
          </a:prstGeom>
          <a:solidFill>
            <a:schemeClr val="bg2"/>
          </a:solidFill>
          <a:ln/>
        </p:spPr>
      </p:sp>
      <p:sp>
        <p:nvSpPr>
          <p:cNvPr id="29" name="rating-dot"/>
          <p:cNvSpPr/>
          <p:nvPr/>
        </p:nvSpPr>
        <p:spPr>
          <a:xfrm>
            <a:off x="6090818" y="2350008"/>
            <a:ext cx="164592" cy="164592"/>
          </a:xfrm>
          <a:prstGeom prst="ellipse">
            <a:avLst/>
          </a:prstGeom>
          <a:solidFill>
            <a:schemeClr val="accent5"/>
          </a:solidFill>
          <a:ln w="12700">
            <a:solidFill>
              <a:schemeClr val="accent5"/>
            </a:solidFill>
            <a:prstDash val="solid"/>
          </a:ln>
        </p:spPr>
      </p:sp>
      <p:sp>
        <p:nvSpPr>
          <p:cNvPr id="30" name="rating-dot"/>
          <p:cNvSpPr/>
          <p:nvPr/>
        </p:nvSpPr>
        <p:spPr>
          <a:xfrm>
            <a:off x="6328562" y="2350008"/>
            <a:ext cx="164592" cy="164592"/>
          </a:xfrm>
          <a:prstGeom prst="ellipse">
            <a:avLst/>
          </a:prstGeom>
          <a:solidFill>
            <a:schemeClr val="accent5"/>
          </a:solidFill>
          <a:ln w="12700">
            <a:solidFill>
              <a:schemeClr val="accent5"/>
            </a:solidFill>
            <a:prstDash val="solid"/>
          </a:ln>
        </p:spPr>
      </p:sp>
      <p:sp>
        <p:nvSpPr>
          <p:cNvPr id="31" name="rating-dot"/>
          <p:cNvSpPr/>
          <p:nvPr/>
        </p:nvSpPr>
        <p:spPr>
          <a:xfrm>
            <a:off x="6566306" y="2350008"/>
            <a:ext cx="164592" cy="164592"/>
          </a:xfrm>
          <a:prstGeom prst="ellipse">
            <a:avLst/>
          </a:prstGeom>
          <a:solidFill>
            <a:schemeClr val="accent5"/>
          </a:solidFill>
          <a:ln w="12700">
            <a:solidFill>
              <a:schemeClr val="accent5"/>
            </a:solidFill>
            <a:prstDash val="solid"/>
          </a:ln>
        </p:spPr>
      </p:sp>
      <p:sp>
        <p:nvSpPr>
          <p:cNvPr id="32" name="cell-text-572"/>
          <p:cNvSpPr txBox="1"/>
          <p:nvPr/>
        </p:nvSpPr>
        <p:spPr>
          <a:xfrm>
            <a:off x="6868058" y="2029968"/>
            <a:ext cx="1747418" cy="804672"/>
          </a:xfrm>
          <a:prstGeom prst="rect">
            <a:avLst/>
          </a:prstGeom>
          <a:noFill/>
          <a:ln/>
        </p:spPr>
        <p:txBody>
          <a:bodyPr wrap="square" lIns="0" tIns="0" rIns="0" bIns="0" rtlCol="0" anchor="ctr"/>
          <a:lstStyle/>
          <a:p>
            <a:pPr indent="0" marL="0">
              <a:buNone/>
            </a:pPr>
            <a:r>
              <a:rPr lang="en-US" sz="1400" dirty="0">
                <a:solidFill>
                  <a:schemeClr val="tx1"/>
                </a:solidFill>
              </a:rPr>
              <a:t>Faithfully explains predictions</a:t>
            </a:r>
            <a:endParaRPr lang="en-US" sz="1400" dirty="0"/>
          </a:p>
        </p:txBody>
      </p:sp>
      <p:sp>
        <p:nvSpPr>
          <p:cNvPr id="33" name="cell-573"/>
          <p:cNvSpPr/>
          <p:nvPr/>
        </p:nvSpPr>
        <p:spPr>
          <a:xfrm>
            <a:off x="8844077" y="2029968"/>
            <a:ext cx="2798978" cy="804672"/>
          </a:xfrm>
          <a:prstGeom prst="roundRect">
            <a:avLst>
              <a:gd name="adj" fmla="val 11364"/>
            </a:avLst>
          </a:prstGeom>
          <a:solidFill>
            <a:schemeClr val="bg2"/>
          </a:solidFill>
          <a:ln/>
        </p:spPr>
      </p:sp>
      <p:sp>
        <p:nvSpPr>
          <p:cNvPr id="34" name="rating-dot"/>
          <p:cNvSpPr/>
          <p:nvPr/>
        </p:nvSpPr>
        <p:spPr>
          <a:xfrm>
            <a:off x="9026957" y="2350008"/>
            <a:ext cx="164592" cy="164592"/>
          </a:xfrm>
          <a:prstGeom prst="ellipse">
            <a:avLst/>
          </a:prstGeom>
          <a:solidFill>
            <a:schemeClr val="accent2"/>
          </a:solidFill>
          <a:ln w="12700">
            <a:solidFill>
              <a:schemeClr val="accent2"/>
            </a:solidFill>
            <a:prstDash val="solid"/>
          </a:ln>
        </p:spPr>
      </p:sp>
      <p:sp>
        <p:nvSpPr>
          <p:cNvPr id="35" name="rating-dot"/>
          <p:cNvSpPr/>
          <p:nvPr/>
        </p:nvSpPr>
        <p:spPr>
          <a:xfrm>
            <a:off x="9264701" y="2350008"/>
            <a:ext cx="164592" cy="164592"/>
          </a:xfrm>
          <a:prstGeom prst="ellipse">
            <a:avLst/>
          </a:prstGeom>
          <a:solidFill>
            <a:schemeClr val="bg1"/>
          </a:solidFill>
          <a:ln w="12700">
            <a:solidFill>
              <a:schemeClr val="accent6"/>
            </a:solidFill>
            <a:prstDash val="solid"/>
          </a:ln>
        </p:spPr>
      </p:sp>
      <p:sp>
        <p:nvSpPr>
          <p:cNvPr id="36" name="rating-dot"/>
          <p:cNvSpPr/>
          <p:nvPr/>
        </p:nvSpPr>
        <p:spPr>
          <a:xfrm>
            <a:off x="9502445" y="2350008"/>
            <a:ext cx="164592" cy="164592"/>
          </a:xfrm>
          <a:prstGeom prst="ellipse">
            <a:avLst/>
          </a:prstGeom>
          <a:solidFill>
            <a:schemeClr val="bg1"/>
          </a:solidFill>
          <a:ln w="12700">
            <a:solidFill>
              <a:schemeClr val="accent6"/>
            </a:solidFill>
            <a:prstDash val="solid"/>
          </a:ln>
        </p:spPr>
      </p:sp>
      <p:sp>
        <p:nvSpPr>
          <p:cNvPr id="37" name="cell-text-574"/>
          <p:cNvSpPr txBox="1"/>
          <p:nvPr/>
        </p:nvSpPr>
        <p:spPr>
          <a:xfrm>
            <a:off x="9804197" y="2029968"/>
            <a:ext cx="1747418" cy="804672"/>
          </a:xfrm>
          <a:prstGeom prst="rect">
            <a:avLst/>
          </a:prstGeom>
          <a:noFill/>
          <a:ln/>
        </p:spPr>
        <p:txBody>
          <a:bodyPr wrap="square" lIns="0" tIns="0" rIns="0" bIns="0" rtlCol="0" anchor="ctr"/>
          <a:lstStyle/>
          <a:p>
            <a:pPr indent="0" marL="0">
              <a:buNone/>
            </a:pPr>
            <a:r>
              <a:rPr lang="en-US" sz="1400" dirty="0">
                <a:solidFill>
                  <a:schemeClr val="tx1"/>
                </a:solidFill>
              </a:rPr>
              <a:t>Model must reflect the world</a:t>
            </a:r>
            <a:endParaRPr lang="en-US" sz="1400" dirty="0"/>
          </a:p>
        </p:txBody>
      </p:sp>
      <p:sp>
        <p:nvSpPr>
          <p:cNvPr id="38" name="row-head-575"/>
          <p:cNvSpPr/>
          <p:nvPr/>
        </p:nvSpPr>
        <p:spPr>
          <a:xfrm>
            <a:off x="548640" y="2944368"/>
            <a:ext cx="2286000" cy="804672"/>
          </a:xfrm>
          <a:prstGeom prst="roundRect">
            <a:avLst>
              <a:gd name="adj" fmla="val 11364"/>
            </a:avLst>
          </a:prstGeom>
          <a:solidFill>
            <a:schemeClr val="tx2"/>
          </a:solidFill>
          <a:ln/>
        </p:spPr>
      </p:sp>
      <p:sp>
        <p:nvSpPr>
          <p:cNvPr id="39" name="row-head-text-576"/>
          <p:cNvSpPr txBox="1"/>
          <p:nvPr/>
        </p:nvSpPr>
        <p:spPr>
          <a:xfrm>
            <a:off x="731520" y="2944368"/>
            <a:ext cx="2011680" cy="804672"/>
          </a:xfrm>
          <a:prstGeom prst="rect">
            <a:avLst/>
          </a:prstGeom>
          <a:noFill/>
          <a:ln/>
        </p:spPr>
        <p:txBody>
          <a:bodyPr wrap="square" lIns="0" tIns="0" rIns="0" bIns="0" rtlCol="0" anchor="ctr"/>
          <a:lstStyle/>
          <a:p>
            <a:pPr indent="0" marL="0">
              <a:buNone/>
            </a:pPr>
            <a:r>
              <a:rPr lang="en-US" sz="1600" b="1" dirty="0">
                <a:solidFill>
                  <a:schemeClr val="bg1"/>
                </a:solidFill>
              </a:rPr>
              <a:t>Local, agnostic</a:t>
            </a:r>
            <a:endParaRPr lang="en-US" sz="1600" dirty="0"/>
          </a:p>
        </p:txBody>
      </p:sp>
      <p:sp>
        <p:nvSpPr>
          <p:cNvPr id="40" name="cell-577"/>
          <p:cNvSpPr/>
          <p:nvPr/>
        </p:nvSpPr>
        <p:spPr>
          <a:xfrm>
            <a:off x="2971800" y="2944368"/>
            <a:ext cx="2798978" cy="804672"/>
          </a:xfrm>
          <a:prstGeom prst="roundRect">
            <a:avLst>
              <a:gd name="adj" fmla="val 11364"/>
            </a:avLst>
          </a:prstGeom>
          <a:solidFill>
            <a:schemeClr val="bg2"/>
          </a:solidFill>
          <a:ln/>
        </p:spPr>
      </p:sp>
      <p:sp>
        <p:nvSpPr>
          <p:cNvPr id="41" name="rating-dot"/>
          <p:cNvSpPr/>
          <p:nvPr/>
        </p:nvSpPr>
        <p:spPr>
          <a:xfrm>
            <a:off x="3154680" y="3264408"/>
            <a:ext cx="164592" cy="164592"/>
          </a:xfrm>
          <a:prstGeom prst="ellipse">
            <a:avLst/>
          </a:prstGeom>
          <a:solidFill>
            <a:schemeClr val="accent1"/>
          </a:solidFill>
          <a:ln w="12700">
            <a:solidFill>
              <a:schemeClr val="accent1"/>
            </a:solidFill>
            <a:prstDash val="solid"/>
          </a:ln>
        </p:spPr>
      </p:sp>
      <p:sp>
        <p:nvSpPr>
          <p:cNvPr id="42" name="rating-dot"/>
          <p:cNvSpPr/>
          <p:nvPr/>
        </p:nvSpPr>
        <p:spPr>
          <a:xfrm>
            <a:off x="3392424" y="3264408"/>
            <a:ext cx="164592" cy="164592"/>
          </a:xfrm>
          <a:prstGeom prst="ellipse">
            <a:avLst/>
          </a:prstGeom>
          <a:solidFill>
            <a:schemeClr val="accent1"/>
          </a:solidFill>
          <a:ln w="12700">
            <a:solidFill>
              <a:schemeClr val="accent1"/>
            </a:solidFill>
            <a:prstDash val="solid"/>
          </a:ln>
        </p:spPr>
      </p:sp>
      <p:sp>
        <p:nvSpPr>
          <p:cNvPr id="43" name="rating-dot"/>
          <p:cNvSpPr/>
          <p:nvPr/>
        </p:nvSpPr>
        <p:spPr>
          <a:xfrm>
            <a:off x="3630168" y="3264408"/>
            <a:ext cx="164592" cy="164592"/>
          </a:xfrm>
          <a:prstGeom prst="ellipse">
            <a:avLst/>
          </a:prstGeom>
          <a:solidFill>
            <a:schemeClr val="bg1"/>
          </a:solidFill>
          <a:ln w="12700">
            <a:solidFill>
              <a:schemeClr val="accent6"/>
            </a:solidFill>
            <a:prstDash val="solid"/>
          </a:ln>
        </p:spPr>
      </p:sp>
      <p:sp>
        <p:nvSpPr>
          <p:cNvPr id="44" name="cell-text-578"/>
          <p:cNvSpPr txBox="1"/>
          <p:nvPr/>
        </p:nvSpPr>
        <p:spPr>
          <a:xfrm>
            <a:off x="3931920" y="2944368"/>
            <a:ext cx="1747418" cy="804672"/>
          </a:xfrm>
          <a:prstGeom prst="rect">
            <a:avLst/>
          </a:prstGeom>
          <a:noFill/>
          <a:ln/>
        </p:spPr>
        <p:txBody>
          <a:bodyPr wrap="square" lIns="0" tIns="0" rIns="0" bIns="0" rtlCol="0" anchor="ctr"/>
          <a:lstStyle/>
          <a:p>
            <a:pPr indent="0" marL="0">
              <a:buNone/>
            </a:pPr>
            <a:r>
              <a:rPr lang="en-US" sz="1400" dirty="0">
                <a:solidFill>
                  <a:schemeClr val="tx1"/>
                </a:solidFill>
              </a:rPr>
              <a:t>Zooms in on unusual predictions</a:t>
            </a:r>
            <a:endParaRPr lang="en-US" sz="1400" dirty="0"/>
          </a:p>
        </p:txBody>
      </p:sp>
      <p:sp>
        <p:nvSpPr>
          <p:cNvPr id="45" name="cell-579"/>
          <p:cNvSpPr/>
          <p:nvPr/>
        </p:nvSpPr>
        <p:spPr>
          <a:xfrm>
            <a:off x="5907938" y="2944368"/>
            <a:ext cx="2798978" cy="804672"/>
          </a:xfrm>
          <a:prstGeom prst="roundRect">
            <a:avLst>
              <a:gd name="adj" fmla="val 11364"/>
            </a:avLst>
          </a:prstGeom>
          <a:solidFill>
            <a:schemeClr val="bg2"/>
          </a:solidFill>
          <a:ln/>
        </p:spPr>
      </p:sp>
      <p:sp>
        <p:nvSpPr>
          <p:cNvPr id="46" name="rating-dot"/>
          <p:cNvSpPr/>
          <p:nvPr/>
        </p:nvSpPr>
        <p:spPr>
          <a:xfrm>
            <a:off x="6090818" y="3264408"/>
            <a:ext cx="164592" cy="164592"/>
          </a:xfrm>
          <a:prstGeom prst="ellipse">
            <a:avLst/>
          </a:prstGeom>
          <a:solidFill>
            <a:schemeClr val="accent1"/>
          </a:solidFill>
          <a:ln w="12700">
            <a:solidFill>
              <a:schemeClr val="accent1"/>
            </a:solidFill>
            <a:prstDash val="solid"/>
          </a:ln>
        </p:spPr>
      </p:sp>
      <p:sp>
        <p:nvSpPr>
          <p:cNvPr id="47" name="rating-dot"/>
          <p:cNvSpPr/>
          <p:nvPr/>
        </p:nvSpPr>
        <p:spPr>
          <a:xfrm>
            <a:off x="6328562" y="3264408"/>
            <a:ext cx="164592" cy="164592"/>
          </a:xfrm>
          <a:prstGeom prst="ellipse">
            <a:avLst/>
          </a:prstGeom>
          <a:solidFill>
            <a:schemeClr val="accent1"/>
          </a:solidFill>
          <a:ln w="12700">
            <a:solidFill>
              <a:schemeClr val="accent1"/>
            </a:solidFill>
            <a:prstDash val="solid"/>
          </a:ln>
        </p:spPr>
      </p:sp>
      <p:sp>
        <p:nvSpPr>
          <p:cNvPr id="48" name="rating-dot"/>
          <p:cNvSpPr/>
          <p:nvPr/>
        </p:nvSpPr>
        <p:spPr>
          <a:xfrm>
            <a:off x="6566306" y="3264408"/>
            <a:ext cx="164592" cy="164592"/>
          </a:xfrm>
          <a:prstGeom prst="ellipse">
            <a:avLst/>
          </a:prstGeom>
          <a:solidFill>
            <a:schemeClr val="bg1"/>
          </a:solidFill>
          <a:ln w="12700">
            <a:solidFill>
              <a:schemeClr val="accent6"/>
            </a:solidFill>
            <a:prstDash val="solid"/>
          </a:ln>
        </p:spPr>
      </p:sp>
      <p:sp>
        <p:nvSpPr>
          <p:cNvPr id="49" name="cell-text-580"/>
          <p:cNvSpPr txBox="1"/>
          <p:nvPr/>
        </p:nvSpPr>
        <p:spPr>
          <a:xfrm>
            <a:off x="6868058" y="2944368"/>
            <a:ext cx="1747418" cy="804672"/>
          </a:xfrm>
          <a:prstGeom prst="rect">
            <a:avLst/>
          </a:prstGeom>
          <a:noFill/>
          <a:ln/>
        </p:spPr>
        <p:txBody>
          <a:bodyPr wrap="square" lIns="0" tIns="0" rIns="0" bIns="0" rtlCol="0" anchor="ctr"/>
          <a:lstStyle/>
          <a:p>
            <a:pPr indent="0" marL="0">
              <a:buNone/>
            </a:pPr>
            <a:r>
              <a:rPr lang="en-US" sz="1400" dirty="0">
                <a:solidFill>
                  <a:schemeClr val="tx1"/>
                </a:solidFill>
              </a:rPr>
              <a:t>CP faithful; SHAP/LIME riskier</a:t>
            </a:r>
            <a:endParaRPr lang="en-US" sz="1400" dirty="0"/>
          </a:p>
        </p:txBody>
      </p:sp>
      <p:sp>
        <p:nvSpPr>
          <p:cNvPr id="50" name="cell-581"/>
          <p:cNvSpPr/>
          <p:nvPr/>
        </p:nvSpPr>
        <p:spPr>
          <a:xfrm>
            <a:off x="8844077" y="2944368"/>
            <a:ext cx="2798978" cy="804672"/>
          </a:xfrm>
          <a:prstGeom prst="roundRect">
            <a:avLst>
              <a:gd name="adj" fmla="val 11364"/>
            </a:avLst>
          </a:prstGeom>
          <a:solidFill>
            <a:schemeClr val="bg2"/>
          </a:solidFill>
          <a:ln/>
        </p:spPr>
      </p:sp>
      <p:sp>
        <p:nvSpPr>
          <p:cNvPr id="51" name="rating-dot"/>
          <p:cNvSpPr/>
          <p:nvPr/>
        </p:nvSpPr>
        <p:spPr>
          <a:xfrm>
            <a:off x="9026957" y="3264408"/>
            <a:ext cx="164592" cy="164592"/>
          </a:xfrm>
          <a:prstGeom prst="ellipse">
            <a:avLst/>
          </a:prstGeom>
          <a:solidFill>
            <a:schemeClr val="accent1"/>
          </a:solidFill>
          <a:ln w="12700">
            <a:solidFill>
              <a:schemeClr val="accent1"/>
            </a:solidFill>
            <a:prstDash val="solid"/>
          </a:ln>
        </p:spPr>
      </p:sp>
      <p:sp>
        <p:nvSpPr>
          <p:cNvPr id="52" name="rating-dot"/>
          <p:cNvSpPr/>
          <p:nvPr/>
        </p:nvSpPr>
        <p:spPr>
          <a:xfrm>
            <a:off x="9264701" y="3264408"/>
            <a:ext cx="164592" cy="164592"/>
          </a:xfrm>
          <a:prstGeom prst="ellipse">
            <a:avLst/>
          </a:prstGeom>
          <a:solidFill>
            <a:schemeClr val="accent1"/>
          </a:solidFill>
          <a:ln w="12700">
            <a:solidFill>
              <a:schemeClr val="accent1"/>
            </a:solidFill>
            <a:prstDash val="solid"/>
          </a:ln>
        </p:spPr>
      </p:sp>
      <p:sp>
        <p:nvSpPr>
          <p:cNvPr id="53" name="rating-dot"/>
          <p:cNvSpPr/>
          <p:nvPr/>
        </p:nvSpPr>
        <p:spPr>
          <a:xfrm>
            <a:off x="9502445" y="3264408"/>
            <a:ext cx="164592" cy="164592"/>
          </a:xfrm>
          <a:prstGeom prst="ellipse">
            <a:avLst/>
          </a:prstGeom>
          <a:solidFill>
            <a:schemeClr val="bg1"/>
          </a:solidFill>
          <a:ln w="12700">
            <a:solidFill>
              <a:schemeClr val="accent6"/>
            </a:solidFill>
            <a:prstDash val="solid"/>
          </a:ln>
        </p:spPr>
      </p:sp>
      <p:sp>
        <p:nvSpPr>
          <p:cNvPr id="54" name="cell-text-582"/>
          <p:cNvSpPr txBox="1"/>
          <p:nvPr/>
        </p:nvSpPr>
        <p:spPr>
          <a:xfrm>
            <a:off x="9804197" y="2944368"/>
            <a:ext cx="1747418" cy="804672"/>
          </a:xfrm>
          <a:prstGeom prst="rect">
            <a:avLst/>
          </a:prstGeom>
          <a:noFill/>
          <a:ln/>
        </p:spPr>
        <p:txBody>
          <a:bodyPr wrap="square" lIns="0" tIns="0" rIns="0" bIns="0" rtlCol="0" anchor="ctr"/>
          <a:lstStyle/>
          <a:p>
            <a:pPr indent="0" marL="0">
              <a:buNone/>
            </a:pPr>
            <a:r>
              <a:rPr lang="en-US" sz="1400" dirty="0">
                <a:solidFill>
                  <a:schemeClr val="tx1"/>
                </a:solidFill>
              </a:rPr>
              <a:t>Compare to reference data</a:t>
            </a:r>
            <a:endParaRPr lang="en-US" sz="1400" dirty="0"/>
          </a:p>
        </p:txBody>
      </p:sp>
      <p:sp>
        <p:nvSpPr>
          <p:cNvPr id="55" name="row-head-583"/>
          <p:cNvSpPr/>
          <p:nvPr/>
        </p:nvSpPr>
        <p:spPr>
          <a:xfrm>
            <a:off x="548640" y="3858768"/>
            <a:ext cx="2286000" cy="804672"/>
          </a:xfrm>
          <a:prstGeom prst="roundRect">
            <a:avLst>
              <a:gd name="adj" fmla="val 11364"/>
            </a:avLst>
          </a:prstGeom>
          <a:solidFill>
            <a:schemeClr val="tx2"/>
          </a:solidFill>
          <a:ln/>
        </p:spPr>
      </p:sp>
      <p:sp>
        <p:nvSpPr>
          <p:cNvPr id="56" name="row-head-text-584"/>
          <p:cNvSpPr txBox="1"/>
          <p:nvPr/>
        </p:nvSpPr>
        <p:spPr>
          <a:xfrm>
            <a:off x="731520" y="3858768"/>
            <a:ext cx="2011680" cy="804672"/>
          </a:xfrm>
          <a:prstGeom prst="rect">
            <a:avLst/>
          </a:prstGeom>
          <a:noFill/>
          <a:ln/>
        </p:spPr>
        <p:txBody>
          <a:bodyPr wrap="square" lIns="0" tIns="0" rIns="0" bIns="0" rtlCol="0" anchor="ctr"/>
          <a:lstStyle/>
          <a:p>
            <a:pPr indent="0" marL="0">
              <a:buNone/>
            </a:pPr>
            <a:r>
              <a:rPr lang="en-US" sz="1600" b="1" dirty="0">
                <a:solidFill>
                  <a:schemeClr val="bg1"/>
                </a:solidFill>
              </a:rPr>
              <a:t>Global, agnostic</a:t>
            </a:r>
            <a:endParaRPr lang="en-US" sz="1600" dirty="0"/>
          </a:p>
        </p:txBody>
      </p:sp>
      <p:sp>
        <p:nvSpPr>
          <p:cNvPr id="57" name="cell-585"/>
          <p:cNvSpPr/>
          <p:nvPr/>
        </p:nvSpPr>
        <p:spPr>
          <a:xfrm>
            <a:off x="2971800" y="3858768"/>
            <a:ext cx="2798978" cy="804672"/>
          </a:xfrm>
          <a:prstGeom prst="roundRect">
            <a:avLst>
              <a:gd name="adj" fmla="val 11364"/>
            </a:avLst>
          </a:prstGeom>
          <a:solidFill>
            <a:schemeClr val="bg2"/>
          </a:solidFill>
          <a:ln/>
        </p:spPr>
      </p:sp>
      <p:sp>
        <p:nvSpPr>
          <p:cNvPr id="58" name="rating-dot"/>
          <p:cNvSpPr/>
          <p:nvPr/>
        </p:nvSpPr>
        <p:spPr>
          <a:xfrm>
            <a:off x="3154680" y="4178808"/>
            <a:ext cx="164592" cy="164592"/>
          </a:xfrm>
          <a:prstGeom prst="ellipse">
            <a:avLst/>
          </a:prstGeom>
          <a:solidFill>
            <a:schemeClr val="accent5"/>
          </a:solidFill>
          <a:ln w="12700">
            <a:solidFill>
              <a:schemeClr val="accent5"/>
            </a:solidFill>
            <a:prstDash val="solid"/>
          </a:ln>
        </p:spPr>
      </p:sp>
      <p:sp>
        <p:nvSpPr>
          <p:cNvPr id="59" name="rating-dot"/>
          <p:cNvSpPr/>
          <p:nvPr/>
        </p:nvSpPr>
        <p:spPr>
          <a:xfrm>
            <a:off x="3392424" y="4178808"/>
            <a:ext cx="164592" cy="164592"/>
          </a:xfrm>
          <a:prstGeom prst="ellipse">
            <a:avLst/>
          </a:prstGeom>
          <a:solidFill>
            <a:schemeClr val="accent5"/>
          </a:solidFill>
          <a:ln w="12700">
            <a:solidFill>
              <a:schemeClr val="accent5"/>
            </a:solidFill>
            <a:prstDash val="solid"/>
          </a:ln>
        </p:spPr>
      </p:sp>
      <p:sp>
        <p:nvSpPr>
          <p:cNvPr id="60" name="rating-dot"/>
          <p:cNvSpPr/>
          <p:nvPr/>
        </p:nvSpPr>
        <p:spPr>
          <a:xfrm>
            <a:off x="3630168" y="4178808"/>
            <a:ext cx="164592" cy="164592"/>
          </a:xfrm>
          <a:prstGeom prst="ellipse">
            <a:avLst/>
          </a:prstGeom>
          <a:solidFill>
            <a:schemeClr val="accent5"/>
          </a:solidFill>
          <a:ln w="12700">
            <a:solidFill>
              <a:schemeClr val="accent5"/>
            </a:solidFill>
            <a:prstDash val="solid"/>
          </a:ln>
        </p:spPr>
      </p:sp>
      <p:sp>
        <p:nvSpPr>
          <p:cNvPr id="61" name="cell-text-586"/>
          <p:cNvSpPr txBox="1"/>
          <p:nvPr/>
        </p:nvSpPr>
        <p:spPr>
          <a:xfrm>
            <a:off x="3931920" y="3858768"/>
            <a:ext cx="1747418" cy="804672"/>
          </a:xfrm>
          <a:prstGeom prst="rect">
            <a:avLst/>
          </a:prstGeom>
          <a:noFill/>
          <a:ln/>
        </p:spPr>
        <p:txBody>
          <a:bodyPr wrap="square" lIns="0" tIns="0" rIns="0" bIns="0" rtlCol="0" anchor="ctr"/>
          <a:lstStyle/>
          <a:p>
            <a:pPr indent="0" marL="0">
              <a:buNone/>
            </a:pPr>
            <a:r>
              <a:rPr lang="en-US" sz="1400" dirty="0">
                <a:solidFill>
                  <a:schemeClr val="tx1"/>
                </a:solidFill>
              </a:rPr>
              <a:t>E.g. improve the model with LOFO</a:t>
            </a:r>
            <a:endParaRPr lang="en-US" sz="1400" dirty="0"/>
          </a:p>
        </p:txBody>
      </p:sp>
      <p:sp>
        <p:nvSpPr>
          <p:cNvPr id="62" name="cell-587"/>
          <p:cNvSpPr/>
          <p:nvPr/>
        </p:nvSpPr>
        <p:spPr>
          <a:xfrm>
            <a:off x="5907938" y="3858768"/>
            <a:ext cx="2798978" cy="804672"/>
          </a:xfrm>
          <a:prstGeom prst="roundRect">
            <a:avLst>
              <a:gd name="adj" fmla="val 11364"/>
            </a:avLst>
          </a:prstGeom>
          <a:solidFill>
            <a:schemeClr val="bg2"/>
          </a:solidFill>
          <a:ln/>
        </p:spPr>
      </p:sp>
      <p:sp>
        <p:nvSpPr>
          <p:cNvPr id="63" name="rating-dot"/>
          <p:cNvSpPr/>
          <p:nvPr/>
        </p:nvSpPr>
        <p:spPr>
          <a:xfrm>
            <a:off x="6090818" y="4178808"/>
            <a:ext cx="164592" cy="164592"/>
          </a:xfrm>
          <a:prstGeom prst="ellipse">
            <a:avLst/>
          </a:prstGeom>
          <a:solidFill>
            <a:schemeClr val="accent1"/>
          </a:solidFill>
          <a:ln w="12700">
            <a:solidFill>
              <a:schemeClr val="accent1"/>
            </a:solidFill>
            <a:prstDash val="solid"/>
          </a:ln>
        </p:spPr>
      </p:sp>
      <p:sp>
        <p:nvSpPr>
          <p:cNvPr id="64" name="rating-dot"/>
          <p:cNvSpPr/>
          <p:nvPr/>
        </p:nvSpPr>
        <p:spPr>
          <a:xfrm>
            <a:off x="6328562" y="4178808"/>
            <a:ext cx="164592" cy="164592"/>
          </a:xfrm>
          <a:prstGeom prst="ellipse">
            <a:avLst/>
          </a:prstGeom>
          <a:solidFill>
            <a:schemeClr val="accent1"/>
          </a:solidFill>
          <a:ln w="12700">
            <a:solidFill>
              <a:schemeClr val="accent1"/>
            </a:solidFill>
            <a:prstDash val="solid"/>
          </a:ln>
        </p:spPr>
      </p:sp>
      <p:sp>
        <p:nvSpPr>
          <p:cNvPr id="65" name="rating-dot"/>
          <p:cNvSpPr/>
          <p:nvPr/>
        </p:nvSpPr>
        <p:spPr>
          <a:xfrm>
            <a:off x="6566306" y="4178808"/>
            <a:ext cx="164592" cy="164592"/>
          </a:xfrm>
          <a:prstGeom prst="ellipse">
            <a:avLst/>
          </a:prstGeom>
          <a:solidFill>
            <a:schemeClr val="bg1"/>
          </a:solidFill>
          <a:ln w="12700">
            <a:solidFill>
              <a:schemeClr val="accent6"/>
            </a:solidFill>
            <a:prstDash val="solid"/>
          </a:ln>
        </p:spPr>
      </p:sp>
      <p:sp>
        <p:nvSpPr>
          <p:cNvPr id="66" name="cell-text-588"/>
          <p:cNvSpPr txBox="1"/>
          <p:nvPr/>
        </p:nvSpPr>
        <p:spPr>
          <a:xfrm>
            <a:off x="6868058" y="3858768"/>
            <a:ext cx="1747418" cy="804672"/>
          </a:xfrm>
          <a:prstGeom prst="rect">
            <a:avLst/>
          </a:prstGeom>
          <a:noFill/>
          <a:ln/>
        </p:spPr>
        <p:txBody>
          <a:bodyPr wrap="square" lIns="0" tIns="0" rIns="0" bIns="0" rtlCol="0" anchor="ctr"/>
          <a:lstStyle/>
          <a:p>
            <a:pPr indent="0" marL="0">
              <a:buNone/>
            </a:pPr>
            <a:r>
              <a:rPr lang="en-US" sz="1400" dirty="0">
                <a:solidFill>
                  <a:schemeClr val="tx1"/>
                </a:solidFill>
              </a:rPr>
              <a:t>Which features matter overall</a:t>
            </a:r>
            <a:endParaRPr lang="en-US" sz="1400" dirty="0"/>
          </a:p>
        </p:txBody>
      </p:sp>
      <p:sp>
        <p:nvSpPr>
          <p:cNvPr id="67" name="cell-589"/>
          <p:cNvSpPr/>
          <p:nvPr/>
        </p:nvSpPr>
        <p:spPr>
          <a:xfrm>
            <a:off x="8844077" y="3858768"/>
            <a:ext cx="2798978" cy="804672"/>
          </a:xfrm>
          <a:prstGeom prst="roundRect">
            <a:avLst>
              <a:gd name="adj" fmla="val 11364"/>
            </a:avLst>
          </a:prstGeom>
          <a:solidFill>
            <a:schemeClr val="bg2"/>
          </a:solidFill>
          <a:ln/>
        </p:spPr>
      </p:sp>
      <p:sp>
        <p:nvSpPr>
          <p:cNvPr id="68" name="rating-dot"/>
          <p:cNvSpPr/>
          <p:nvPr/>
        </p:nvSpPr>
        <p:spPr>
          <a:xfrm>
            <a:off x="9026957" y="4178808"/>
            <a:ext cx="164592" cy="164592"/>
          </a:xfrm>
          <a:prstGeom prst="ellipse">
            <a:avLst/>
          </a:prstGeom>
          <a:solidFill>
            <a:schemeClr val="accent5"/>
          </a:solidFill>
          <a:ln w="12700">
            <a:solidFill>
              <a:schemeClr val="accent5"/>
            </a:solidFill>
            <a:prstDash val="solid"/>
          </a:ln>
        </p:spPr>
      </p:sp>
      <p:sp>
        <p:nvSpPr>
          <p:cNvPr id="69" name="rating-dot"/>
          <p:cNvSpPr/>
          <p:nvPr/>
        </p:nvSpPr>
        <p:spPr>
          <a:xfrm>
            <a:off x="9264701" y="4178808"/>
            <a:ext cx="164592" cy="164592"/>
          </a:xfrm>
          <a:prstGeom prst="ellipse">
            <a:avLst/>
          </a:prstGeom>
          <a:solidFill>
            <a:schemeClr val="accent5"/>
          </a:solidFill>
          <a:ln w="12700">
            <a:solidFill>
              <a:schemeClr val="accent5"/>
            </a:solidFill>
            <a:prstDash val="solid"/>
          </a:ln>
        </p:spPr>
      </p:sp>
      <p:sp>
        <p:nvSpPr>
          <p:cNvPr id="70" name="rating-dot"/>
          <p:cNvSpPr/>
          <p:nvPr/>
        </p:nvSpPr>
        <p:spPr>
          <a:xfrm>
            <a:off x="9502445" y="4178808"/>
            <a:ext cx="164592" cy="164592"/>
          </a:xfrm>
          <a:prstGeom prst="ellipse">
            <a:avLst/>
          </a:prstGeom>
          <a:solidFill>
            <a:schemeClr val="accent5"/>
          </a:solidFill>
          <a:ln w="12700">
            <a:solidFill>
              <a:schemeClr val="accent5"/>
            </a:solidFill>
            <a:prstDash val="solid"/>
          </a:ln>
        </p:spPr>
      </p:sp>
      <p:sp>
        <p:nvSpPr>
          <p:cNvPr id="71" name="cell-text-590"/>
          <p:cNvSpPr txBox="1"/>
          <p:nvPr/>
        </p:nvSpPr>
        <p:spPr>
          <a:xfrm>
            <a:off x="9804197" y="3858768"/>
            <a:ext cx="1747418" cy="804672"/>
          </a:xfrm>
          <a:prstGeom prst="rect">
            <a:avLst/>
          </a:prstGeom>
          <a:noFill/>
          <a:ln/>
        </p:spPr>
        <p:txBody>
          <a:bodyPr wrap="square" lIns="0" tIns="0" rIns="0" bIns="0" rtlCol="0" anchor="ctr"/>
          <a:lstStyle/>
          <a:p>
            <a:pPr indent="0" marL="0">
              <a:buNone/>
            </a:pPr>
            <a:r>
              <a:rPr lang="en-US" sz="1400" dirty="0">
                <a:solidFill>
                  <a:schemeClr val="tx1"/>
                </a:solidFill>
              </a:rPr>
              <a:t>PDP, PFI reveal mechanisms</a:t>
            </a:r>
            <a:endParaRPr lang="en-US" sz="1400" dirty="0"/>
          </a:p>
        </p:txBody>
      </p:sp>
      <p:sp>
        <p:nvSpPr>
          <p:cNvPr id="72" name="row-head-591"/>
          <p:cNvSpPr/>
          <p:nvPr/>
        </p:nvSpPr>
        <p:spPr>
          <a:xfrm>
            <a:off x="548640" y="4773168"/>
            <a:ext cx="2286000" cy="804672"/>
          </a:xfrm>
          <a:prstGeom prst="roundRect">
            <a:avLst>
              <a:gd name="adj" fmla="val 11364"/>
            </a:avLst>
          </a:prstGeom>
          <a:solidFill>
            <a:schemeClr val="tx2"/>
          </a:solidFill>
          <a:ln/>
        </p:spPr>
      </p:sp>
      <p:sp>
        <p:nvSpPr>
          <p:cNvPr id="73" name="row-head-text-592"/>
          <p:cNvSpPr txBox="1"/>
          <p:nvPr/>
        </p:nvSpPr>
        <p:spPr>
          <a:xfrm>
            <a:off x="731520" y="4773168"/>
            <a:ext cx="2011680" cy="804672"/>
          </a:xfrm>
          <a:prstGeom prst="rect">
            <a:avLst/>
          </a:prstGeom>
          <a:noFill/>
          <a:ln/>
        </p:spPr>
        <p:txBody>
          <a:bodyPr wrap="square" lIns="0" tIns="0" rIns="0" bIns="0" rtlCol="0" anchor="ctr"/>
          <a:lstStyle/>
          <a:p>
            <a:pPr indent="0" marL="0">
              <a:buNone/>
            </a:pPr>
            <a:r>
              <a:rPr lang="en-US" sz="1600" b="1" dirty="0">
                <a:solidFill>
                  <a:schemeClr val="bg1"/>
                </a:solidFill>
              </a:rPr>
              <a:t>Model-specific</a:t>
            </a:r>
            <a:endParaRPr lang="en-US" sz="1600" dirty="0"/>
          </a:p>
        </p:txBody>
      </p:sp>
      <p:sp>
        <p:nvSpPr>
          <p:cNvPr id="74" name="cell-593"/>
          <p:cNvSpPr/>
          <p:nvPr/>
        </p:nvSpPr>
        <p:spPr>
          <a:xfrm>
            <a:off x="2971800" y="4773168"/>
            <a:ext cx="2798978" cy="804672"/>
          </a:xfrm>
          <a:prstGeom prst="roundRect">
            <a:avLst>
              <a:gd name="adj" fmla="val 11364"/>
            </a:avLst>
          </a:prstGeom>
          <a:solidFill>
            <a:schemeClr val="bg2"/>
          </a:solidFill>
          <a:ln/>
        </p:spPr>
      </p:sp>
      <p:sp>
        <p:nvSpPr>
          <p:cNvPr id="75" name="rating-dot"/>
          <p:cNvSpPr/>
          <p:nvPr/>
        </p:nvSpPr>
        <p:spPr>
          <a:xfrm>
            <a:off x="3154680" y="5093208"/>
            <a:ext cx="164592" cy="164592"/>
          </a:xfrm>
          <a:prstGeom prst="ellipse">
            <a:avLst/>
          </a:prstGeom>
          <a:solidFill>
            <a:schemeClr val="accent5"/>
          </a:solidFill>
          <a:ln w="12700">
            <a:solidFill>
              <a:schemeClr val="accent5"/>
            </a:solidFill>
            <a:prstDash val="solid"/>
          </a:ln>
        </p:spPr>
      </p:sp>
      <p:sp>
        <p:nvSpPr>
          <p:cNvPr id="76" name="rating-dot"/>
          <p:cNvSpPr/>
          <p:nvPr/>
        </p:nvSpPr>
        <p:spPr>
          <a:xfrm>
            <a:off x="3392424" y="5093208"/>
            <a:ext cx="164592" cy="164592"/>
          </a:xfrm>
          <a:prstGeom prst="ellipse">
            <a:avLst/>
          </a:prstGeom>
          <a:solidFill>
            <a:schemeClr val="accent5"/>
          </a:solidFill>
          <a:ln w="12700">
            <a:solidFill>
              <a:schemeClr val="accent5"/>
            </a:solidFill>
            <a:prstDash val="solid"/>
          </a:ln>
        </p:spPr>
      </p:sp>
      <p:sp>
        <p:nvSpPr>
          <p:cNvPr id="77" name="rating-dot"/>
          <p:cNvSpPr/>
          <p:nvPr/>
        </p:nvSpPr>
        <p:spPr>
          <a:xfrm>
            <a:off x="3630168" y="5093208"/>
            <a:ext cx="164592" cy="164592"/>
          </a:xfrm>
          <a:prstGeom prst="ellipse">
            <a:avLst/>
          </a:prstGeom>
          <a:solidFill>
            <a:schemeClr val="accent5"/>
          </a:solidFill>
          <a:ln w="12700">
            <a:solidFill>
              <a:schemeClr val="accent5"/>
            </a:solidFill>
            <a:prstDash val="solid"/>
          </a:ln>
        </p:spPr>
      </p:sp>
      <p:sp>
        <p:nvSpPr>
          <p:cNvPr id="78" name="cell-text-594"/>
          <p:cNvSpPr txBox="1"/>
          <p:nvPr/>
        </p:nvSpPr>
        <p:spPr>
          <a:xfrm>
            <a:off x="3931920" y="4773168"/>
            <a:ext cx="1747418" cy="804672"/>
          </a:xfrm>
          <a:prstGeom prst="rect">
            <a:avLst/>
          </a:prstGeom>
          <a:noFill/>
          <a:ln/>
        </p:spPr>
        <p:txBody>
          <a:bodyPr wrap="square" lIns="0" tIns="0" rIns="0" bIns="0" rtlCol="0" anchor="ctr"/>
          <a:lstStyle/>
          <a:p>
            <a:pPr indent="0" marL="0">
              <a:buNone/>
            </a:pPr>
            <a:r>
              <a:rPr lang="en-US" sz="1400" dirty="0">
                <a:solidFill>
                  <a:schemeClr val="tx1"/>
                </a:solidFill>
              </a:rPr>
              <a:t>Direct insight into the model</a:t>
            </a:r>
            <a:endParaRPr lang="en-US" sz="1400" dirty="0"/>
          </a:p>
        </p:txBody>
      </p:sp>
      <p:sp>
        <p:nvSpPr>
          <p:cNvPr id="79" name="cell-595"/>
          <p:cNvSpPr/>
          <p:nvPr/>
        </p:nvSpPr>
        <p:spPr>
          <a:xfrm>
            <a:off x="5907938" y="4773168"/>
            <a:ext cx="2798978" cy="804672"/>
          </a:xfrm>
          <a:prstGeom prst="roundRect">
            <a:avLst>
              <a:gd name="adj" fmla="val 11364"/>
            </a:avLst>
          </a:prstGeom>
          <a:solidFill>
            <a:schemeClr val="bg2"/>
          </a:solidFill>
          <a:ln/>
        </p:spPr>
      </p:sp>
      <p:sp>
        <p:nvSpPr>
          <p:cNvPr id="80" name="rating-dot"/>
          <p:cNvSpPr/>
          <p:nvPr/>
        </p:nvSpPr>
        <p:spPr>
          <a:xfrm>
            <a:off x="6090818" y="5093208"/>
            <a:ext cx="164592" cy="164592"/>
          </a:xfrm>
          <a:prstGeom prst="ellipse">
            <a:avLst/>
          </a:prstGeom>
          <a:solidFill>
            <a:schemeClr val="accent5"/>
          </a:solidFill>
          <a:ln w="12700">
            <a:solidFill>
              <a:schemeClr val="accent5"/>
            </a:solidFill>
            <a:prstDash val="solid"/>
          </a:ln>
        </p:spPr>
      </p:sp>
      <p:sp>
        <p:nvSpPr>
          <p:cNvPr id="81" name="rating-dot"/>
          <p:cNvSpPr/>
          <p:nvPr/>
        </p:nvSpPr>
        <p:spPr>
          <a:xfrm>
            <a:off x="6328562" y="5093208"/>
            <a:ext cx="164592" cy="164592"/>
          </a:xfrm>
          <a:prstGeom prst="ellipse">
            <a:avLst/>
          </a:prstGeom>
          <a:solidFill>
            <a:schemeClr val="accent5"/>
          </a:solidFill>
          <a:ln w="12700">
            <a:solidFill>
              <a:schemeClr val="accent5"/>
            </a:solidFill>
            <a:prstDash val="solid"/>
          </a:ln>
        </p:spPr>
      </p:sp>
      <p:sp>
        <p:nvSpPr>
          <p:cNvPr id="82" name="rating-dot"/>
          <p:cNvSpPr/>
          <p:nvPr/>
        </p:nvSpPr>
        <p:spPr>
          <a:xfrm>
            <a:off x="6566306" y="5093208"/>
            <a:ext cx="164592" cy="164592"/>
          </a:xfrm>
          <a:prstGeom prst="ellipse">
            <a:avLst/>
          </a:prstGeom>
          <a:solidFill>
            <a:schemeClr val="accent5"/>
          </a:solidFill>
          <a:ln w="12700">
            <a:solidFill>
              <a:schemeClr val="accent5"/>
            </a:solidFill>
            <a:prstDash val="solid"/>
          </a:ln>
        </p:spPr>
      </p:sp>
      <p:sp>
        <p:nvSpPr>
          <p:cNvPr id="83" name="cell-text-596"/>
          <p:cNvSpPr txBox="1"/>
          <p:nvPr/>
        </p:nvSpPr>
        <p:spPr>
          <a:xfrm>
            <a:off x="6868058" y="4773168"/>
            <a:ext cx="1747418" cy="804672"/>
          </a:xfrm>
          <a:prstGeom prst="rect">
            <a:avLst/>
          </a:prstGeom>
          <a:noFill/>
          <a:ln/>
        </p:spPr>
        <p:txBody>
          <a:bodyPr wrap="square" lIns="0" tIns="0" rIns="0" bIns="0" rtlCol="0" anchor="ctr"/>
          <a:lstStyle/>
          <a:p>
            <a:pPr indent="0" marL="0">
              <a:buNone/>
            </a:pPr>
            <a:r>
              <a:rPr lang="en-US" sz="1400" dirty="0">
                <a:solidFill>
                  <a:schemeClr val="tx1"/>
                </a:solidFill>
              </a:rPr>
              <a:t>Helps justify the model</a:t>
            </a:r>
            <a:endParaRPr lang="en-US" sz="1400" dirty="0"/>
          </a:p>
        </p:txBody>
      </p:sp>
      <p:sp>
        <p:nvSpPr>
          <p:cNvPr id="84" name="cell-597"/>
          <p:cNvSpPr/>
          <p:nvPr/>
        </p:nvSpPr>
        <p:spPr>
          <a:xfrm>
            <a:off x="8844077" y="4773168"/>
            <a:ext cx="2798978" cy="804672"/>
          </a:xfrm>
          <a:prstGeom prst="roundRect">
            <a:avLst>
              <a:gd name="adj" fmla="val 11364"/>
            </a:avLst>
          </a:prstGeom>
          <a:solidFill>
            <a:schemeClr val="bg2"/>
          </a:solidFill>
          <a:ln/>
        </p:spPr>
      </p:sp>
      <p:sp>
        <p:nvSpPr>
          <p:cNvPr id="85" name="rating-dot"/>
          <p:cNvSpPr/>
          <p:nvPr/>
        </p:nvSpPr>
        <p:spPr>
          <a:xfrm>
            <a:off x="9026957" y="5093208"/>
            <a:ext cx="164592" cy="164592"/>
          </a:xfrm>
          <a:prstGeom prst="ellipse">
            <a:avLst/>
          </a:prstGeom>
          <a:solidFill>
            <a:schemeClr val="accent2"/>
          </a:solidFill>
          <a:ln w="12700">
            <a:solidFill>
              <a:schemeClr val="accent2"/>
            </a:solidFill>
            <a:prstDash val="solid"/>
          </a:ln>
        </p:spPr>
      </p:sp>
      <p:sp>
        <p:nvSpPr>
          <p:cNvPr id="86" name="rating-dot"/>
          <p:cNvSpPr/>
          <p:nvPr/>
        </p:nvSpPr>
        <p:spPr>
          <a:xfrm>
            <a:off x="9264701" y="5093208"/>
            <a:ext cx="164592" cy="164592"/>
          </a:xfrm>
          <a:prstGeom prst="ellipse">
            <a:avLst/>
          </a:prstGeom>
          <a:solidFill>
            <a:schemeClr val="bg1"/>
          </a:solidFill>
          <a:ln w="12700">
            <a:solidFill>
              <a:schemeClr val="accent6"/>
            </a:solidFill>
            <a:prstDash val="solid"/>
          </a:ln>
        </p:spPr>
      </p:sp>
      <p:sp>
        <p:nvSpPr>
          <p:cNvPr id="87" name="rating-dot"/>
          <p:cNvSpPr/>
          <p:nvPr/>
        </p:nvSpPr>
        <p:spPr>
          <a:xfrm>
            <a:off x="9502445" y="5093208"/>
            <a:ext cx="164592" cy="164592"/>
          </a:xfrm>
          <a:prstGeom prst="ellipse">
            <a:avLst/>
          </a:prstGeom>
          <a:solidFill>
            <a:schemeClr val="bg1"/>
          </a:solidFill>
          <a:ln w="12700">
            <a:solidFill>
              <a:schemeClr val="accent6"/>
            </a:solidFill>
            <a:prstDash val="solid"/>
          </a:ln>
        </p:spPr>
      </p:sp>
      <p:sp>
        <p:nvSpPr>
          <p:cNvPr id="88" name="cell-text-598"/>
          <p:cNvSpPr txBox="1"/>
          <p:nvPr/>
        </p:nvSpPr>
        <p:spPr>
          <a:xfrm>
            <a:off x="9804197" y="4773168"/>
            <a:ext cx="1747418" cy="804672"/>
          </a:xfrm>
          <a:prstGeom prst="rect">
            <a:avLst/>
          </a:prstGeom>
          <a:noFill/>
          <a:ln/>
        </p:spPr>
        <p:txBody>
          <a:bodyPr wrap="square" lIns="0" tIns="0" rIns="0" bIns="0" rtlCol="0" anchor="ctr"/>
          <a:lstStyle/>
          <a:p>
            <a:pPr indent="0" marL="0">
              <a:buNone/>
            </a:pPr>
            <a:r>
              <a:rPr lang="en-US" sz="1400" dirty="0">
                <a:solidFill>
                  <a:schemeClr val="tx1"/>
                </a:solidFill>
              </a:rPr>
              <a:t>Needs a theoretical justification</a:t>
            </a:r>
            <a:endParaRPr lang="en-US" sz="1400" dirty="0"/>
          </a:p>
        </p:txBody>
      </p:sp>
      <p:sp>
        <p:nvSpPr>
          <p:cNvPr id="89" name="rating-dot"/>
          <p:cNvSpPr/>
          <p:nvPr/>
        </p:nvSpPr>
        <p:spPr>
          <a:xfrm>
            <a:off x="2971800" y="5879592"/>
            <a:ext cx="164592" cy="164592"/>
          </a:xfrm>
          <a:prstGeom prst="ellipse">
            <a:avLst/>
          </a:prstGeom>
          <a:solidFill>
            <a:schemeClr val="accent5"/>
          </a:solidFill>
          <a:ln w="12700">
            <a:solidFill>
              <a:schemeClr val="accent5"/>
            </a:solidFill>
            <a:prstDash val="solid"/>
          </a:ln>
        </p:spPr>
      </p:sp>
      <p:sp>
        <p:nvSpPr>
          <p:cNvPr id="90" name="rating-dot"/>
          <p:cNvSpPr/>
          <p:nvPr/>
        </p:nvSpPr>
        <p:spPr>
          <a:xfrm>
            <a:off x="3209544" y="5879592"/>
            <a:ext cx="164592" cy="164592"/>
          </a:xfrm>
          <a:prstGeom prst="ellipse">
            <a:avLst/>
          </a:prstGeom>
          <a:solidFill>
            <a:schemeClr val="accent5"/>
          </a:solidFill>
          <a:ln w="12700">
            <a:solidFill>
              <a:schemeClr val="accent5"/>
            </a:solidFill>
            <a:prstDash val="solid"/>
          </a:ln>
        </p:spPr>
      </p:sp>
      <p:sp>
        <p:nvSpPr>
          <p:cNvPr id="91" name="rating-dot"/>
          <p:cNvSpPr/>
          <p:nvPr/>
        </p:nvSpPr>
        <p:spPr>
          <a:xfrm>
            <a:off x="3447288" y="5879592"/>
            <a:ext cx="164592" cy="164592"/>
          </a:xfrm>
          <a:prstGeom prst="ellipse">
            <a:avLst/>
          </a:prstGeom>
          <a:solidFill>
            <a:schemeClr val="accent5"/>
          </a:solidFill>
          <a:ln w="12700">
            <a:solidFill>
              <a:schemeClr val="accent5"/>
            </a:solidFill>
            <a:prstDash val="solid"/>
          </a:ln>
        </p:spPr>
      </p:sp>
      <p:sp>
        <p:nvSpPr>
          <p:cNvPr id="92" name="legend-599"/>
          <p:cNvSpPr txBox="1"/>
          <p:nvPr/>
        </p:nvSpPr>
        <p:spPr>
          <a:xfrm>
            <a:off x="3749040" y="5806440"/>
            <a:ext cx="1371600" cy="310896"/>
          </a:xfrm>
          <a:prstGeom prst="rect">
            <a:avLst/>
          </a:prstGeom>
          <a:noFill/>
          <a:ln/>
        </p:spPr>
        <p:txBody>
          <a:bodyPr wrap="square" lIns="0" tIns="0" rIns="0" bIns="0" rtlCol="0" anchor="ctr"/>
          <a:lstStyle/>
          <a:p>
            <a:pPr indent="0" marL="0">
              <a:buNone/>
            </a:pPr>
            <a:r>
              <a:rPr lang="en-US" sz="1200" dirty="0">
                <a:solidFill>
                  <a:schemeClr val="tx2"/>
                </a:solidFill>
              </a:rPr>
              <a:t>strong</a:t>
            </a:r>
            <a:endParaRPr lang="en-US" sz="1200" dirty="0"/>
          </a:p>
        </p:txBody>
      </p:sp>
      <p:sp>
        <p:nvSpPr>
          <p:cNvPr id="93" name="rating-dot"/>
          <p:cNvSpPr/>
          <p:nvPr/>
        </p:nvSpPr>
        <p:spPr>
          <a:xfrm>
            <a:off x="5166360" y="5879592"/>
            <a:ext cx="164592" cy="164592"/>
          </a:xfrm>
          <a:prstGeom prst="ellipse">
            <a:avLst/>
          </a:prstGeom>
          <a:solidFill>
            <a:schemeClr val="accent1"/>
          </a:solidFill>
          <a:ln w="12700">
            <a:solidFill>
              <a:schemeClr val="accent1"/>
            </a:solidFill>
            <a:prstDash val="solid"/>
          </a:ln>
        </p:spPr>
      </p:sp>
      <p:sp>
        <p:nvSpPr>
          <p:cNvPr id="94" name="rating-dot"/>
          <p:cNvSpPr/>
          <p:nvPr/>
        </p:nvSpPr>
        <p:spPr>
          <a:xfrm>
            <a:off x="5404104" y="5879592"/>
            <a:ext cx="164592" cy="164592"/>
          </a:xfrm>
          <a:prstGeom prst="ellipse">
            <a:avLst/>
          </a:prstGeom>
          <a:solidFill>
            <a:schemeClr val="accent1"/>
          </a:solidFill>
          <a:ln w="12700">
            <a:solidFill>
              <a:schemeClr val="accent1"/>
            </a:solidFill>
            <a:prstDash val="solid"/>
          </a:ln>
        </p:spPr>
      </p:sp>
      <p:sp>
        <p:nvSpPr>
          <p:cNvPr id="95" name="rating-dot"/>
          <p:cNvSpPr/>
          <p:nvPr/>
        </p:nvSpPr>
        <p:spPr>
          <a:xfrm>
            <a:off x="5641848" y="5879592"/>
            <a:ext cx="164592" cy="164592"/>
          </a:xfrm>
          <a:prstGeom prst="ellipse">
            <a:avLst/>
          </a:prstGeom>
          <a:solidFill>
            <a:schemeClr val="bg1"/>
          </a:solidFill>
          <a:ln w="12700">
            <a:solidFill>
              <a:schemeClr val="accent6"/>
            </a:solidFill>
            <a:prstDash val="solid"/>
          </a:ln>
        </p:spPr>
      </p:sp>
      <p:sp>
        <p:nvSpPr>
          <p:cNvPr id="96" name="legend-600"/>
          <p:cNvSpPr txBox="1"/>
          <p:nvPr/>
        </p:nvSpPr>
        <p:spPr>
          <a:xfrm>
            <a:off x="5943600" y="5806440"/>
            <a:ext cx="1371600" cy="310896"/>
          </a:xfrm>
          <a:prstGeom prst="rect">
            <a:avLst/>
          </a:prstGeom>
          <a:noFill/>
          <a:ln/>
        </p:spPr>
        <p:txBody>
          <a:bodyPr wrap="square" lIns="0" tIns="0" rIns="0" bIns="0" rtlCol="0" anchor="ctr"/>
          <a:lstStyle/>
          <a:p>
            <a:pPr indent="0" marL="0">
              <a:buNone/>
            </a:pPr>
            <a:r>
              <a:rPr lang="en-US" sz="1200" dirty="0">
                <a:solidFill>
                  <a:schemeClr val="tx2"/>
                </a:solidFill>
              </a:rPr>
              <a:t>partial</a:t>
            </a:r>
            <a:endParaRPr lang="en-US" sz="1200" dirty="0"/>
          </a:p>
        </p:txBody>
      </p:sp>
      <p:sp>
        <p:nvSpPr>
          <p:cNvPr id="97" name="rating-dot"/>
          <p:cNvSpPr/>
          <p:nvPr/>
        </p:nvSpPr>
        <p:spPr>
          <a:xfrm>
            <a:off x="7360920" y="5879592"/>
            <a:ext cx="164592" cy="164592"/>
          </a:xfrm>
          <a:prstGeom prst="ellipse">
            <a:avLst/>
          </a:prstGeom>
          <a:solidFill>
            <a:schemeClr val="accent2"/>
          </a:solidFill>
          <a:ln w="12700">
            <a:solidFill>
              <a:schemeClr val="accent2"/>
            </a:solidFill>
            <a:prstDash val="solid"/>
          </a:ln>
        </p:spPr>
      </p:sp>
      <p:sp>
        <p:nvSpPr>
          <p:cNvPr id="98" name="rating-dot"/>
          <p:cNvSpPr/>
          <p:nvPr/>
        </p:nvSpPr>
        <p:spPr>
          <a:xfrm>
            <a:off x="7598664" y="5879592"/>
            <a:ext cx="164592" cy="164592"/>
          </a:xfrm>
          <a:prstGeom prst="ellipse">
            <a:avLst/>
          </a:prstGeom>
          <a:solidFill>
            <a:schemeClr val="bg1"/>
          </a:solidFill>
          <a:ln w="12700">
            <a:solidFill>
              <a:schemeClr val="accent6"/>
            </a:solidFill>
            <a:prstDash val="solid"/>
          </a:ln>
        </p:spPr>
      </p:sp>
      <p:sp>
        <p:nvSpPr>
          <p:cNvPr id="99" name="rating-dot"/>
          <p:cNvSpPr/>
          <p:nvPr/>
        </p:nvSpPr>
        <p:spPr>
          <a:xfrm>
            <a:off x="7836408" y="5879592"/>
            <a:ext cx="164592" cy="164592"/>
          </a:xfrm>
          <a:prstGeom prst="ellipse">
            <a:avLst/>
          </a:prstGeom>
          <a:solidFill>
            <a:schemeClr val="bg1"/>
          </a:solidFill>
          <a:ln w="12700">
            <a:solidFill>
              <a:schemeClr val="accent6"/>
            </a:solidFill>
            <a:prstDash val="solid"/>
          </a:ln>
        </p:spPr>
      </p:sp>
      <p:sp>
        <p:nvSpPr>
          <p:cNvPr id="100" name="legend-601"/>
          <p:cNvSpPr txBox="1"/>
          <p:nvPr/>
        </p:nvSpPr>
        <p:spPr>
          <a:xfrm>
            <a:off x="8138160" y="5806440"/>
            <a:ext cx="1371600" cy="310896"/>
          </a:xfrm>
          <a:prstGeom prst="rect">
            <a:avLst/>
          </a:prstGeom>
          <a:noFill/>
          <a:ln/>
        </p:spPr>
        <p:txBody>
          <a:bodyPr wrap="square" lIns="0" tIns="0" rIns="0" bIns="0" rtlCol="0" anchor="ctr"/>
          <a:lstStyle/>
          <a:p>
            <a:pPr indent="0" marL="0">
              <a:buNone/>
            </a:pPr>
            <a:r>
              <a:rPr lang="en-US" sz="1200" dirty="0">
                <a:solidFill>
                  <a:schemeClr val="tx2"/>
                </a:solidFill>
              </a:rPr>
              <a:t>use with caution</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5852160" cy="292608"/>
          </a:xfrm>
          <a:prstGeom prst="rect">
            <a:avLst/>
          </a:prstGeom>
          <a:noFill/>
          <a:ln/>
        </p:spPr>
        <p:txBody>
          <a:bodyPr wrap="square" lIns="0" tIns="0" rIns="0" bIns="0" rtlCol="0" anchor="b"/>
          <a:lstStyle/>
          <a:p>
            <a:pPr algn="l" indent="0" marL="0">
              <a:buNone/>
            </a:pPr>
            <a:r>
              <a:rPr lang="en-US" sz="1200" b="1" spc="200" kern="0" dirty="0">
                <a:solidFill>
                  <a:schemeClr val="accent1"/>
                </a:solidFill>
              </a:rPr>
              <a:t>SYNTHESIS</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200" b="1" dirty="0">
                <a:solidFill>
                  <a:schemeClr val="tx2"/>
                </a:solidFill>
                <a:latin typeface="Avenir" pitchFamily="34" charset="0"/>
                <a:ea typeface="Avenir" pitchFamily="34" charset="-122"/>
                <a:cs typeface="Avenir" pitchFamily="34" charset="-120"/>
              </a:rPr>
              <a:t>The lines between categories are blurry</a:t>
            </a:r>
            <a:endParaRPr lang="en-US" sz="3200" dirty="0"/>
          </a:p>
        </p:txBody>
      </p:sp>
      <p:sp>
        <p:nvSpPr>
          <p:cNvPr id="4" name="pill-602"/>
          <p:cNvSpPr/>
          <p:nvPr/>
        </p:nvSpPr>
        <p:spPr>
          <a:xfrm>
            <a:off x="6357823" y="274320"/>
            <a:ext cx="1280160" cy="274320"/>
          </a:xfrm>
          <a:prstGeom prst="roundRect">
            <a:avLst>
              <a:gd name="adj" fmla="val 50000"/>
            </a:avLst>
          </a:prstGeom>
          <a:solidFill>
            <a:schemeClr val="bg2"/>
          </a:solidFill>
          <a:ln/>
        </p:spPr>
      </p:sp>
      <p:sp>
        <p:nvSpPr>
          <p:cNvPr id="5" name="pill-text-603"/>
          <p:cNvSpPr txBox="1"/>
          <p:nvPr/>
        </p:nvSpPr>
        <p:spPr>
          <a:xfrm>
            <a:off x="6357823"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By design</a:t>
            </a:r>
            <a:endParaRPr lang="en-US" sz="1000" dirty="0"/>
          </a:p>
        </p:txBody>
      </p:sp>
      <p:sp>
        <p:nvSpPr>
          <p:cNvPr id="6" name="pill-604"/>
          <p:cNvSpPr/>
          <p:nvPr/>
        </p:nvSpPr>
        <p:spPr>
          <a:xfrm>
            <a:off x="7692847" y="274320"/>
            <a:ext cx="1280160" cy="274320"/>
          </a:xfrm>
          <a:prstGeom prst="roundRect">
            <a:avLst>
              <a:gd name="adj" fmla="val 50000"/>
            </a:avLst>
          </a:prstGeom>
          <a:solidFill>
            <a:schemeClr val="bg2"/>
          </a:solidFill>
          <a:ln/>
        </p:spPr>
      </p:sp>
      <p:sp>
        <p:nvSpPr>
          <p:cNvPr id="7" name="pill-text-605"/>
          <p:cNvSpPr txBox="1"/>
          <p:nvPr/>
        </p:nvSpPr>
        <p:spPr>
          <a:xfrm>
            <a:off x="7692847"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Model-agnostic</a:t>
            </a:r>
            <a:endParaRPr lang="en-US" sz="1000" dirty="0"/>
          </a:p>
        </p:txBody>
      </p:sp>
      <p:sp>
        <p:nvSpPr>
          <p:cNvPr id="8" name="pill-606"/>
          <p:cNvSpPr/>
          <p:nvPr/>
        </p:nvSpPr>
        <p:spPr>
          <a:xfrm>
            <a:off x="9027871" y="274320"/>
            <a:ext cx="1280160" cy="274320"/>
          </a:xfrm>
          <a:prstGeom prst="roundRect">
            <a:avLst>
              <a:gd name="adj" fmla="val 50000"/>
            </a:avLst>
          </a:prstGeom>
          <a:solidFill>
            <a:schemeClr val="bg2"/>
          </a:solidFill>
          <a:ln/>
        </p:spPr>
      </p:sp>
      <p:sp>
        <p:nvSpPr>
          <p:cNvPr id="9" name="pill-text-607"/>
          <p:cNvSpPr txBox="1"/>
          <p:nvPr/>
        </p:nvSpPr>
        <p:spPr>
          <a:xfrm>
            <a:off x="9027871" y="274320"/>
            <a:ext cx="1280160" cy="274320"/>
          </a:xfrm>
          <a:prstGeom prst="rect">
            <a:avLst/>
          </a:prstGeom>
          <a:noFill/>
          <a:ln/>
        </p:spPr>
        <p:txBody>
          <a:bodyPr wrap="square" lIns="0" tIns="0" rIns="0" bIns="0" rtlCol="0" anchor="ctr"/>
          <a:lstStyle/>
          <a:p>
            <a:pPr algn="ctr" indent="0" marL="0">
              <a:buNone/>
            </a:pPr>
            <a:r>
              <a:rPr lang="en-US" sz="1000" b="1" dirty="0">
                <a:solidFill>
                  <a:schemeClr val="tx2"/>
                </a:solidFill>
              </a:rPr>
              <a:t>Model-specific</a:t>
            </a:r>
            <a:endParaRPr lang="en-US" sz="1000" dirty="0"/>
          </a:p>
        </p:txBody>
      </p:sp>
      <p:sp>
        <p:nvSpPr>
          <p:cNvPr id="10" name="pill-608"/>
          <p:cNvSpPr/>
          <p:nvPr/>
        </p:nvSpPr>
        <p:spPr>
          <a:xfrm>
            <a:off x="10362895" y="274320"/>
            <a:ext cx="1280160" cy="274320"/>
          </a:xfrm>
          <a:prstGeom prst="roundRect">
            <a:avLst>
              <a:gd name="adj" fmla="val 50000"/>
            </a:avLst>
          </a:prstGeom>
          <a:solidFill>
            <a:schemeClr val="accent1"/>
          </a:solidFill>
          <a:ln/>
        </p:spPr>
      </p:sp>
      <p:sp>
        <p:nvSpPr>
          <p:cNvPr id="11" name="pill-text-609"/>
          <p:cNvSpPr txBox="1"/>
          <p:nvPr/>
        </p:nvSpPr>
        <p:spPr>
          <a:xfrm>
            <a:off x="10362895" y="274320"/>
            <a:ext cx="1280160" cy="274320"/>
          </a:xfrm>
          <a:prstGeom prst="rect">
            <a:avLst/>
          </a:prstGeom>
          <a:noFill/>
          <a:ln/>
        </p:spPr>
        <p:txBody>
          <a:bodyPr wrap="square" lIns="0" tIns="0" rIns="0" bIns="0" rtlCol="0" anchor="ctr"/>
          <a:lstStyle/>
          <a:p>
            <a:pPr algn="ctr" indent="0" marL="0">
              <a:buNone/>
            </a:pPr>
            <a:r>
              <a:rPr lang="en-US" sz="1000" b="1" dirty="0">
                <a:solidFill>
                  <a:schemeClr val="bg1"/>
                </a:solidFill>
              </a:rPr>
              <a:t>Synthesis</a:t>
            </a:r>
            <a:endParaRPr lang="en-US" sz="1000" dirty="0"/>
          </a:p>
        </p:txBody>
      </p:sp>
      <p:sp>
        <p:nvSpPr>
          <p:cNvPr id="12" name="ex-card-610"/>
          <p:cNvSpPr/>
          <p:nvPr/>
        </p:nvSpPr>
        <p:spPr>
          <a:xfrm>
            <a:off x="548640" y="1554480"/>
            <a:ext cx="3515258" cy="3063240"/>
          </a:xfrm>
          <a:prstGeom prst="roundRect">
            <a:avLst>
              <a:gd name="adj" fmla="val 2985"/>
            </a:avLst>
          </a:prstGeom>
          <a:solidFill>
            <a:schemeClr val="bg1"/>
          </a:solidFill>
          <a:ln w="15875">
            <a:solidFill>
              <a:schemeClr val="bg2"/>
            </a:solidFill>
            <a:prstDash val="solid"/>
          </a:ln>
          <a:effectLst>
            <a:outerShdw sx="100000" sy="100000" kx="0" ky="0" algn="bl" rotWithShape="0" blurRad="101600" dist="25400" dir="5400000">
              <a:srgbClr val="1C2B36">
                <a:alpha val="12000"/>
              </a:srgbClr>
            </a:outerShdw>
          </a:effectLst>
        </p:spPr>
      </p:sp>
      <p:sp>
        <p:nvSpPr>
          <p:cNvPr id="13" name="icon-bg-611"/>
          <p:cNvSpPr/>
          <p:nvPr/>
        </p:nvSpPr>
        <p:spPr>
          <a:xfrm>
            <a:off x="822960" y="1783080"/>
            <a:ext cx="685800" cy="685800"/>
          </a:xfrm>
          <a:prstGeom prst="ellipse">
            <a:avLst/>
          </a:prstGeom>
          <a:solidFill>
            <a:schemeClr val="bg2"/>
          </a:solidFill>
          <a:ln/>
        </p:spPr>
      </p:sp>
      <p:pic>
        <p:nvPicPr>
          <p:cNvPr id="14" name="icon-612" descr="LuPercent">    </p:cNvPr>
          <p:cNvPicPr>
            <a:picLocks noChangeAspect="1"/>
          </p:cNvPicPr>
          <p:nvPr/>
        </p:nvPicPr>
        <p:blipFill>
          <a:blip r:embed="rId1"/>
          <a:stretch>
            <a:fillRect/>
          </a:stretch>
        </p:blipFill>
        <p:spPr>
          <a:xfrm>
            <a:off x="1001268" y="1961388"/>
            <a:ext cx="329184" cy="329184"/>
          </a:xfrm>
          <a:prstGeom prst="rect">
            <a:avLst/>
          </a:prstGeom>
        </p:spPr>
      </p:pic>
      <p:sp>
        <p:nvSpPr>
          <p:cNvPr id="15" name="pill-613"/>
          <p:cNvSpPr/>
          <p:nvPr/>
        </p:nvSpPr>
        <p:spPr>
          <a:xfrm>
            <a:off x="3378098" y="1892808"/>
            <a:ext cx="457200" cy="457200"/>
          </a:xfrm>
          <a:prstGeom prst="roundRect">
            <a:avLst>
              <a:gd name="adj" fmla="val 50000"/>
            </a:avLst>
          </a:prstGeom>
          <a:solidFill>
            <a:schemeClr val="accent2"/>
          </a:solidFill>
          <a:ln/>
        </p:spPr>
      </p:sp>
      <p:sp>
        <p:nvSpPr>
          <p:cNvPr id="16" name="pill-text-614"/>
          <p:cNvSpPr txBox="1"/>
          <p:nvPr/>
        </p:nvSpPr>
        <p:spPr>
          <a:xfrm>
            <a:off x="3378098" y="18928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7" name="ex-title-615"/>
          <p:cNvSpPr txBox="1"/>
          <p:nvPr/>
        </p:nvSpPr>
        <p:spPr>
          <a:xfrm>
            <a:off x="822960" y="2606040"/>
            <a:ext cx="2966618" cy="731520"/>
          </a:xfrm>
          <a:prstGeom prst="rect">
            <a:avLst/>
          </a:prstGeom>
          <a:noFill/>
          <a:ln/>
        </p:spPr>
        <p:txBody>
          <a:bodyPr wrap="square" lIns="0" tIns="0" rIns="0" bIns="0" rtlCol="0" anchor="t"/>
          <a:lstStyle/>
          <a:p>
            <a:pPr indent="0" marL="0">
              <a:buNone/>
            </a:pPr>
            <a:r>
              <a:rPr lang="en-US" sz="1800" b="1" dirty="0">
                <a:solidFill>
                  <a:schemeClr val="tx2"/>
                </a:solidFill>
                <a:latin typeface="Avenir" pitchFamily="34" charset="0"/>
                <a:ea typeface="Avenir" pitchFamily="34" charset="-122"/>
                <a:cs typeface="Avenir" pitchFamily="34" charset="-120"/>
              </a:rPr>
              <a:t>Is logistic regression interpretable by design?</a:t>
            </a:r>
            <a:endParaRPr lang="en-US" sz="1800" dirty="0"/>
          </a:p>
        </p:txBody>
      </p:sp>
      <p:sp>
        <p:nvSpPr>
          <p:cNvPr id="18" name="ex-desc-616"/>
          <p:cNvSpPr txBox="1"/>
          <p:nvPr/>
        </p:nvSpPr>
        <p:spPr>
          <a:xfrm>
            <a:off x="822960" y="3383280"/>
            <a:ext cx="2966618" cy="1143000"/>
          </a:xfrm>
          <a:prstGeom prst="rect">
            <a:avLst/>
          </a:prstGeom>
          <a:noFill/>
          <a:ln/>
        </p:spPr>
        <p:txBody>
          <a:bodyPr wrap="square" lIns="0" tIns="0" rIns="0" bIns="0" rtlCol="0" anchor="t"/>
          <a:lstStyle/>
          <a:p>
            <a:pPr indent="0" marL="0">
              <a:buNone/>
            </a:pPr>
            <a:r>
              <a:rPr lang="en-US" sz="1500" dirty="0">
                <a:solidFill>
                  <a:schemeClr val="tx1"/>
                </a:solidFill>
              </a:rPr>
              <a:t>Odds ratios need post-processed coefficients; marginal effects are arguably post-hoc.</a:t>
            </a:r>
            <a:endParaRPr lang="en-US" sz="1500" dirty="0"/>
          </a:p>
        </p:txBody>
      </p:sp>
      <p:sp>
        <p:nvSpPr>
          <p:cNvPr id="19" name="ex-card-617"/>
          <p:cNvSpPr/>
          <p:nvPr/>
        </p:nvSpPr>
        <p:spPr>
          <a:xfrm>
            <a:off x="4338218" y="1554480"/>
            <a:ext cx="3515258" cy="3063240"/>
          </a:xfrm>
          <a:prstGeom prst="roundRect">
            <a:avLst>
              <a:gd name="adj" fmla="val 2985"/>
            </a:avLst>
          </a:prstGeom>
          <a:solidFill>
            <a:schemeClr val="bg1"/>
          </a:solidFill>
          <a:ln w="15875">
            <a:solidFill>
              <a:schemeClr val="bg2"/>
            </a:solidFill>
            <a:prstDash val="solid"/>
          </a:ln>
          <a:effectLst>
            <a:outerShdw sx="100000" sy="100000" kx="0" ky="0" algn="bl" rotWithShape="0" blurRad="101600" dist="25400" dir="5400000">
              <a:srgbClr val="1C2B36">
                <a:alpha val="12000"/>
              </a:srgbClr>
            </a:outerShdw>
          </a:effectLst>
        </p:spPr>
      </p:sp>
      <p:sp>
        <p:nvSpPr>
          <p:cNvPr id="20" name="icon-bg-618"/>
          <p:cNvSpPr/>
          <p:nvPr/>
        </p:nvSpPr>
        <p:spPr>
          <a:xfrm>
            <a:off x="4612538" y="1783080"/>
            <a:ext cx="685800" cy="685800"/>
          </a:xfrm>
          <a:prstGeom prst="ellipse">
            <a:avLst/>
          </a:prstGeom>
          <a:solidFill>
            <a:schemeClr val="bg2"/>
          </a:solidFill>
          <a:ln/>
        </p:spPr>
      </p:sp>
      <p:pic>
        <p:nvPicPr>
          <p:cNvPr id="21" name="icon-619" descr="LuTrees">    </p:cNvPr>
          <p:cNvPicPr>
            <a:picLocks noChangeAspect="1"/>
          </p:cNvPicPr>
          <p:nvPr/>
        </p:nvPicPr>
        <p:blipFill>
          <a:blip r:embed="rId2"/>
          <a:stretch>
            <a:fillRect/>
          </a:stretch>
        </p:blipFill>
        <p:spPr>
          <a:xfrm>
            <a:off x="4790846" y="1961388"/>
            <a:ext cx="329184" cy="329184"/>
          </a:xfrm>
          <a:prstGeom prst="rect">
            <a:avLst/>
          </a:prstGeom>
        </p:spPr>
      </p:pic>
      <p:sp>
        <p:nvSpPr>
          <p:cNvPr id="22" name="pill-620"/>
          <p:cNvSpPr/>
          <p:nvPr/>
        </p:nvSpPr>
        <p:spPr>
          <a:xfrm>
            <a:off x="7167677" y="1892808"/>
            <a:ext cx="457200" cy="457200"/>
          </a:xfrm>
          <a:prstGeom prst="roundRect">
            <a:avLst>
              <a:gd name="adj" fmla="val 50000"/>
            </a:avLst>
          </a:prstGeom>
          <a:solidFill>
            <a:schemeClr val="accent2"/>
          </a:solidFill>
          <a:ln/>
        </p:spPr>
      </p:sp>
      <p:sp>
        <p:nvSpPr>
          <p:cNvPr id="23" name="pill-text-621"/>
          <p:cNvSpPr txBox="1"/>
          <p:nvPr/>
        </p:nvSpPr>
        <p:spPr>
          <a:xfrm>
            <a:off x="7167677" y="18928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4" name="ex-title-622"/>
          <p:cNvSpPr txBox="1"/>
          <p:nvPr/>
        </p:nvSpPr>
        <p:spPr>
          <a:xfrm>
            <a:off x="4612538" y="2606040"/>
            <a:ext cx="2966618" cy="731520"/>
          </a:xfrm>
          <a:prstGeom prst="rect">
            <a:avLst/>
          </a:prstGeom>
          <a:noFill/>
          <a:ln/>
        </p:spPr>
        <p:txBody>
          <a:bodyPr wrap="square" lIns="0" tIns="0" rIns="0" bIns="0" rtlCol="0" anchor="t"/>
          <a:lstStyle/>
          <a:p>
            <a:pPr indent="0" marL="0">
              <a:buNone/>
            </a:pPr>
            <a:r>
              <a:rPr lang="en-US" sz="1800" b="1" dirty="0">
                <a:solidFill>
                  <a:schemeClr val="tx2"/>
                </a:solidFill>
                <a:latin typeface="Avenir" pitchFamily="34" charset="0"/>
                <a:ea typeface="Avenir" pitchFamily="34" charset="-122"/>
                <a:cs typeface="Avenir" pitchFamily="34" charset="-120"/>
              </a:rPr>
              <a:t>Are boosted trees a black box?</a:t>
            </a:r>
            <a:endParaRPr lang="en-US" sz="1800" dirty="0"/>
          </a:p>
        </p:txBody>
      </p:sp>
      <p:sp>
        <p:nvSpPr>
          <p:cNvPr id="25" name="ex-desc-623"/>
          <p:cNvSpPr txBox="1"/>
          <p:nvPr/>
        </p:nvSpPr>
        <p:spPr>
          <a:xfrm>
            <a:off x="4612538" y="3383280"/>
            <a:ext cx="2966618" cy="1143000"/>
          </a:xfrm>
          <a:prstGeom prst="rect">
            <a:avLst/>
          </a:prstGeom>
          <a:noFill/>
          <a:ln/>
        </p:spPr>
        <p:txBody>
          <a:bodyPr wrap="square" lIns="0" tIns="0" rIns="0" bIns="0" rtlCol="0" anchor="t"/>
          <a:lstStyle/>
          <a:p>
            <a:pPr indent="0" marL="0">
              <a:buNone/>
            </a:pPr>
            <a:r>
              <a:rPr lang="en-US" sz="1500" dirty="0">
                <a:solidFill>
                  <a:schemeClr val="tx1"/>
                </a:solidFill>
              </a:rPr>
              <a:t>With max depth 1, boosted tree stumps look like a generalized additive model.</a:t>
            </a:r>
            <a:endParaRPr lang="en-US" sz="1500" dirty="0"/>
          </a:p>
        </p:txBody>
      </p:sp>
      <p:sp>
        <p:nvSpPr>
          <p:cNvPr id="26" name="ex-card-624"/>
          <p:cNvSpPr/>
          <p:nvPr/>
        </p:nvSpPr>
        <p:spPr>
          <a:xfrm>
            <a:off x="8127797" y="1554480"/>
            <a:ext cx="3515258" cy="3063240"/>
          </a:xfrm>
          <a:prstGeom prst="roundRect">
            <a:avLst>
              <a:gd name="adj" fmla="val 2985"/>
            </a:avLst>
          </a:prstGeom>
          <a:solidFill>
            <a:schemeClr val="bg1"/>
          </a:solidFill>
          <a:ln w="15875">
            <a:solidFill>
              <a:schemeClr val="bg2"/>
            </a:solidFill>
            <a:prstDash val="solid"/>
          </a:ln>
          <a:effectLst>
            <a:outerShdw sx="100000" sy="100000" kx="0" ky="0" algn="bl" rotWithShape="0" blurRad="101600" dist="25400" dir="5400000">
              <a:srgbClr val="1C2B36">
                <a:alpha val="12000"/>
              </a:srgbClr>
            </a:outerShdw>
          </a:effectLst>
        </p:spPr>
      </p:sp>
      <p:sp>
        <p:nvSpPr>
          <p:cNvPr id="27" name="icon-bg-625"/>
          <p:cNvSpPr/>
          <p:nvPr/>
        </p:nvSpPr>
        <p:spPr>
          <a:xfrm>
            <a:off x="8402117" y="1783080"/>
            <a:ext cx="685800" cy="685800"/>
          </a:xfrm>
          <a:prstGeom prst="ellipse">
            <a:avLst/>
          </a:prstGeom>
          <a:solidFill>
            <a:schemeClr val="bg2"/>
          </a:solidFill>
          <a:ln/>
        </p:spPr>
      </p:sp>
      <p:pic>
        <p:nvPicPr>
          <p:cNvPr id="28" name="icon-626" descr="LuSquareFunction">    </p:cNvPr>
          <p:cNvPicPr>
            <a:picLocks noChangeAspect="1"/>
          </p:cNvPicPr>
          <p:nvPr/>
        </p:nvPicPr>
        <p:blipFill>
          <a:blip r:embed="rId3"/>
          <a:stretch>
            <a:fillRect/>
          </a:stretch>
        </p:blipFill>
        <p:spPr>
          <a:xfrm>
            <a:off x="8580425" y="1961388"/>
            <a:ext cx="329184" cy="329184"/>
          </a:xfrm>
          <a:prstGeom prst="rect">
            <a:avLst/>
          </a:prstGeom>
        </p:spPr>
      </p:pic>
      <p:sp>
        <p:nvSpPr>
          <p:cNvPr id="29" name="pill-627"/>
          <p:cNvSpPr/>
          <p:nvPr/>
        </p:nvSpPr>
        <p:spPr>
          <a:xfrm>
            <a:off x="10957255" y="1892808"/>
            <a:ext cx="457200" cy="457200"/>
          </a:xfrm>
          <a:prstGeom prst="roundRect">
            <a:avLst>
              <a:gd name="adj" fmla="val 50000"/>
            </a:avLst>
          </a:prstGeom>
          <a:solidFill>
            <a:schemeClr val="accent2"/>
          </a:solidFill>
          <a:ln/>
        </p:spPr>
      </p:sp>
      <p:sp>
        <p:nvSpPr>
          <p:cNvPr id="30" name="pill-text-628"/>
          <p:cNvSpPr txBox="1"/>
          <p:nvPr/>
        </p:nvSpPr>
        <p:spPr>
          <a:xfrm>
            <a:off x="10957255" y="18928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31" name="ex-title-629"/>
          <p:cNvSpPr txBox="1"/>
          <p:nvPr/>
        </p:nvSpPr>
        <p:spPr>
          <a:xfrm>
            <a:off x="8402117" y="2606040"/>
            <a:ext cx="2966618" cy="731520"/>
          </a:xfrm>
          <a:prstGeom prst="rect">
            <a:avLst/>
          </a:prstGeom>
          <a:noFill/>
          <a:ln/>
        </p:spPr>
        <p:txBody>
          <a:bodyPr wrap="square" lIns="0" tIns="0" rIns="0" bIns="0" rtlCol="0" anchor="t"/>
          <a:lstStyle/>
          <a:p>
            <a:pPr indent="0" marL="0">
              <a:buNone/>
            </a:pPr>
            <a:r>
              <a:rPr lang="en-US" sz="1800" b="1" dirty="0">
                <a:solidFill>
                  <a:schemeClr val="tx2"/>
                </a:solidFill>
                <a:latin typeface="Avenir" pitchFamily="34" charset="0"/>
                <a:ea typeface="Avenir" pitchFamily="34" charset="-122"/>
                <a:cs typeface="Avenir" pitchFamily="34" charset="-120"/>
              </a:rPr>
              <a:t>Are Shapley values model-agnostic?</a:t>
            </a:r>
            <a:endParaRPr lang="en-US" sz="1800" dirty="0"/>
          </a:p>
        </p:txBody>
      </p:sp>
      <p:sp>
        <p:nvSpPr>
          <p:cNvPr id="32" name="ex-desc-630"/>
          <p:cNvSpPr txBox="1"/>
          <p:nvPr/>
        </p:nvSpPr>
        <p:spPr>
          <a:xfrm>
            <a:off x="8402117" y="3383280"/>
            <a:ext cx="2966618" cy="1143000"/>
          </a:xfrm>
          <a:prstGeom prst="rect">
            <a:avLst/>
          </a:prstGeom>
          <a:noFill/>
          <a:ln/>
        </p:spPr>
        <p:txBody>
          <a:bodyPr wrap="square" lIns="0" tIns="0" rIns="0" bIns="0" rtlCol="0" anchor="t"/>
          <a:lstStyle/>
          <a:p>
            <a:pPr indent="0" marL="0">
              <a:buNone/>
            </a:pPr>
            <a:r>
              <a:rPr lang="en-US" sz="1500" dirty="0">
                <a:solidFill>
                  <a:schemeClr val="tx1"/>
                </a:solidFill>
              </a:rPr>
              <a:t>In linear regression, coefficient × value minus the average effect is exactly the Shapley value.</a:t>
            </a:r>
            <a:endParaRPr lang="en-US" sz="1500" dirty="0"/>
          </a:p>
        </p:txBody>
      </p:sp>
      <p:sp>
        <p:nvSpPr>
          <p:cNvPr id="33" name="spec-left-631"/>
          <p:cNvSpPr txBox="1"/>
          <p:nvPr/>
        </p:nvSpPr>
        <p:spPr>
          <a:xfrm>
            <a:off x="548640" y="5257800"/>
            <a:ext cx="2011680" cy="365760"/>
          </a:xfrm>
          <a:prstGeom prst="rect">
            <a:avLst/>
          </a:prstGeom>
          <a:noFill/>
          <a:ln/>
        </p:spPr>
        <p:txBody>
          <a:bodyPr wrap="square" lIns="0" tIns="0" rIns="0" bIns="0" rtlCol="0" anchor="ctr"/>
          <a:lstStyle/>
          <a:p>
            <a:pPr algn="r" indent="0" marL="0">
              <a:buNone/>
            </a:pPr>
            <a:r>
              <a:rPr lang="en-US" sz="1500" b="1" dirty="0">
                <a:solidFill>
                  <a:schemeClr val="accent1"/>
                </a:solidFill>
              </a:rPr>
              <a:t>By design</a:t>
            </a:r>
            <a:endParaRPr lang="en-US" sz="1500" dirty="0"/>
          </a:p>
        </p:txBody>
      </p:sp>
      <p:sp>
        <p:nvSpPr>
          <p:cNvPr id="34" name="spec-right-632"/>
          <p:cNvSpPr txBox="1"/>
          <p:nvPr/>
        </p:nvSpPr>
        <p:spPr>
          <a:xfrm>
            <a:off x="9722815" y="5257800"/>
            <a:ext cx="2011680" cy="365760"/>
          </a:xfrm>
          <a:prstGeom prst="rect">
            <a:avLst/>
          </a:prstGeom>
          <a:noFill/>
          <a:ln/>
        </p:spPr>
        <p:txBody>
          <a:bodyPr wrap="square" lIns="0" tIns="0" rIns="0" bIns="0" rtlCol="0" anchor="ctr"/>
          <a:lstStyle/>
          <a:p>
            <a:pPr indent="0" marL="0">
              <a:buNone/>
            </a:pPr>
            <a:r>
              <a:rPr lang="en-US" sz="1500" b="1" dirty="0">
                <a:solidFill>
                  <a:schemeClr val="accent1"/>
                </a:solidFill>
              </a:rPr>
              <a:t>Post-hoc</a:t>
            </a:r>
            <a:endParaRPr lang="en-US" sz="1500" dirty="0"/>
          </a:p>
        </p:txBody>
      </p:sp>
      <p:sp>
        <p:nvSpPr>
          <p:cNvPr id="35" name="spec-bar"/>
          <p:cNvSpPr/>
          <p:nvPr/>
        </p:nvSpPr>
        <p:spPr>
          <a:xfrm>
            <a:off x="2651760" y="5394960"/>
            <a:ext cx="6888175" cy="91440"/>
          </a:xfrm>
          <a:prstGeom prst="roundRect">
            <a:avLst>
              <a:gd name="adj" fmla="val 50000"/>
            </a:avLst>
          </a:prstGeom>
          <a:solidFill>
            <a:schemeClr val="accent6"/>
          </a:solidFill>
          <a:ln/>
        </p:spPr>
      </p:sp>
      <p:sp>
        <p:nvSpPr>
          <p:cNvPr id="36" name="pill-633"/>
          <p:cNvSpPr/>
          <p:nvPr/>
        </p:nvSpPr>
        <p:spPr>
          <a:xfrm>
            <a:off x="5068099" y="5239512"/>
            <a:ext cx="402336" cy="402336"/>
          </a:xfrm>
          <a:prstGeom prst="roundRect">
            <a:avLst>
              <a:gd name="adj" fmla="val 50000"/>
            </a:avLst>
          </a:prstGeom>
          <a:solidFill>
            <a:schemeClr val="accent2"/>
          </a:solidFill>
          <a:ln/>
        </p:spPr>
      </p:sp>
      <p:sp>
        <p:nvSpPr>
          <p:cNvPr id="37" name="pill-text-634"/>
          <p:cNvSpPr txBox="1"/>
          <p:nvPr/>
        </p:nvSpPr>
        <p:spPr>
          <a:xfrm>
            <a:off x="5068099" y="5239512"/>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38" name="pill-635"/>
          <p:cNvSpPr/>
          <p:nvPr/>
        </p:nvSpPr>
        <p:spPr>
          <a:xfrm>
            <a:off x="5894680" y="5239512"/>
            <a:ext cx="402336" cy="402336"/>
          </a:xfrm>
          <a:prstGeom prst="roundRect">
            <a:avLst>
              <a:gd name="adj" fmla="val 50000"/>
            </a:avLst>
          </a:prstGeom>
          <a:solidFill>
            <a:schemeClr val="accent2"/>
          </a:solidFill>
          <a:ln/>
        </p:spPr>
      </p:sp>
      <p:sp>
        <p:nvSpPr>
          <p:cNvPr id="39" name="pill-text-636"/>
          <p:cNvSpPr txBox="1"/>
          <p:nvPr/>
        </p:nvSpPr>
        <p:spPr>
          <a:xfrm>
            <a:off x="5894680" y="5239512"/>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40" name="pill-637"/>
          <p:cNvSpPr/>
          <p:nvPr/>
        </p:nvSpPr>
        <p:spPr>
          <a:xfrm>
            <a:off x="6721261" y="5239512"/>
            <a:ext cx="402336" cy="402336"/>
          </a:xfrm>
          <a:prstGeom prst="roundRect">
            <a:avLst>
              <a:gd name="adj" fmla="val 50000"/>
            </a:avLst>
          </a:prstGeom>
          <a:solidFill>
            <a:schemeClr val="accent2"/>
          </a:solidFill>
          <a:ln/>
        </p:spPr>
      </p:sp>
      <p:sp>
        <p:nvSpPr>
          <p:cNvPr id="41" name="pill-text-638"/>
          <p:cNvSpPr txBox="1"/>
          <p:nvPr/>
        </p:nvSpPr>
        <p:spPr>
          <a:xfrm>
            <a:off x="6721261" y="5239512"/>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731520" y="914400"/>
            <a:ext cx="6583680" cy="411480"/>
          </a:xfrm>
          <a:prstGeom prst="rect">
            <a:avLst/>
          </a:prstGeom>
          <a:noFill/>
          <a:ln/>
        </p:spPr>
        <p:txBody>
          <a:bodyPr wrap="square" lIns="0" tIns="0" rIns="0" bIns="0" rtlCol="0" anchor="b"/>
          <a:lstStyle/>
          <a:p>
            <a:pPr algn="l" indent="0" marL="0">
              <a:buNone/>
            </a:pPr>
            <a:r>
              <a:rPr lang="en-US" sz="1400" b="1" spc="200" kern="0" dirty="0">
                <a:solidFill>
                  <a:schemeClr val="accent2"/>
                </a:solidFill>
              </a:rPr>
              <a:t>KEY MESSAGE</a:t>
            </a:r>
            <a:endParaRPr lang="en-US" sz="1400" dirty="0"/>
          </a:p>
        </p:txBody>
      </p:sp>
      <p:sp>
        <p:nvSpPr>
          <p:cNvPr id="3" name="Text 0"/>
          <p:cNvSpPr/>
          <p:nvPr>
            <p:ph idx="101" type="title" hasCustomPrompt="1"/>
          </p:nvPr>
        </p:nvSpPr>
        <p:spPr>
          <a:xfrm>
            <a:off x="731520" y="1417320"/>
            <a:ext cx="6583680" cy="1828800"/>
          </a:xfrm>
          <a:prstGeom prst="rect">
            <a:avLst/>
          </a:prstGeom>
          <a:noFill/>
          <a:ln/>
        </p:spPr>
        <p:txBody>
          <a:bodyPr wrap="square" lIns="0" tIns="0" rIns="0" bIns="0" rtlCol="0" anchor="t"/>
          <a:lstStyle/>
          <a:p>
            <a:pPr algn="l" indent="0" marL="0">
              <a:buNone/>
            </a:pPr>
            <a:r>
              <a:rPr lang="en-US" sz="4000" b="1" dirty="0">
                <a:solidFill>
                  <a:schemeClr val="bg1"/>
                </a:solidFill>
                <a:latin typeface="Avenir" pitchFamily="34" charset="0"/>
                <a:ea typeface="Avenir" pitchFamily="34" charset="-122"/>
                <a:cs typeface="Avenir" pitchFamily="34" charset="-120"/>
              </a:rPr>
              <a:t>Interpretability is a fuzzy concept</a:t>
            </a:r>
            <a:endParaRPr lang="en-US" sz="4000" dirty="0"/>
          </a:p>
        </p:txBody>
      </p:sp>
      <p:sp>
        <p:nvSpPr>
          <p:cNvPr id="4" name="Text 0"/>
          <p:cNvSpPr/>
          <p:nvPr>
            <p:ph idx="102" type="body" hasCustomPrompt="1"/>
          </p:nvPr>
        </p:nvSpPr>
        <p:spPr>
          <a:xfrm>
            <a:off x="731520" y="3017520"/>
            <a:ext cx="6400800" cy="1371600"/>
          </a:xfrm>
          <a:prstGeom prst="rect">
            <a:avLst/>
          </a:prstGeom>
          <a:noFill/>
          <a:ln/>
        </p:spPr>
        <p:txBody>
          <a:bodyPr wrap="square" lIns="0" tIns="0" rIns="0" bIns="0" rtlCol="0" anchor="t"/>
          <a:lstStyle/>
          <a:p>
            <a:pPr algn="l" indent="0" marL="0">
              <a:buNone/>
            </a:pPr>
            <a:r>
              <a:rPr lang="en-US" sz="2000" dirty="0">
                <a:solidFill>
                  <a:schemeClr val="bg2"/>
                </a:solidFill>
              </a:rPr>
              <a:t>Embrace the fuzziness, don't get too attached to one approach, and mix approaches as you need.</a:t>
            </a:r>
            <a:endParaRPr lang="en-US" sz="2000" dirty="0"/>
          </a:p>
        </p:txBody>
      </p:sp>
      <p:sp>
        <p:nvSpPr>
          <p:cNvPr id="5" name="Text 0"/>
          <p:cNvSpPr/>
          <p:nvPr>
            <p:ph idx="103" type="body" hasCustomPrompt="1"/>
          </p:nvPr>
        </p:nvSpPr>
        <p:spPr>
          <a:xfrm>
            <a:off x="731520" y="5074920"/>
            <a:ext cx="6400800" cy="914400"/>
          </a:xfrm>
          <a:prstGeom prst="rect">
            <a:avLst/>
          </a:prstGeom>
          <a:noFill/>
          <a:ln/>
        </p:spPr>
        <p:txBody>
          <a:bodyPr wrap="square" lIns="0" tIns="0" rIns="0" bIns="0" rtlCol="0" anchor="t"/>
          <a:lstStyle/>
          <a:p>
            <a:pPr algn="l" indent="0" marL="0">
              <a:buNone/>
            </a:pPr>
            <a:r>
              <a:rPr lang="en-US" sz="1400" b="1" dirty="0">
                <a:solidFill>
                  <a:schemeClr val="bg2"/>
                </a:solidFill>
              </a:rPr>
              <a:t>Thank you · Questions?</a:t>
            </a:r>
            <a:endParaRPr lang="en-US" sz="1400" dirty="0"/>
          </a:p>
          <a:p>
            <a:pPr algn="l" indent="0" marL="0">
              <a:buNone/>
            </a:pPr>
            <a:r>
              <a:rPr lang="en-US" sz="1400" dirty="0">
                <a:solidFill>
                  <a:schemeClr val="bg2"/>
                </a:solidFill>
              </a:rPr>
              <a:t>Molnar, C. (2025). “Methods Overview.” Interpretable Machine Learning, 3rd ed.</a:t>
            </a:r>
            <a:endParaRPr lang="en-US" sz="1400" dirty="0"/>
          </a:p>
        </p:txBody>
      </p:sp>
      <p:sp>
        <p:nvSpPr>
          <p:cNvPr id="6" name="takeaway-639"/>
          <p:cNvSpPr/>
          <p:nvPr/>
        </p:nvSpPr>
        <p:spPr>
          <a:xfrm>
            <a:off x="7589520" y="914400"/>
            <a:ext cx="4050792" cy="1508760"/>
          </a:xfrm>
          <a:prstGeom prst="roundRect">
            <a:avLst>
              <a:gd name="adj" fmla="val 7273"/>
            </a:avLst>
          </a:prstGeom>
          <a:solidFill>
            <a:schemeClr val="bg1"/>
          </a:solidFill>
          <a:ln/>
        </p:spPr>
      </p:sp>
      <p:sp>
        <p:nvSpPr>
          <p:cNvPr id="7" name="takeaway-num-640"/>
          <p:cNvSpPr txBox="1"/>
          <p:nvPr/>
        </p:nvSpPr>
        <p:spPr>
          <a:xfrm>
            <a:off x="7772400" y="1097280"/>
            <a:ext cx="731520" cy="548640"/>
          </a:xfrm>
          <a:prstGeom prst="rect">
            <a:avLst/>
          </a:prstGeom>
          <a:noFill/>
          <a:ln/>
        </p:spPr>
        <p:txBody>
          <a:bodyPr wrap="square" lIns="0" tIns="0" rIns="0" bIns="0" rtlCol="0" anchor="t"/>
          <a:lstStyle/>
          <a:p>
            <a:pPr indent="0" marL="0">
              <a:buNone/>
            </a:pPr>
            <a:r>
              <a:rPr lang="en-US" sz="2600" b="1" dirty="0">
                <a:solidFill>
                  <a:schemeClr val="accent2"/>
                </a:solidFill>
                <a:latin typeface="Avenir" pitchFamily="34" charset="0"/>
                <a:ea typeface="Avenir" pitchFamily="34" charset="-122"/>
                <a:cs typeface="Avenir" pitchFamily="34" charset="-120"/>
              </a:rPr>
              <a:t>01</a:t>
            </a:r>
            <a:endParaRPr lang="en-US" sz="2600" dirty="0"/>
          </a:p>
        </p:txBody>
      </p:sp>
      <p:sp>
        <p:nvSpPr>
          <p:cNvPr id="8" name="takeaway-title-641"/>
          <p:cNvSpPr txBox="1"/>
          <p:nvPr/>
        </p:nvSpPr>
        <p:spPr>
          <a:xfrm>
            <a:off x="8503920" y="1115568"/>
            <a:ext cx="3017520" cy="411480"/>
          </a:xfrm>
          <a:prstGeom prst="rect">
            <a:avLst/>
          </a:prstGeom>
          <a:noFill/>
          <a:ln/>
        </p:spPr>
        <p:txBody>
          <a:bodyPr wrap="square" lIns="0" tIns="0" rIns="0" bIns="0" rtlCol="0" anchor="t"/>
          <a:lstStyle/>
          <a:p>
            <a:pPr indent="0" marL="0">
              <a:buNone/>
            </a:pPr>
            <a:r>
              <a:rPr lang="en-US" sz="1800" b="1" dirty="0">
                <a:solidFill>
                  <a:schemeClr val="tx2"/>
                </a:solidFill>
              </a:rPr>
              <a:t>By design</a:t>
            </a:r>
            <a:endParaRPr lang="en-US" sz="1800" dirty="0"/>
          </a:p>
        </p:txBody>
      </p:sp>
      <p:sp>
        <p:nvSpPr>
          <p:cNvPr id="9" name="takeaway-desc-642"/>
          <p:cNvSpPr txBox="1"/>
          <p:nvPr/>
        </p:nvSpPr>
        <p:spPr>
          <a:xfrm>
            <a:off x="8503920" y="1536192"/>
            <a:ext cx="3017520" cy="822960"/>
          </a:xfrm>
          <a:prstGeom prst="rect">
            <a:avLst/>
          </a:prstGeom>
          <a:noFill/>
          <a:ln/>
        </p:spPr>
        <p:txBody>
          <a:bodyPr wrap="square" lIns="0" tIns="0" rIns="0" bIns="0" rtlCol="0" anchor="t"/>
          <a:lstStyle/>
          <a:p>
            <a:pPr indent="0" marL="0">
              <a:buNone/>
            </a:pPr>
            <a:r>
              <a:rPr lang="en-US" sz="1400" dirty="0">
                <a:solidFill>
                  <a:schemeClr val="tx1"/>
                </a:solidFill>
              </a:rPr>
              <a:t>Strong for debugging and justification; watch out for Rashomon.</a:t>
            </a:r>
            <a:endParaRPr lang="en-US" sz="1400" dirty="0"/>
          </a:p>
        </p:txBody>
      </p:sp>
      <p:sp>
        <p:nvSpPr>
          <p:cNvPr id="10" name="takeaway-643"/>
          <p:cNvSpPr/>
          <p:nvPr/>
        </p:nvSpPr>
        <p:spPr>
          <a:xfrm>
            <a:off x="7589520" y="2651760"/>
            <a:ext cx="4050792" cy="1508760"/>
          </a:xfrm>
          <a:prstGeom prst="roundRect">
            <a:avLst>
              <a:gd name="adj" fmla="val 7273"/>
            </a:avLst>
          </a:prstGeom>
          <a:solidFill>
            <a:schemeClr val="bg1"/>
          </a:solidFill>
          <a:ln/>
        </p:spPr>
      </p:sp>
      <p:sp>
        <p:nvSpPr>
          <p:cNvPr id="11" name="takeaway-num-644"/>
          <p:cNvSpPr txBox="1"/>
          <p:nvPr/>
        </p:nvSpPr>
        <p:spPr>
          <a:xfrm>
            <a:off x="7772400" y="2834640"/>
            <a:ext cx="731520" cy="548640"/>
          </a:xfrm>
          <a:prstGeom prst="rect">
            <a:avLst/>
          </a:prstGeom>
          <a:noFill/>
          <a:ln/>
        </p:spPr>
        <p:txBody>
          <a:bodyPr wrap="square" lIns="0" tIns="0" rIns="0" bIns="0" rtlCol="0" anchor="t"/>
          <a:lstStyle/>
          <a:p>
            <a:pPr indent="0" marL="0">
              <a:buNone/>
            </a:pPr>
            <a:r>
              <a:rPr lang="en-US" sz="2600" b="1" dirty="0">
                <a:solidFill>
                  <a:schemeClr val="accent2"/>
                </a:solidFill>
                <a:latin typeface="Avenir" pitchFamily="34" charset="0"/>
                <a:ea typeface="Avenir" pitchFamily="34" charset="-122"/>
                <a:cs typeface="Avenir" pitchFamily="34" charset="-120"/>
              </a:rPr>
              <a:t>02</a:t>
            </a:r>
            <a:endParaRPr lang="en-US" sz="2600" dirty="0"/>
          </a:p>
        </p:txBody>
      </p:sp>
      <p:sp>
        <p:nvSpPr>
          <p:cNvPr id="12" name="takeaway-title-645"/>
          <p:cNvSpPr txBox="1"/>
          <p:nvPr/>
        </p:nvSpPr>
        <p:spPr>
          <a:xfrm>
            <a:off x="8503920" y="2852928"/>
            <a:ext cx="3017520" cy="411480"/>
          </a:xfrm>
          <a:prstGeom prst="rect">
            <a:avLst/>
          </a:prstGeom>
          <a:noFill/>
          <a:ln/>
        </p:spPr>
        <p:txBody>
          <a:bodyPr wrap="square" lIns="0" tIns="0" rIns="0" bIns="0" rtlCol="0" anchor="t"/>
          <a:lstStyle/>
          <a:p>
            <a:pPr indent="0" marL="0">
              <a:buNone/>
            </a:pPr>
            <a:r>
              <a:rPr lang="en-US" sz="1800" b="1" dirty="0">
                <a:solidFill>
                  <a:schemeClr val="tx2"/>
                </a:solidFill>
              </a:rPr>
              <a:t>Model-agnostic</a:t>
            </a:r>
            <a:endParaRPr lang="en-US" sz="1800" dirty="0"/>
          </a:p>
        </p:txBody>
      </p:sp>
      <p:sp>
        <p:nvSpPr>
          <p:cNvPr id="13" name="takeaway-desc-646"/>
          <p:cNvSpPr txBox="1"/>
          <p:nvPr/>
        </p:nvSpPr>
        <p:spPr>
          <a:xfrm>
            <a:off x="8503920" y="3273552"/>
            <a:ext cx="3017520" cy="822960"/>
          </a:xfrm>
          <a:prstGeom prst="rect">
            <a:avLst/>
          </a:prstGeom>
          <a:noFill/>
          <a:ln/>
        </p:spPr>
        <p:txBody>
          <a:bodyPr wrap="square" lIns="0" tIns="0" rIns="0" bIns="0" rtlCol="0" anchor="t"/>
          <a:lstStyle/>
          <a:p>
            <a:pPr indent="0" marL="0">
              <a:buNone/>
            </a:pPr>
            <a:r>
              <a:rPr lang="en-US" sz="1400" dirty="0">
                <a:solidFill>
                  <a:schemeClr val="tx1"/>
                </a:solidFill>
              </a:rPr>
              <a:t>SIPA; model and method can be swapped independently.</a:t>
            </a:r>
            <a:endParaRPr lang="en-US" sz="1400" dirty="0"/>
          </a:p>
        </p:txBody>
      </p:sp>
      <p:sp>
        <p:nvSpPr>
          <p:cNvPr id="14" name="takeaway-647"/>
          <p:cNvSpPr/>
          <p:nvPr/>
        </p:nvSpPr>
        <p:spPr>
          <a:xfrm>
            <a:off x="7589520" y="4389120"/>
            <a:ext cx="4050792" cy="1508760"/>
          </a:xfrm>
          <a:prstGeom prst="roundRect">
            <a:avLst>
              <a:gd name="adj" fmla="val 7273"/>
            </a:avLst>
          </a:prstGeom>
          <a:solidFill>
            <a:schemeClr val="bg1"/>
          </a:solidFill>
          <a:ln/>
        </p:spPr>
      </p:sp>
      <p:sp>
        <p:nvSpPr>
          <p:cNvPr id="15" name="takeaway-num-648"/>
          <p:cNvSpPr txBox="1"/>
          <p:nvPr/>
        </p:nvSpPr>
        <p:spPr>
          <a:xfrm>
            <a:off x="7772400" y="4572000"/>
            <a:ext cx="731520" cy="548640"/>
          </a:xfrm>
          <a:prstGeom prst="rect">
            <a:avLst/>
          </a:prstGeom>
          <a:noFill/>
          <a:ln/>
        </p:spPr>
        <p:txBody>
          <a:bodyPr wrap="square" lIns="0" tIns="0" rIns="0" bIns="0" rtlCol="0" anchor="t"/>
          <a:lstStyle/>
          <a:p>
            <a:pPr indent="0" marL="0">
              <a:buNone/>
            </a:pPr>
            <a:r>
              <a:rPr lang="en-US" sz="2600" b="1" dirty="0">
                <a:solidFill>
                  <a:schemeClr val="accent2"/>
                </a:solidFill>
                <a:latin typeface="Avenir" pitchFamily="34" charset="0"/>
                <a:ea typeface="Avenir" pitchFamily="34" charset="-122"/>
                <a:cs typeface="Avenir" pitchFamily="34" charset="-120"/>
              </a:rPr>
              <a:t>03</a:t>
            </a:r>
            <a:endParaRPr lang="en-US" sz="2600" dirty="0"/>
          </a:p>
        </p:txBody>
      </p:sp>
      <p:sp>
        <p:nvSpPr>
          <p:cNvPr id="16" name="takeaway-title-649"/>
          <p:cNvSpPr txBox="1"/>
          <p:nvPr/>
        </p:nvSpPr>
        <p:spPr>
          <a:xfrm>
            <a:off x="8503920" y="4590288"/>
            <a:ext cx="3017520" cy="411480"/>
          </a:xfrm>
          <a:prstGeom prst="rect">
            <a:avLst/>
          </a:prstGeom>
          <a:noFill/>
          <a:ln/>
        </p:spPr>
        <p:txBody>
          <a:bodyPr wrap="square" lIns="0" tIns="0" rIns="0" bIns="0" rtlCol="0" anchor="t"/>
          <a:lstStyle/>
          <a:p>
            <a:pPr indent="0" marL="0">
              <a:buNone/>
            </a:pPr>
            <a:r>
              <a:rPr lang="en-US" sz="1800" b="1" dirty="0">
                <a:solidFill>
                  <a:schemeClr val="tx2"/>
                </a:solidFill>
              </a:rPr>
              <a:t>Model-specific</a:t>
            </a:r>
            <a:endParaRPr lang="en-US" sz="1800" dirty="0"/>
          </a:p>
        </p:txBody>
      </p:sp>
      <p:sp>
        <p:nvSpPr>
          <p:cNvPr id="17" name="takeaway-desc-650"/>
          <p:cNvSpPr txBox="1"/>
          <p:nvPr/>
        </p:nvSpPr>
        <p:spPr>
          <a:xfrm>
            <a:off x="8503920" y="5010912"/>
            <a:ext cx="3017520" cy="822960"/>
          </a:xfrm>
          <a:prstGeom prst="rect">
            <a:avLst/>
          </a:prstGeom>
          <a:noFill/>
          <a:ln/>
        </p:spPr>
        <p:txBody>
          <a:bodyPr wrap="square" lIns="0" tIns="0" rIns="0" bIns="0" rtlCol="0" anchor="t"/>
          <a:lstStyle/>
          <a:p>
            <a:pPr indent="0" marL="0">
              <a:buNone/>
            </a:pPr>
            <a:r>
              <a:rPr lang="en-US" sz="1400" dirty="0">
                <a:solidFill>
                  <a:schemeClr val="tx1"/>
                </a:solidFill>
              </a:rPr>
              <a:t>Reveals what neural networks have learned.</a:t>
            </a:r>
            <a:endParaRPr lang="en-US" sz="1400" dirty="0"/>
          </a:p>
        </p:txBody>
      </p:sp>
    </p:spTree>
  </p:cSld>
  <p:clrMapOvr>
    <a:masterClrMapping/>
  </p:clrMapOvr>
</p:sld>
</file>

<file path=ppt/theme/theme1.xml><?xml version="1.0" encoding="utf-8"?>
<a:theme xmlns:a="http://schemas.openxmlformats.org/drawingml/2006/main" name="Antarktika">
  <a:themeElements>
    <a:clrScheme name="Antarktika">
      <a:dk1>
        <a:srgbClr val="1C2B36"/>
      </a:dk1>
      <a:lt1>
        <a:srgbClr val="FFFFFF"/>
      </a:lt1>
      <a:dk2>
        <a:srgbClr val="0E3A4F"/>
      </a:dk2>
      <a:lt2>
        <a:srgbClr val="EAF2F5"/>
      </a:lt2>
      <a:accent1>
        <a:srgbClr val="127C8A"/>
      </a:accent1>
      <a:accent2>
        <a:srgbClr val="E07A1F"/>
      </a:accent2>
      <a:accent3>
        <a:srgbClr val="4B2E83"/>
      </a:accent3>
      <a:accent4>
        <a:srgbClr val="2A6F97"/>
      </a:accent4>
      <a:accent5>
        <a:srgbClr val="2A9D6F"/>
      </a:accent5>
      <a:accent6>
        <a:srgbClr val="9DB7C2"/>
      </a:accent6>
      <a:hlink>
        <a:srgbClr val="127C8A"/>
      </a:hlink>
      <a:folHlink>
        <a:srgbClr val="4B2E83"/>
      </a:folHlink>
    </a:clrScheme>
    <a:fontScheme name="Antarktika">
      <a:majorFont>
        <a:latin typeface="Aveni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veni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 Methods Overview</dc:title>
  <dc:subject>Interpretable Machine Learning (C. Molnar) — Türkçe sunum</dc:subject>
  <dc:creator>Asasira Martin</dc:creator>
  <cp:lastModifiedBy>Asasira Martin</cp:lastModifiedBy>
  <cp:revision>1</cp:revision>
  <dcterms:created xsi:type="dcterms:W3CDTF">2026-10-17T22:55:45Z</dcterms:created>
  <dcterms:modified xsi:type="dcterms:W3CDTF">2026-10-17T22:55:45Z</dcterms:modified>
</cp:coreProperties>
</file>