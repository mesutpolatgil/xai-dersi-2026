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69f8b07-f47e-67eb-7f4c-f21518fd6aee}">
          <p14:sldIdLst>
            <p14:sldId id="256"/>
            <p14:sldId id="257"/>
          </p14:sldIdLst>
        </p14:section>
        <p14:section name="Bike rentals" id="{ee1b2a50-c15c-4194-a18a-5a63aba5d78f}">
          <p14:sldIdLst>
            <p14:sldId id="258"/>
            <p14:sldId id="259"/>
            <p14:sldId id="260"/>
            <p14:sldId id="261"/>
            <p14:sldId id="262"/>
            <p14:sldId id="263"/>
            <p14:sldId id="264"/>
          </p14:sldIdLst>
        </p14:section>
        <p14:section name="Palmer penguins" id="{acb9b953-3e12-6ee9-f891-ff68a716e6c6}">
          <p14:sldIdLst>
            <p14:sldId id="265"/>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3A4F"/>
                </a:solidFill>
                <a:latin typeface="+mn-lt"/>
              </a:defRPr>
            </a:pPr>
            <a:r>
              <a:rPr sz="1500" b="0" i="0" u="none" strike="noStrike">
                <a:solidFill>
                  <a:srgbClr val="0E3A4F"/>
                </a:solidFill>
                <a:latin typeface="+mn-lt"/>
              </a:rPr>
              <a:t>Error on test data (bikes) · lower is better</a:t>
            </a:r>
          </a:p>
        </c:rich>
      </c:tx>
      <c:layout/>
      <c:overlay val="0"/>
    </c:title>
    <c:autoTitleDeleted val="0"/>
    <c:plotArea>
      <c:layout/>
      <c:barChart>
        <c:barDir val="bar"/>
        <c:grouping val="clustered"/>
        <c:varyColors val="0"/>
        <c:ser>
          <c:idx val="0"/>
          <c:order val="0"/>
          <c:tx>
            <c:strRef>
              <c:f>Sheet1!$B$1</c:f>
              <c:strCache>
                <c:ptCount val="1"/>
                <c:pt idx="0">
                  <c:v>RMSE</c:v>
                </c:pt>
              </c:strCache>
            </c:strRef>
          </c:tx>
          <c:spPr>
            <a:solidFill>
              <a:srgbClr val="0E3A4F"/>
            </a:solidFill>
            <a:effectLst/>
          </c:spPr>
          <c:invertIfNegative val="0"/>
          <c:dLbls>
            <c:numFmt formatCode="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cat>
            <c:multiLvlStrRef>
              <c:f>Sheet1!$A$2:$A$5</c:f>
              <c:multiLvlStrCache>
                <c:ptCount val="4"/>
                <c:lvl>
                  <c:pt idx="0">
                    <c:v>SVM</c:v>
                  </c:pt>
                  <c:pt idx="1">
                    <c:v>Random forest</c:v>
                  </c:pt>
                  <c:pt idx="2">
                    <c:v>Linear regression</c:v>
                  </c:pt>
                  <c:pt idx="3">
                    <c:v>Decision tree</c:v>
                  </c:pt>
                </c:lvl>
              </c:multiLvlStrCache>
            </c:multiLvlStrRef>
          </c:cat>
          <c:val>
            <c:numRef>
              <c:f>Sheet1!$B$2:$B$5</c:f>
              <c:numCache>
                <c:formatCode>General</c:formatCode>
                <c:ptCount val="4"/>
                <c:pt idx="0">
                  <c:v>852</c:v>
                </c:pt>
                <c:pt idx="1">
                  <c:v>883</c:v>
                </c:pt>
                <c:pt idx="2">
                  <c:v>948</c:v>
                </c:pt>
                <c:pt idx="3">
                  <c:v>1056</c:v>
                </c:pt>
              </c:numCache>
            </c:numRef>
          </c:val>
        </c:ser>
        <c:ser>
          <c:idx val="1"/>
          <c:order val="1"/>
          <c:tx>
            <c:strRef>
              <c:f>Sheet1!$C$1</c:f>
              <c:strCache>
                <c:ptCount val="1"/>
                <c:pt idx="0">
                  <c:v>MAE</c:v>
                </c:pt>
              </c:strCache>
            </c:strRef>
          </c:tx>
          <c:spPr>
            <a:solidFill>
              <a:srgbClr val="9DB7C2"/>
            </a:solidFill>
            <a:effectLst/>
          </c:spPr>
          <c:invertIfNegative val="0"/>
          <c:dLbls>
            <c:numFmt formatCode="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cat>
            <c:multiLvlStrRef>
              <c:f>Sheet1!$A$2:$A$5</c:f>
              <c:multiLvlStrCache>
                <c:ptCount val="4"/>
                <c:lvl>
                  <c:pt idx="0">
                    <c:v>SVM</c:v>
                  </c:pt>
                  <c:pt idx="1">
                    <c:v>Random forest</c:v>
                  </c:pt>
                  <c:pt idx="2">
                    <c:v>Linear regression</c:v>
                  </c:pt>
                  <c:pt idx="3">
                    <c:v>Decision tree</c:v>
                  </c:pt>
                </c:lvl>
              </c:multiLvlStrCache>
            </c:multiLvlStrRef>
          </c:cat>
          <c:val>
            <c:numRef>
              <c:f>Sheet1!$C$2:$C$5</c:f>
              <c:numCache>
                <c:formatCode>General</c:formatCode>
                <c:ptCount val="4"/>
                <c:pt idx="0">
                  <c:v>628</c:v>
                </c:pt>
                <c:pt idx="1">
                  <c:v>676</c:v>
                </c:pt>
                <c:pt idx="2">
                  <c:v>737</c:v>
                </c:pt>
                <c:pt idx="3">
                  <c:v>794</c:v>
                </c:pt>
              </c:numCache>
            </c:numRef>
          </c:val>
        </c:ser>
        <c:dLbls>
          <c:numFmt formatCode="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catAx>
      <c:valAx>
        <c:axId val="2094734552"/>
        <c:scaling>
          <c:orientation val="minMax"/>
          <c:max val="1200"/>
          <c:min val="0"/>
        </c:scaling>
        <c:delete val="0"/>
        <c:axPos val="b"/>
        <c:majorGridlines>
          <c:spPr>
            <a:ln w="12700" cap="flat">
              <a:solidFill>
                <a:srgbClr val="EAF2F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between"/>
        <c:majorUnit val="200"/>
      </c:valAx>
      <c:spPr>
        <a:noFill/>
        <a:ln>
          <a:noFill/>
        </a:ln>
        <a:effectLst/>
      </c:spPr>
    </c:plotArea>
    <c:legend>
      <c:legendPos val="t"/>
      <c:overlay val="0"/>
      <c:txPr>
        <a:bodyPr/>
        <a:lstStyle/>
        <a:p>
          <a:pPr>
            <a:defRPr sz="1300">
              <a:solidFill>
                <a:srgbClr val="1C2B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Pearson r</c:v>
                </c:pt>
              </c:strCache>
            </c:strRef>
          </c:tx>
          <c:spPr>
            <a:solidFill>
              <a:srgbClr val="9DB7C2"/>
            </a:solidFill>
            <a:effectLst/>
          </c:spPr>
          <c:invertIfNegative val="0"/>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dPt>
            <c:idx val="0"/>
            <c:invertIfNegative val="0"/>
            <c:bubble3D val="0"/>
            <c:spPr>
              <a:solidFill>
                <a:srgbClr val="9DB7C2"/>
              </a:solidFill>
              <a:effectLst/>
            </c:spPr>
          </c:dPt>
          <c:dPt>
            <c:idx val="1"/>
            <c:invertIfNegative val="0"/>
            <c:bubble3D val="0"/>
            <c:spPr>
              <a:solidFill>
                <a:srgbClr val="9DB7C2"/>
              </a:solidFill>
              <a:effectLst/>
            </c:spPr>
          </c:dPt>
          <c:dPt>
            <c:idx val="2"/>
            <c:invertIfNegative val="0"/>
            <c:bubble3D val="0"/>
            <c:spPr>
              <a:solidFill>
                <a:srgbClr val="9DB7C2"/>
              </a:solidFill>
              <a:effectLst/>
            </c:spPr>
          </c:dPt>
          <c:dPt>
            <c:idx val="3"/>
            <c:invertIfNegative val="0"/>
            <c:bubble3D val="0"/>
            <c:spPr>
              <a:solidFill>
                <a:srgbClr val="E07A1F"/>
              </a:solidFill>
              <a:effectLst/>
            </c:spPr>
          </c:dPt>
          <c:dPt>
            <c:idx val="4"/>
            <c:invertIfNegative val="0"/>
            <c:bubble3D val="0"/>
            <c:spPr>
              <a:solidFill>
                <a:srgbClr val="9DB7C2"/>
              </a:solidFill>
              <a:effectLst/>
            </c:spPr>
          </c:dPt>
          <c:dPt>
            <c:idx val="5"/>
            <c:invertIfNegative val="0"/>
            <c:bubble3D val="0"/>
            <c:spPr>
              <a:solidFill>
                <a:srgbClr val="9DB7C2"/>
              </a:solidFill>
              <a:effectLst/>
            </c:spPr>
          </c:dPt>
          <c:cat>
            <c:multiLvlStrRef>
              <c:f>Sheet1!$A$2:$A$7</c:f>
              <c:multiLvlStrCache>
                <c:ptCount val="6"/>
                <c:lvl>
                  <c:pt idx="0">
                    <c:v>temp – hum</c:v>
                  </c:pt>
                  <c:pt idx="1">
                    <c:v>temp – windspeed</c:v>
                  </c:pt>
                  <c:pt idx="2">
                    <c:v>hum – windspeed</c:v>
                  </c:pt>
                  <c:pt idx="3">
                    <c:v>temp – cnt_2d_bfr</c:v>
                  </c:pt>
                  <c:pt idx="4">
                    <c:v>hum – cnt_2d_bfr</c:v>
                  </c:pt>
                  <c:pt idx="5">
                    <c:v>windspeed – cnt_2d_bfr</c:v>
                  </c:pt>
                </c:lvl>
              </c:multiLvlStrCache>
            </c:multiLvlStrRef>
          </c:cat>
          <c:val>
            <c:numRef>
              <c:f>Sheet1!$B$2:$B$7</c:f>
              <c:numCache>
                <c:formatCode>General</c:formatCode>
                <c:ptCount val="6"/>
                <c:pt idx="0">
                  <c:v>0.13</c:v>
                </c:pt>
                <c:pt idx="1">
                  <c:v>-0.16</c:v>
                </c:pt>
                <c:pt idx="2">
                  <c:v>-0.25</c:v>
                </c:pt>
                <c:pt idx="3">
                  <c:v>0.6</c:v>
                </c:pt>
                <c:pt idx="4">
                  <c:v>0.06</c:v>
                </c:pt>
                <c:pt idx="5">
                  <c:v>-0.11</c:v>
                </c:pt>
              </c:numCache>
            </c:numRef>
          </c:val>
        </c:ser>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catAx>
      <c:valAx>
        <c:axId val="2094734552"/>
        <c:scaling>
          <c:orientation val="minMax"/>
          <c:max val="1"/>
          <c:min val="-1"/>
        </c:scaling>
        <c:delete val="0"/>
        <c:axPos val="b"/>
        <c:majorGridlines>
          <c:spPr>
            <a:ln w="12700" cap="flat">
              <a:solidFill>
                <a:srgbClr val="EAF2F5"/>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3A4F"/>
                </a:solidFill>
                <a:latin typeface="+mn-lt"/>
              </a:defRPr>
            </a:pPr>
            <a:r>
              <a:rPr sz="1500" b="0" i="0" u="none" strike="noStrike">
                <a:solidFill>
                  <a:srgbClr val="0E3A4F"/>
                </a:solidFill>
                <a:latin typeface="+mn-lt"/>
              </a:rPr>
              <a:t>Log loss · lower is better</a:t>
            </a:r>
          </a:p>
        </c:rich>
      </c:tx>
      <c:layout/>
      <c:overlay val="0"/>
    </c:title>
    <c:autoTitleDeleted val="0"/>
    <c:plotArea>
      <c:layout/>
      <c:barChart>
        <c:barDir val="bar"/>
        <c:grouping val="clustered"/>
        <c:varyColors val="0"/>
        <c:ser>
          <c:idx val="0"/>
          <c:order val="0"/>
          <c:tx>
            <c:strRef>
              <c:f>Sheet1!$B$1</c:f>
              <c:strCache>
                <c:ptCount val="1"/>
                <c:pt idx="0">
                  <c:v>Log loss</c:v>
                </c:pt>
              </c:strCache>
            </c:strRef>
          </c:tx>
          <c:spPr>
            <a:solidFill>
              <a:srgbClr val="0E3A4F"/>
            </a:solidFill>
            <a:effectLst/>
          </c:spPr>
          <c:invertIfNegative val="0"/>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 (by species)</c:v>
                  </c:pt>
                  <c:pt idx="1">
                    <c:v>Random forest</c:v>
                  </c:pt>
                  <c:pt idx="2">
                    <c:v>Decision tree</c:v>
                  </c:pt>
                </c:lvl>
              </c:multiLvlStrCache>
            </c:multiLvlStrRef>
          </c:cat>
          <c:val>
            <c:numRef>
              <c:f>Sheet1!$B$2:$B$4</c:f>
              <c:numCache>
                <c:formatCode>General</c:formatCode>
                <c:ptCount val="3"/>
                <c:pt idx="0">
                  <c:v>0.16</c:v>
                </c:pt>
                <c:pt idx="1">
                  <c:v>0.19</c:v>
                </c:pt>
                <c:pt idx="2">
                  <c:v>1.23</c:v>
                </c:pt>
              </c:numCache>
            </c:numRef>
          </c:val>
        </c:ser>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12700" cap="flat">
              <a:solidFill>
                <a:srgbClr val="EAF2F5"/>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3A4F"/>
                </a:solidFill>
                <a:latin typeface="+mn-lt"/>
              </a:defRPr>
            </a:pPr>
            <a:r>
              <a:rPr sz="1500" b="0" i="0" u="none" strike="noStrike">
                <a:solidFill>
                  <a:srgbClr val="0E3A4F"/>
                </a:solidFill>
                <a:latin typeface="+mn-lt"/>
              </a:rPr>
              <a:t>Accuracy · higher is better</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127C8A"/>
            </a:solidFill>
            <a:effectLst/>
          </c:spPr>
          <c:invertIfNegative val="0"/>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cat>
            <c:multiLvlStrRef>
              <c:f>Sheet1!$A$2:$A$4</c:f>
              <c:multiLvlStrCache>
                <c:ptCount val="3"/>
                <c:lvl>
                  <c:pt idx="0">
                    <c:v>Logistic reg. (by species)</c:v>
                  </c:pt>
                  <c:pt idx="1">
                    <c:v>Random forest</c:v>
                  </c:pt>
                  <c:pt idx="2">
                    <c:v>Decision tree</c:v>
                  </c:pt>
                </c:lvl>
              </c:multiLvlStrCache>
            </c:multiLvlStrRef>
          </c:cat>
          <c:val>
            <c:numRef>
              <c:f>Sheet1!$B$2:$B$4</c:f>
              <c:numCache>
                <c:formatCode>General</c:formatCode>
                <c:ptCount val="3"/>
                <c:pt idx="0">
                  <c:v>0.93</c:v>
                </c:pt>
                <c:pt idx="1">
                  <c:v>0.92</c:v>
                </c:pt>
                <c:pt idx="2">
                  <c:v>0.86</c:v>
                </c:pt>
              </c:numCache>
            </c:numRef>
          </c:val>
        </c:ser>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EAF2F5"/>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Pearson r</c:v>
                </c:pt>
              </c:strCache>
            </c:strRef>
          </c:tx>
          <c:spPr>
            <a:solidFill>
              <a:srgbClr val="9DB7C2"/>
            </a:solidFill>
            <a:effectLst/>
          </c:spPr>
          <c:invertIfNegative val="0"/>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dPt>
            <c:idx val="0"/>
            <c:invertIfNegative val="0"/>
            <c:bubble3D val="0"/>
            <c:spPr>
              <a:solidFill>
                <a:srgbClr val="9DB7C2"/>
              </a:solidFill>
              <a:effectLst/>
            </c:spPr>
          </c:dPt>
          <c:dPt>
            <c:idx val="1"/>
            <c:invertIfNegative val="0"/>
            <c:bubble3D val="0"/>
            <c:spPr>
              <a:solidFill>
                <a:srgbClr val="9DB7C2"/>
              </a:solidFill>
              <a:effectLst/>
            </c:spPr>
          </c:dPt>
          <c:dPt>
            <c:idx val="2"/>
            <c:invertIfNegative val="0"/>
            <c:bubble3D val="0"/>
            <c:spPr>
              <a:solidFill>
                <a:srgbClr val="9DB7C2"/>
              </a:solidFill>
              <a:effectLst/>
            </c:spPr>
          </c:dPt>
          <c:dPt>
            <c:idx val="3"/>
            <c:invertIfNegative val="0"/>
            <c:bubble3D val="0"/>
            <c:spPr>
              <a:solidFill>
                <a:srgbClr val="9DB7C2"/>
              </a:solidFill>
              <a:effectLst/>
            </c:spPr>
          </c:dPt>
          <c:dPt>
            <c:idx val="4"/>
            <c:invertIfNegative val="0"/>
            <c:bubble3D val="0"/>
            <c:spPr>
              <a:solidFill>
                <a:srgbClr val="9DB7C2"/>
              </a:solidFill>
              <a:effectLst/>
            </c:spPr>
          </c:dPt>
          <c:dPt>
            <c:idx val="5"/>
            <c:invertIfNegative val="0"/>
            <c:bubble3D val="0"/>
            <c:spPr>
              <a:solidFill>
                <a:srgbClr val="E07A1F"/>
              </a:solidFill>
              <a:effectLst/>
            </c:spPr>
          </c:dPt>
          <c:cat>
            <c:multiLvlStrRef>
              <c:f>Sheet1!$A$2:$A$7</c:f>
              <c:multiLvlStrCache>
                <c:ptCount val="6"/>
                <c:lvl>
                  <c:pt idx="0">
                    <c:v>bill depth – bill length</c:v>
                  </c:pt>
                  <c:pt idx="1">
                    <c:v>bill depth – flipper</c:v>
                  </c:pt>
                  <c:pt idx="2">
                    <c:v>bill length – flipper</c:v>
                  </c:pt>
                  <c:pt idx="3">
                    <c:v>bill depth – body mass</c:v>
                  </c:pt>
                  <c:pt idx="4">
                    <c:v>bill length – body mass</c:v>
                  </c:pt>
                  <c:pt idx="5">
                    <c:v>flipper – body mass</c:v>
                  </c:pt>
                </c:lvl>
              </c:multiLvlStrCache>
            </c:multiLvlStrRef>
          </c:cat>
          <c:val>
            <c:numRef>
              <c:f>Sheet1!$B$2:$B$7</c:f>
              <c:numCache>
                <c:formatCode>General</c:formatCode>
                <c:ptCount val="6"/>
                <c:pt idx="0">
                  <c:v>-0.23</c:v>
                </c:pt>
                <c:pt idx="1">
                  <c:v>-0.58</c:v>
                </c:pt>
                <c:pt idx="2">
                  <c:v>0.65</c:v>
                </c:pt>
                <c:pt idx="3">
                  <c:v>-0.47</c:v>
                </c:pt>
                <c:pt idx="4">
                  <c:v>0.59</c:v>
                </c:pt>
                <c:pt idx="5">
                  <c:v>0.87</c:v>
                </c:pt>
              </c:numCache>
            </c:numRef>
          </c:val>
        </c:ser>
        <c:dLbls>
          <c:numFmt formatCode="0.00" sourceLinked="0"/>
          <c:txPr>
            <a:bodyPr/>
            <a:lstStyle/>
            <a:p>
              <a:pPr>
                <a:defRPr b="0" i="0" strike="noStrike" sz="1300" u="none">
                  <a:solidFill>
                    <a:srgbClr val="1C2B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catAx>
      <c:valAx>
        <c:axId val="2094734552"/>
        <c:scaling>
          <c:orientation val="minMax"/>
          <c:max val="1"/>
          <c:min val="-1"/>
        </c:scaling>
        <c:delete val="0"/>
        <c:axPos val="b"/>
        <c:majorGridlines>
          <c:spPr>
            <a:ln w="12700" cap="flat">
              <a:solidFill>
                <a:srgbClr val="EAF2F5"/>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Adelie</c:v>
                </c:pt>
              </c:strCache>
            </c:strRef>
          </c:tx>
          <c:spPr>
            <a:solidFill>
              <a:srgbClr val="4B2E83"/>
            </a:solidFill>
            <a:ln>
              <a:noFill/>
            </a:ln>
            <a:effectLst/>
          </c:spPr>
          <c:marker>
            <c:symbol val="circle"/>
            <c:size val="6"/>
            <c:spPr>
              <a:solidFill>
                <a:srgbClr val="4B2E83"/>
              </a:solidFill>
              <a:ln w="9525" cap="flat">
                <a:solidFill>
                  <a:srgbClr val="4B2E83"/>
                </a:solidFill>
                <a:prstDash val="solid"/>
                <a:round/>
              </a:ln>
              <a:effectLst/>
            </c:spPr>
          </c:marker>
          <c:trendline>
            <c:spPr>
              <a:ln w="28575" cap="rnd">
                <a:solidFill>
                  <a:srgbClr val="4B2E83"/>
                </a:solidFill>
              </a:ln>
            </c:spPr>
            <c:trendlineType val="linear"/>
            <c:dispRSqr val="0"/>
            <c:dispEq val="0"/>
          </c:trendline>
          <c:xVal>
            <c:numRef>
              <c:f>Sheet1!$A$2:$A$334</c:f>
              <c:numCache>
                <c:formatCode>General</c:formatCode>
                <c:ptCount val="333"/>
                <c:pt idx="0">
                  <c:v>18.7</c:v>
                </c:pt>
                <c:pt idx="1">
                  <c:v>17.4</c:v>
                </c:pt>
                <c:pt idx="2">
                  <c:v>18</c:v>
                </c:pt>
                <c:pt idx="3">
                  <c:v>19.3</c:v>
                </c:pt>
                <c:pt idx="4">
                  <c:v>20.6</c:v>
                </c:pt>
                <c:pt idx="5">
                  <c:v>17.8</c:v>
                </c:pt>
                <c:pt idx="6">
                  <c:v>19.6</c:v>
                </c:pt>
                <c:pt idx="7">
                  <c:v>17.6</c:v>
                </c:pt>
                <c:pt idx="8">
                  <c:v>21.2</c:v>
                </c:pt>
                <c:pt idx="9">
                  <c:v>21.1</c:v>
                </c:pt>
                <c:pt idx="10">
                  <c:v>17.8</c:v>
                </c:pt>
                <c:pt idx="11">
                  <c:v>19</c:v>
                </c:pt>
                <c:pt idx="12">
                  <c:v>20.7</c:v>
                </c:pt>
                <c:pt idx="13">
                  <c:v>18.4</c:v>
                </c:pt>
                <c:pt idx="14">
                  <c:v>21.5</c:v>
                </c:pt>
                <c:pt idx="15">
                  <c:v>18.3</c:v>
                </c:pt>
                <c:pt idx="16">
                  <c:v>18.7</c:v>
                </c:pt>
                <c:pt idx="17">
                  <c:v>19.2</c:v>
                </c:pt>
                <c:pt idx="18">
                  <c:v>18.1</c:v>
                </c:pt>
                <c:pt idx="19">
                  <c:v>17.2</c:v>
                </c:pt>
                <c:pt idx="20">
                  <c:v>18.9</c:v>
                </c:pt>
                <c:pt idx="21">
                  <c:v>18.6</c:v>
                </c:pt>
                <c:pt idx="22">
                  <c:v>17.9</c:v>
                </c:pt>
                <c:pt idx="23">
                  <c:v>18.6</c:v>
                </c:pt>
                <c:pt idx="24">
                  <c:v>18.9</c:v>
                </c:pt>
                <c:pt idx="25">
                  <c:v>16.7</c:v>
                </c:pt>
                <c:pt idx="26">
                  <c:v>18.1</c:v>
                </c:pt>
                <c:pt idx="27">
                  <c:v>17.8</c:v>
                </c:pt>
                <c:pt idx="28">
                  <c:v>18.9</c:v>
                </c:pt>
                <c:pt idx="29">
                  <c:v>17</c:v>
                </c:pt>
                <c:pt idx="30">
                  <c:v>21.1</c:v>
                </c:pt>
                <c:pt idx="31">
                  <c:v>20</c:v>
                </c:pt>
                <c:pt idx="32">
                  <c:v>18.5</c:v>
                </c:pt>
                <c:pt idx="33">
                  <c:v>19.3</c:v>
                </c:pt>
                <c:pt idx="34">
                  <c:v>19.1</c:v>
                </c:pt>
                <c:pt idx="35">
                  <c:v>18</c:v>
                </c:pt>
                <c:pt idx="36">
                  <c:v>18.4</c:v>
                </c:pt>
                <c:pt idx="37">
                  <c:v>18.5</c:v>
                </c:pt>
                <c:pt idx="38">
                  <c:v>19.7</c:v>
                </c:pt>
                <c:pt idx="39">
                  <c:v>16.9</c:v>
                </c:pt>
                <c:pt idx="40">
                  <c:v>18.8</c:v>
                </c:pt>
                <c:pt idx="41">
                  <c:v>19</c:v>
                </c:pt>
                <c:pt idx="42">
                  <c:v>17.9</c:v>
                </c:pt>
                <c:pt idx="43">
                  <c:v>21.2</c:v>
                </c:pt>
                <c:pt idx="44">
                  <c:v>17.7</c:v>
                </c:pt>
                <c:pt idx="45">
                  <c:v>18.9</c:v>
                </c:pt>
                <c:pt idx="46">
                  <c:v>17.9</c:v>
                </c:pt>
                <c:pt idx="47">
                  <c:v>19.5</c:v>
                </c:pt>
                <c:pt idx="48">
                  <c:v>18.1</c:v>
                </c:pt>
                <c:pt idx="49">
                  <c:v>18.6</c:v>
                </c:pt>
                <c:pt idx="50">
                  <c:v>17.5</c:v>
                </c:pt>
                <c:pt idx="51">
                  <c:v>18.8</c:v>
                </c:pt>
                <c:pt idx="52">
                  <c:v>16.6</c:v>
                </c:pt>
                <c:pt idx="53">
                  <c:v>19.1</c:v>
                </c:pt>
                <c:pt idx="54">
                  <c:v>16.9</c:v>
                </c:pt>
                <c:pt idx="55">
                  <c:v>21.1</c:v>
                </c:pt>
                <c:pt idx="56">
                  <c:v>17</c:v>
                </c:pt>
                <c:pt idx="57">
                  <c:v>18.2</c:v>
                </c:pt>
                <c:pt idx="58">
                  <c:v>17.1</c:v>
                </c:pt>
                <c:pt idx="59">
                  <c:v>18</c:v>
                </c:pt>
                <c:pt idx="60">
                  <c:v>16.2</c:v>
                </c:pt>
                <c:pt idx="61">
                  <c:v>19.1</c:v>
                </c:pt>
                <c:pt idx="62">
                  <c:v>16.6</c:v>
                </c:pt>
                <c:pt idx="63">
                  <c:v>19.4</c:v>
                </c:pt>
                <c:pt idx="64">
                  <c:v>19</c:v>
                </c:pt>
                <c:pt idx="65">
                  <c:v>18.4</c:v>
                </c:pt>
                <c:pt idx="66">
                  <c:v>17.2</c:v>
                </c:pt>
                <c:pt idx="67">
                  <c:v>18.9</c:v>
                </c:pt>
                <c:pt idx="68">
                  <c:v>17.5</c:v>
                </c:pt>
                <c:pt idx="69">
                  <c:v>18.5</c:v>
                </c:pt>
                <c:pt idx="70">
                  <c:v>16.8</c:v>
                </c:pt>
                <c:pt idx="71">
                  <c:v>19.4</c:v>
                </c:pt>
                <c:pt idx="72">
                  <c:v>16.1</c:v>
                </c:pt>
                <c:pt idx="73">
                  <c:v>19.1</c:v>
                </c:pt>
                <c:pt idx="74">
                  <c:v>17.2</c:v>
                </c:pt>
                <c:pt idx="75">
                  <c:v>17.6</c:v>
                </c:pt>
                <c:pt idx="76">
                  <c:v>18.8</c:v>
                </c:pt>
                <c:pt idx="77">
                  <c:v>19.4</c:v>
                </c:pt>
                <c:pt idx="78">
                  <c:v>17.8</c:v>
                </c:pt>
                <c:pt idx="79">
                  <c:v>20.3</c:v>
                </c:pt>
                <c:pt idx="80">
                  <c:v>19.5</c:v>
                </c:pt>
                <c:pt idx="81">
                  <c:v>18.6</c:v>
                </c:pt>
                <c:pt idx="82">
                  <c:v>19.2</c:v>
                </c:pt>
                <c:pt idx="83">
                  <c:v>18.8</c:v>
                </c:pt>
                <c:pt idx="84">
                  <c:v>18</c:v>
                </c:pt>
                <c:pt idx="85">
                  <c:v>18.1</c:v>
                </c:pt>
                <c:pt idx="86">
                  <c:v>17.1</c:v>
                </c:pt>
                <c:pt idx="87">
                  <c:v>18.1</c:v>
                </c:pt>
                <c:pt idx="88">
                  <c:v>17.3</c:v>
                </c:pt>
                <c:pt idx="89">
                  <c:v>18.9</c:v>
                </c:pt>
                <c:pt idx="90">
                  <c:v>18.6</c:v>
                </c:pt>
                <c:pt idx="91">
                  <c:v>18.5</c:v>
                </c:pt>
                <c:pt idx="92">
                  <c:v>16.1</c:v>
                </c:pt>
                <c:pt idx="93">
                  <c:v>18.5</c:v>
                </c:pt>
                <c:pt idx="94">
                  <c:v>17.9</c:v>
                </c:pt>
                <c:pt idx="95">
                  <c:v>20</c:v>
                </c:pt>
                <c:pt idx="96">
                  <c:v>16</c:v>
                </c:pt>
                <c:pt idx="97">
                  <c:v>20</c:v>
                </c:pt>
                <c:pt idx="98">
                  <c:v>18.6</c:v>
                </c:pt>
                <c:pt idx="99">
                  <c:v>18.9</c:v>
                </c:pt>
                <c:pt idx="100">
                  <c:v>17.2</c:v>
                </c:pt>
                <c:pt idx="101">
                  <c:v>20</c:v>
                </c:pt>
                <c:pt idx="102">
                  <c:v>17</c:v>
                </c:pt>
                <c:pt idx="103">
                  <c:v>19</c:v>
                </c:pt>
                <c:pt idx="104">
                  <c:v>16.5</c:v>
                </c:pt>
                <c:pt idx="105">
                  <c:v>20.3</c:v>
                </c:pt>
                <c:pt idx="106">
                  <c:v>17.7</c:v>
                </c:pt>
                <c:pt idx="107">
                  <c:v>19.5</c:v>
                </c:pt>
                <c:pt idx="108">
                  <c:v>20.7</c:v>
                </c:pt>
                <c:pt idx="109">
                  <c:v>18.3</c:v>
                </c:pt>
                <c:pt idx="110">
                  <c:v>17</c:v>
                </c:pt>
                <c:pt idx="111">
                  <c:v>20.5</c:v>
                </c:pt>
                <c:pt idx="112">
                  <c:v>17</c:v>
                </c:pt>
                <c:pt idx="113">
                  <c:v>18.6</c:v>
                </c:pt>
                <c:pt idx="114">
                  <c:v>17.2</c:v>
                </c:pt>
                <c:pt idx="115">
                  <c:v>19.8</c:v>
                </c:pt>
                <c:pt idx="116">
                  <c:v>17</c:v>
                </c:pt>
                <c:pt idx="117">
                  <c:v>18.5</c:v>
                </c:pt>
                <c:pt idx="118">
                  <c:v>15.9</c:v>
                </c:pt>
                <c:pt idx="119">
                  <c:v>19</c:v>
                </c:pt>
                <c:pt idx="120">
                  <c:v>17.6</c:v>
                </c:pt>
                <c:pt idx="121">
                  <c:v>18.3</c:v>
                </c:pt>
                <c:pt idx="122">
                  <c:v>17.1</c:v>
                </c:pt>
                <c:pt idx="123">
                  <c:v>18</c:v>
                </c:pt>
                <c:pt idx="124">
                  <c:v>17.9</c:v>
                </c:pt>
                <c:pt idx="125">
                  <c:v>19.2</c:v>
                </c:pt>
                <c:pt idx="126">
                  <c:v>18.5</c:v>
                </c:pt>
                <c:pt idx="127">
                  <c:v>18.5</c:v>
                </c:pt>
                <c:pt idx="128">
                  <c:v>17.6</c:v>
                </c:pt>
                <c:pt idx="129">
                  <c:v>17.5</c:v>
                </c:pt>
                <c:pt idx="130">
                  <c:v>17.5</c:v>
                </c:pt>
                <c:pt idx="131">
                  <c:v>20.1</c:v>
                </c:pt>
                <c:pt idx="132">
                  <c:v>16.5</c:v>
                </c:pt>
                <c:pt idx="133">
                  <c:v>17.9</c:v>
                </c:pt>
                <c:pt idx="134">
                  <c:v>17.1</c:v>
                </c:pt>
                <c:pt idx="135">
                  <c:v>17.2</c:v>
                </c:pt>
                <c:pt idx="136">
                  <c:v>15.5</c:v>
                </c:pt>
                <c:pt idx="137">
                  <c:v>17</c:v>
                </c:pt>
                <c:pt idx="138">
                  <c:v>16.8</c:v>
                </c:pt>
                <c:pt idx="139">
                  <c:v>18.7</c:v>
                </c:pt>
                <c:pt idx="140">
                  <c:v>18.6</c:v>
                </c:pt>
                <c:pt idx="141">
                  <c:v>18.4</c:v>
                </c:pt>
                <c:pt idx="142">
                  <c:v>17.8</c:v>
                </c:pt>
                <c:pt idx="143">
                  <c:v>18.1</c:v>
                </c:pt>
                <c:pt idx="144">
                  <c:v>17.1</c:v>
                </c:pt>
                <c:pt idx="145">
                  <c:v>18.5</c:v>
                </c:pt>
              </c:numCache>
            </c:numRef>
          </c:xVal>
          <c:yVal>
            <c:numRef>
              <c:f>Sheet1!$B$2:$B$334</c:f>
              <c:numCache>
                <c:formatCode>General</c:formatCode>
                <c:ptCount val="333"/>
                <c:pt idx="0">
                  <c:v>3750</c:v>
                </c:pt>
                <c:pt idx="1">
                  <c:v>3800</c:v>
                </c:pt>
                <c:pt idx="2">
                  <c:v>3250</c:v>
                </c:pt>
                <c:pt idx="3">
                  <c:v>3450</c:v>
                </c:pt>
                <c:pt idx="4">
                  <c:v>3650</c:v>
                </c:pt>
                <c:pt idx="5">
                  <c:v>3625</c:v>
                </c:pt>
                <c:pt idx="6">
                  <c:v>4675</c:v>
                </c:pt>
                <c:pt idx="7">
                  <c:v>3200</c:v>
                </c:pt>
                <c:pt idx="8">
                  <c:v>3800</c:v>
                </c:pt>
                <c:pt idx="9">
                  <c:v>4400</c:v>
                </c:pt>
                <c:pt idx="10">
                  <c:v>3700</c:v>
                </c:pt>
                <c:pt idx="11">
                  <c:v>3450</c:v>
                </c:pt>
                <c:pt idx="12">
                  <c:v>4500</c:v>
                </c:pt>
                <c:pt idx="13">
                  <c:v>3325</c:v>
                </c:pt>
                <c:pt idx="14">
                  <c:v>4200</c:v>
                </c:pt>
                <c:pt idx="15">
                  <c:v>3400</c:v>
                </c:pt>
                <c:pt idx="16">
                  <c:v>3600</c:v>
                </c:pt>
                <c:pt idx="17">
                  <c:v>3800</c:v>
                </c:pt>
                <c:pt idx="18">
                  <c:v>3950</c:v>
                </c:pt>
                <c:pt idx="19">
                  <c:v>3800</c:v>
                </c:pt>
                <c:pt idx="20">
                  <c:v>3800</c:v>
                </c:pt>
                <c:pt idx="21">
                  <c:v>3550</c:v>
                </c:pt>
                <c:pt idx="22">
                  <c:v>3200</c:v>
                </c:pt>
                <c:pt idx="23">
                  <c:v>3150</c:v>
                </c:pt>
                <c:pt idx="24">
                  <c:v>3950</c:v>
                </c:pt>
                <c:pt idx="25">
                  <c:v>3250</c:v>
                </c:pt>
                <c:pt idx="26">
                  <c:v>3900</c:v>
                </c:pt>
                <c:pt idx="27">
                  <c:v>3300</c:v>
                </c:pt>
                <c:pt idx="28">
                  <c:v>3900</c:v>
                </c:pt>
                <c:pt idx="29">
                  <c:v>3325</c:v>
                </c:pt>
                <c:pt idx="30">
                  <c:v>4150</c:v>
                </c:pt>
                <c:pt idx="31">
                  <c:v>3950</c:v>
                </c:pt>
                <c:pt idx="32">
                  <c:v>3550</c:v>
                </c:pt>
                <c:pt idx="33">
                  <c:v>3300</c:v>
                </c:pt>
                <c:pt idx="34">
                  <c:v>4650</c:v>
                </c:pt>
                <c:pt idx="35">
                  <c:v>3150</c:v>
                </c:pt>
                <c:pt idx="36">
                  <c:v>3900</c:v>
                </c:pt>
                <c:pt idx="37">
                  <c:v>3100</c:v>
                </c:pt>
                <c:pt idx="38">
                  <c:v>4400</c:v>
                </c:pt>
                <c:pt idx="39">
                  <c:v>3000</c:v>
                </c:pt>
                <c:pt idx="40">
                  <c:v>4600</c:v>
                </c:pt>
                <c:pt idx="41">
                  <c:v>3425</c:v>
                </c:pt>
                <c:pt idx="42">
                  <c:v>3450</c:v>
                </c:pt>
                <c:pt idx="43">
                  <c:v>4150</c:v>
                </c:pt>
                <c:pt idx="44">
                  <c:v>3500</c:v>
                </c:pt>
                <c:pt idx="45">
                  <c:v>4300</c:v>
                </c:pt>
                <c:pt idx="46">
                  <c:v>3450</c:v>
                </c:pt>
                <c:pt idx="47">
                  <c:v>4050</c:v>
                </c:pt>
                <c:pt idx="48">
                  <c:v>2900</c:v>
                </c:pt>
                <c:pt idx="49">
                  <c:v>3700</c:v>
                </c:pt>
                <c:pt idx="50">
                  <c:v>3550</c:v>
                </c:pt>
                <c:pt idx="51">
                  <c:v>3800</c:v>
                </c:pt>
                <c:pt idx="52">
                  <c:v>2850</c:v>
                </c:pt>
                <c:pt idx="53">
                  <c:v>3750</c:v>
                </c:pt>
                <c:pt idx="54">
                  <c:v>3150</c:v>
                </c:pt>
                <c:pt idx="55">
                  <c:v>4400</c:v>
                </c:pt>
                <c:pt idx="56">
                  <c:v>3600</c:v>
                </c:pt>
                <c:pt idx="57">
                  <c:v>4050</c:v>
                </c:pt>
                <c:pt idx="58">
                  <c:v>2850</c:v>
                </c:pt>
                <c:pt idx="59">
                  <c:v>3950</c:v>
                </c:pt>
                <c:pt idx="60">
                  <c:v>3350</c:v>
                </c:pt>
                <c:pt idx="61">
                  <c:v>4100</c:v>
                </c:pt>
                <c:pt idx="62">
                  <c:v>3050</c:v>
                </c:pt>
                <c:pt idx="63">
                  <c:v>4450</c:v>
                </c:pt>
                <c:pt idx="64">
                  <c:v>3600</c:v>
                </c:pt>
                <c:pt idx="65">
                  <c:v>3900</c:v>
                </c:pt>
                <c:pt idx="66">
                  <c:v>3550</c:v>
                </c:pt>
                <c:pt idx="67">
                  <c:v>4150</c:v>
                </c:pt>
                <c:pt idx="68">
                  <c:v>3700</c:v>
                </c:pt>
                <c:pt idx="69">
                  <c:v>4250</c:v>
                </c:pt>
                <c:pt idx="70">
                  <c:v>3700</c:v>
                </c:pt>
                <c:pt idx="71">
                  <c:v>3900</c:v>
                </c:pt>
                <c:pt idx="72">
                  <c:v>3550</c:v>
                </c:pt>
                <c:pt idx="73">
                  <c:v>4000</c:v>
                </c:pt>
                <c:pt idx="74">
                  <c:v>3200</c:v>
                </c:pt>
                <c:pt idx="75">
                  <c:v>4700</c:v>
                </c:pt>
                <c:pt idx="76">
                  <c:v>3800</c:v>
                </c:pt>
                <c:pt idx="77">
                  <c:v>4200</c:v>
                </c:pt>
                <c:pt idx="78">
                  <c:v>3350</c:v>
                </c:pt>
                <c:pt idx="79">
                  <c:v>3550</c:v>
                </c:pt>
                <c:pt idx="80">
                  <c:v>3800</c:v>
                </c:pt>
                <c:pt idx="81">
                  <c:v>3500</c:v>
                </c:pt>
                <c:pt idx="82">
                  <c:v>3950</c:v>
                </c:pt>
                <c:pt idx="83">
                  <c:v>3600</c:v>
                </c:pt>
                <c:pt idx="84">
                  <c:v>3550</c:v>
                </c:pt>
                <c:pt idx="85">
                  <c:v>4300</c:v>
                </c:pt>
                <c:pt idx="86">
                  <c:v>3400</c:v>
                </c:pt>
                <c:pt idx="87">
                  <c:v>4450</c:v>
                </c:pt>
                <c:pt idx="88">
                  <c:v>3300</c:v>
                </c:pt>
                <c:pt idx="89">
                  <c:v>4300</c:v>
                </c:pt>
                <c:pt idx="90">
                  <c:v>3700</c:v>
                </c:pt>
                <c:pt idx="91">
                  <c:v>4350</c:v>
                </c:pt>
                <c:pt idx="92">
                  <c:v>2900</c:v>
                </c:pt>
                <c:pt idx="93">
                  <c:v>4100</c:v>
                </c:pt>
                <c:pt idx="94">
                  <c:v>3725</c:v>
                </c:pt>
                <c:pt idx="95">
                  <c:v>4725</c:v>
                </c:pt>
                <c:pt idx="96">
                  <c:v>3075</c:v>
                </c:pt>
                <c:pt idx="97">
                  <c:v>4250</c:v>
                </c:pt>
                <c:pt idx="98">
                  <c:v>2925</c:v>
                </c:pt>
                <c:pt idx="99">
                  <c:v>3550</c:v>
                </c:pt>
                <c:pt idx="100">
                  <c:v>3750</c:v>
                </c:pt>
                <c:pt idx="101">
                  <c:v>3900</c:v>
                </c:pt>
                <c:pt idx="102">
                  <c:v>3175</c:v>
                </c:pt>
                <c:pt idx="103">
                  <c:v>4775</c:v>
                </c:pt>
                <c:pt idx="104">
                  <c:v>3825</c:v>
                </c:pt>
                <c:pt idx="105">
                  <c:v>4600</c:v>
                </c:pt>
                <c:pt idx="106">
                  <c:v>3200</c:v>
                </c:pt>
                <c:pt idx="107">
                  <c:v>4275</c:v>
                </c:pt>
                <c:pt idx="108">
                  <c:v>3900</c:v>
                </c:pt>
                <c:pt idx="109">
                  <c:v>4075</c:v>
                </c:pt>
                <c:pt idx="110">
                  <c:v>2900</c:v>
                </c:pt>
                <c:pt idx="111">
                  <c:v>3775</c:v>
                </c:pt>
                <c:pt idx="112">
                  <c:v>3350</c:v>
                </c:pt>
                <c:pt idx="113">
                  <c:v>3325</c:v>
                </c:pt>
                <c:pt idx="114">
                  <c:v>3150</c:v>
                </c:pt>
                <c:pt idx="115">
                  <c:v>3500</c:v>
                </c:pt>
                <c:pt idx="116">
                  <c:v>3450</c:v>
                </c:pt>
                <c:pt idx="117">
                  <c:v>3875</c:v>
                </c:pt>
                <c:pt idx="118">
                  <c:v>3050</c:v>
                </c:pt>
                <c:pt idx="119">
                  <c:v>4000</c:v>
                </c:pt>
                <c:pt idx="120">
                  <c:v>3275</c:v>
                </c:pt>
                <c:pt idx="121">
                  <c:v>4300</c:v>
                </c:pt>
                <c:pt idx="122">
                  <c:v>3050</c:v>
                </c:pt>
                <c:pt idx="123">
                  <c:v>4000</c:v>
                </c:pt>
                <c:pt idx="124">
                  <c:v>3325</c:v>
                </c:pt>
                <c:pt idx="125">
                  <c:v>3500</c:v>
                </c:pt>
                <c:pt idx="126">
                  <c:v>3500</c:v>
                </c:pt>
                <c:pt idx="127">
                  <c:v>4475</c:v>
                </c:pt>
                <c:pt idx="128">
                  <c:v>3425</c:v>
                </c:pt>
                <c:pt idx="129">
                  <c:v>3900</c:v>
                </c:pt>
                <c:pt idx="130">
                  <c:v>3175</c:v>
                </c:pt>
                <c:pt idx="131">
                  <c:v>3975</c:v>
                </c:pt>
                <c:pt idx="132">
                  <c:v>3400</c:v>
                </c:pt>
                <c:pt idx="133">
                  <c:v>4250</c:v>
                </c:pt>
                <c:pt idx="134">
                  <c:v>3400</c:v>
                </c:pt>
                <c:pt idx="135">
                  <c:v>3475</c:v>
                </c:pt>
                <c:pt idx="136">
                  <c:v>3050</c:v>
                </c:pt>
                <c:pt idx="137">
                  <c:v>3725</c:v>
                </c:pt>
                <c:pt idx="138">
                  <c:v>3000</c:v>
                </c:pt>
                <c:pt idx="139">
                  <c:v>3650</c:v>
                </c:pt>
                <c:pt idx="140">
                  <c:v>4250</c:v>
                </c:pt>
                <c:pt idx="141">
                  <c:v>3475</c:v>
                </c:pt>
                <c:pt idx="142">
                  <c:v>3450</c:v>
                </c:pt>
                <c:pt idx="143">
                  <c:v>3750</c:v>
                </c:pt>
                <c:pt idx="144">
                  <c:v>3700</c:v>
                </c:pt>
                <c:pt idx="145">
                  <c:v>4000</c:v>
                </c:pt>
              </c:numCache>
            </c:numRef>
          </c:yVal>
          <c:smooth val="0"/>
        </c:ser>
        <c:ser>
          <c:idx val="1"/>
          <c:order val="1"/>
          <c:tx>
            <c:strRef>
              <c:f>Sheet1!$C$1</c:f>
              <c:strCache>
                <c:ptCount val="1"/>
                <c:pt idx="0">
                  <c:v>Chinstrap</c:v>
                </c:pt>
              </c:strCache>
            </c:strRef>
          </c:tx>
          <c:spPr>
            <a:solidFill>
              <a:srgbClr val="2A6F97"/>
            </a:solidFill>
            <a:ln>
              <a:noFill/>
            </a:ln>
            <a:effectLst/>
          </c:spPr>
          <c:marker>
            <c:symbol val="circle"/>
            <c:size val="6"/>
            <c:spPr>
              <a:solidFill>
                <a:srgbClr val="2A6F97"/>
              </a:solidFill>
              <a:ln w="9525" cap="flat">
                <a:solidFill>
                  <a:srgbClr val="2A6F97"/>
                </a:solidFill>
                <a:prstDash val="solid"/>
                <a:round/>
              </a:ln>
              <a:effectLst/>
            </c:spPr>
          </c:marker>
          <c:trendline>
            <c:spPr>
              <a:ln w="28575" cap="rnd">
                <a:solidFill>
                  <a:srgbClr val="2A6F97"/>
                </a:solidFill>
              </a:ln>
            </c:spPr>
            <c:trendlineType val="linear"/>
            <c:dispRSqr val="0"/>
            <c:dispEq val="0"/>
          </c:trendline>
          <c:xVal>
            <c:numRef>
              <c:f>Sheet1!$A$2:$A$334</c:f>
              <c:numCache>
                <c:formatCode>General</c:formatCode>
                <c:ptCount val="333"/>
                <c:pt idx="146">
                  <c:v>17.9</c:v>
                </c:pt>
                <c:pt idx="147">
                  <c:v>19.5</c:v>
                </c:pt>
                <c:pt idx="148">
                  <c:v>19.2</c:v>
                </c:pt>
                <c:pt idx="149">
                  <c:v>18.7</c:v>
                </c:pt>
                <c:pt idx="150">
                  <c:v>19.8</c:v>
                </c:pt>
                <c:pt idx="151">
                  <c:v>17.8</c:v>
                </c:pt>
                <c:pt idx="152">
                  <c:v>18.2</c:v>
                </c:pt>
                <c:pt idx="153">
                  <c:v>18.2</c:v>
                </c:pt>
                <c:pt idx="154">
                  <c:v>18.9</c:v>
                </c:pt>
                <c:pt idx="155">
                  <c:v>19.9</c:v>
                </c:pt>
                <c:pt idx="156">
                  <c:v>17.8</c:v>
                </c:pt>
                <c:pt idx="157">
                  <c:v>20.3</c:v>
                </c:pt>
                <c:pt idx="158">
                  <c:v>17.3</c:v>
                </c:pt>
                <c:pt idx="159">
                  <c:v>18.1</c:v>
                </c:pt>
                <c:pt idx="160">
                  <c:v>17.1</c:v>
                </c:pt>
                <c:pt idx="161">
                  <c:v>19.6</c:v>
                </c:pt>
                <c:pt idx="162">
                  <c:v>20</c:v>
                </c:pt>
                <c:pt idx="163">
                  <c:v>17.8</c:v>
                </c:pt>
                <c:pt idx="164">
                  <c:v>18.6</c:v>
                </c:pt>
                <c:pt idx="165">
                  <c:v>18.2</c:v>
                </c:pt>
                <c:pt idx="166">
                  <c:v>17.3</c:v>
                </c:pt>
                <c:pt idx="167">
                  <c:v>17.5</c:v>
                </c:pt>
                <c:pt idx="168">
                  <c:v>16.6</c:v>
                </c:pt>
                <c:pt idx="169">
                  <c:v>19.4</c:v>
                </c:pt>
                <c:pt idx="170">
                  <c:v>17.9</c:v>
                </c:pt>
                <c:pt idx="171">
                  <c:v>19</c:v>
                </c:pt>
                <c:pt idx="172">
                  <c:v>18.4</c:v>
                </c:pt>
                <c:pt idx="173">
                  <c:v>19</c:v>
                </c:pt>
                <c:pt idx="174">
                  <c:v>17.8</c:v>
                </c:pt>
                <c:pt idx="175">
                  <c:v>20</c:v>
                </c:pt>
                <c:pt idx="176">
                  <c:v>16.6</c:v>
                </c:pt>
                <c:pt idx="177">
                  <c:v>20.8</c:v>
                </c:pt>
                <c:pt idx="178">
                  <c:v>16.7</c:v>
                </c:pt>
                <c:pt idx="179">
                  <c:v>18.8</c:v>
                </c:pt>
                <c:pt idx="180">
                  <c:v>18.6</c:v>
                </c:pt>
                <c:pt idx="181">
                  <c:v>16.8</c:v>
                </c:pt>
                <c:pt idx="182">
                  <c:v>18.3</c:v>
                </c:pt>
                <c:pt idx="183">
                  <c:v>20.7</c:v>
                </c:pt>
                <c:pt idx="184">
                  <c:v>16.6</c:v>
                </c:pt>
                <c:pt idx="185">
                  <c:v>19.9</c:v>
                </c:pt>
                <c:pt idx="186">
                  <c:v>19.5</c:v>
                </c:pt>
                <c:pt idx="187">
                  <c:v>17.5</c:v>
                </c:pt>
                <c:pt idx="188">
                  <c:v>19.1</c:v>
                </c:pt>
                <c:pt idx="189">
                  <c:v>17</c:v>
                </c:pt>
                <c:pt idx="190">
                  <c:v>17.9</c:v>
                </c:pt>
                <c:pt idx="191">
                  <c:v>18.5</c:v>
                </c:pt>
                <c:pt idx="192">
                  <c:v>17.9</c:v>
                </c:pt>
                <c:pt idx="193">
                  <c:v>19.6</c:v>
                </c:pt>
                <c:pt idx="194">
                  <c:v>18.7</c:v>
                </c:pt>
                <c:pt idx="195">
                  <c:v>17.3</c:v>
                </c:pt>
                <c:pt idx="196">
                  <c:v>16.4</c:v>
                </c:pt>
                <c:pt idx="197">
                  <c:v>19</c:v>
                </c:pt>
                <c:pt idx="198">
                  <c:v>17.3</c:v>
                </c:pt>
                <c:pt idx="199">
                  <c:v>19.7</c:v>
                </c:pt>
                <c:pt idx="200">
                  <c:v>17.3</c:v>
                </c:pt>
                <c:pt idx="201">
                  <c:v>18.8</c:v>
                </c:pt>
                <c:pt idx="202">
                  <c:v>16.6</c:v>
                </c:pt>
                <c:pt idx="203">
                  <c:v>19.9</c:v>
                </c:pt>
                <c:pt idx="204">
                  <c:v>18.8</c:v>
                </c:pt>
                <c:pt idx="205">
                  <c:v>19.4</c:v>
                </c:pt>
                <c:pt idx="206">
                  <c:v>19.5</c:v>
                </c:pt>
                <c:pt idx="207">
                  <c:v>16.5</c:v>
                </c:pt>
                <c:pt idx="208">
                  <c:v>17</c:v>
                </c:pt>
                <c:pt idx="209">
                  <c:v>19.8</c:v>
                </c:pt>
                <c:pt idx="210">
                  <c:v>18.1</c:v>
                </c:pt>
                <c:pt idx="211">
                  <c:v>18.2</c:v>
                </c:pt>
                <c:pt idx="212">
                  <c:v>19</c:v>
                </c:pt>
                <c:pt idx="213">
                  <c:v>18.7</c:v>
                </c:pt>
              </c:numCache>
            </c:numRef>
          </c:xVal>
          <c:yVal>
            <c:numRef>
              <c:f>Sheet1!$C$2:$C$334</c:f>
              <c:numCache>
                <c:formatCode>General</c:formatCode>
                <c:ptCount val="333"/>
                <c:pt idx="146">
                  <c:v>3500</c:v>
                </c:pt>
                <c:pt idx="147">
                  <c:v>3900</c:v>
                </c:pt>
                <c:pt idx="148">
                  <c:v>3650</c:v>
                </c:pt>
                <c:pt idx="149">
                  <c:v>3525</c:v>
                </c:pt>
                <c:pt idx="150">
                  <c:v>3725</c:v>
                </c:pt>
                <c:pt idx="151">
                  <c:v>3950</c:v>
                </c:pt>
                <c:pt idx="152">
                  <c:v>3250</c:v>
                </c:pt>
                <c:pt idx="153">
                  <c:v>3750</c:v>
                </c:pt>
                <c:pt idx="154">
                  <c:v>4150</c:v>
                </c:pt>
                <c:pt idx="155">
                  <c:v>3700</c:v>
                </c:pt>
                <c:pt idx="156">
                  <c:v>3800</c:v>
                </c:pt>
                <c:pt idx="157">
                  <c:v>3775</c:v>
                </c:pt>
                <c:pt idx="158">
                  <c:v>3700</c:v>
                </c:pt>
                <c:pt idx="159">
                  <c:v>4050</c:v>
                </c:pt>
                <c:pt idx="160">
                  <c:v>3575</c:v>
                </c:pt>
                <c:pt idx="161">
                  <c:v>4050</c:v>
                </c:pt>
                <c:pt idx="162">
                  <c:v>3300</c:v>
                </c:pt>
                <c:pt idx="163">
                  <c:v>3700</c:v>
                </c:pt>
                <c:pt idx="164">
                  <c:v>3450</c:v>
                </c:pt>
                <c:pt idx="165">
                  <c:v>4400</c:v>
                </c:pt>
                <c:pt idx="166">
                  <c:v>3600</c:v>
                </c:pt>
                <c:pt idx="167">
                  <c:v>3400</c:v>
                </c:pt>
                <c:pt idx="168">
                  <c:v>2900</c:v>
                </c:pt>
                <c:pt idx="169">
                  <c:v>3800</c:v>
                </c:pt>
                <c:pt idx="170">
                  <c:v>3300</c:v>
                </c:pt>
                <c:pt idx="171">
                  <c:v>4150</c:v>
                </c:pt>
                <c:pt idx="172">
                  <c:v>3400</c:v>
                </c:pt>
                <c:pt idx="173">
                  <c:v>3800</c:v>
                </c:pt>
                <c:pt idx="174">
                  <c:v>3700</c:v>
                </c:pt>
                <c:pt idx="175">
                  <c:v>4550</c:v>
                </c:pt>
                <c:pt idx="176">
                  <c:v>3200</c:v>
                </c:pt>
                <c:pt idx="177">
                  <c:v>4300</c:v>
                </c:pt>
                <c:pt idx="178">
                  <c:v>3350</c:v>
                </c:pt>
                <c:pt idx="179">
                  <c:v>4100</c:v>
                </c:pt>
                <c:pt idx="180">
                  <c:v>3600</c:v>
                </c:pt>
                <c:pt idx="181">
                  <c:v>3900</c:v>
                </c:pt>
                <c:pt idx="182">
                  <c:v>3850</c:v>
                </c:pt>
                <c:pt idx="183">
                  <c:v>4800</c:v>
                </c:pt>
                <c:pt idx="184">
                  <c:v>2700</c:v>
                </c:pt>
                <c:pt idx="185">
                  <c:v>4500</c:v>
                </c:pt>
                <c:pt idx="186">
                  <c:v>3950</c:v>
                </c:pt>
                <c:pt idx="187">
                  <c:v>3650</c:v>
                </c:pt>
                <c:pt idx="188">
                  <c:v>3550</c:v>
                </c:pt>
                <c:pt idx="189">
                  <c:v>3500</c:v>
                </c:pt>
                <c:pt idx="190">
                  <c:v>3675</c:v>
                </c:pt>
                <c:pt idx="191">
                  <c:v>4450</c:v>
                </c:pt>
                <c:pt idx="192">
                  <c:v>3400</c:v>
                </c:pt>
                <c:pt idx="193">
                  <c:v>4300</c:v>
                </c:pt>
                <c:pt idx="194">
                  <c:v>3250</c:v>
                </c:pt>
                <c:pt idx="195">
                  <c:v>3675</c:v>
                </c:pt>
                <c:pt idx="196">
                  <c:v>3325</c:v>
                </c:pt>
                <c:pt idx="197">
                  <c:v>3950</c:v>
                </c:pt>
                <c:pt idx="198">
                  <c:v>3600</c:v>
                </c:pt>
                <c:pt idx="199">
                  <c:v>4050</c:v>
                </c:pt>
                <c:pt idx="200">
                  <c:v>3350</c:v>
                </c:pt>
                <c:pt idx="201">
                  <c:v>3450</c:v>
                </c:pt>
                <c:pt idx="202">
                  <c:v>3250</c:v>
                </c:pt>
                <c:pt idx="203">
                  <c:v>4050</c:v>
                </c:pt>
                <c:pt idx="204">
                  <c:v>3800</c:v>
                </c:pt>
                <c:pt idx="205">
                  <c:v>3525</c:v>
                </c:pt>
                <c:pt idx="206">
                  <c:v>3950</c:v>
                </c:pt>
                <c:pt idx="207">
                  <c:v>3650</c:v>
                </c:pt>
                <c:pt idx="208">
                  <c:v>3650</c:v>
                </c:pt>
                <c:pt idx="209">
                  <c:v>4000</c:v>
                </c:pt>
                <c:pt idx="210">
                  <c:v>3400</c:v>
                </c:pt>
                <c:pt idx="211">
                  <c:v>3775</c:v>
                </c:pt>
                <c:pt idx="212">
                  <c:v>4100</c:v>
                </c:pt>
                <c:pt idx="213">
                  <c:v>3775</c:v>
                </c:pt>
              </c:numCache>
            </c:numRef>
          </c:yVal>
          <c:smooth val="0"/>
        </c:ser>
        <c:ser>
          <c:idx val="2"/>
          <c:order val="2"/>
          <c:tx>
            <c:strRef>
              <c:f>Sheet1!$D$1</c:f>
              <c:strCache>
                <c:ptCount val="1"/>
                <c:pt idx="0">
                  <c:v>Gentoo</c:v>
                </c:pt>
              </c:strCache>
            </c:strRef>
          </c:tx>
          <c:spPr>
            <a:solidFill>
              <a:srgbClr val="2A9D6F"/>
            </a:solidFill>
            <a:ln>
              <a:noFill/>
            </a:ln>
            <a:effectLst/>
          </c:spPr>
          <c:marker>
            <c:symbol val="circle"/>
            <c:size val="6"/>
            <c:spPr>
              <a:solidFill>
                <a:srgbClr val="2A9D6F"/>
              </a:solidFill>
              <a:ln w="9525" cap="flat">
                <a:solidFill>
                  <a:srgbClr val="2A9D6F"/>
                </a:solidFill>
                <a:prstDash val="solid"/>
                <a:round/>
              </a:ln>
              <a:effectLst/>
            </c:spPr>
          </c:marker>
          <c:trendline>
            <c:spPr>
              <a:ln w="28575" cap="rnd">
                <a:solidFill>
                  <a:srgbClr val="2A9D6F"/>
                </a:solidFill>
              </a:ln>
            </c:spPr>
            <c:trendlineType val="linear"/>
            <c:dispRSqr val="0"/>
            <c:dispEq val="0"/>
          </c:trendline>
          <c:xVal>
            <c:numRef>
              <c:f>Sheet1!$A$2:$A$334</c:f>
              <c:numCache>
                <c:formatCode>General</c:formatCode>
                <c:ptCount val="333"/>
                <c:pt idx="214">
                  <c:v>13.2</c:v>
                </c:pt>
                <c:pt idx="215">
                  <c:v>16.3</c:v>
                </c:pt>
                <c:pt idx="216">
                  <c:v>14.1</c:v>
                </c:pt>
                <c:pt idx="217">
                  <c:v>15.2</c:v>
                </c:pt>
                <c:pt idx="218">
                  <c:v>14.5</c:v>
                </c:pt>
                <c:pt idx="219">
                  <c:v>13.5</c:v>
                </c:pt>
                <c:pt idx="220">
                  <c:v>14.6</c:v>
                </c:pt>
                <c:pt idx="221">
                  <c:v>15.3</c:v>
                </c:pt>
                <c:pt idx="222">
                  <c:v>13.4</c:v>
                </c:pt>
                <c:pt idx="223">
                  <c:v>15.4</c:v>
                </c:pt>
                <c:pt idx="224">
                  <c:v>13.7</c:v>
                </c:pt>
                <c:pt idx="225">
                  <c:v>16.1</c:v>
                </c:pt>
                <c:pt idx="226">
                  <c:v>13.7</c:v>
                </c:pt>
                <c:pt idx="227">
                  <c:v>14.6</c:v>
                </c:pt>
                <c:pt idx="228">
                  <c:v>14.6</c:v>
                </c:pt>
                <c:pt idx="229">
                  <c:v>15.7</c:v>
                </c:pt>
                <c:pt idx="230">
                  <c:v>13.5</c:v>
                </c:pt>
                <c:pt idx="231">
                  <c:v>15.2</c:v>
                </c:pt>
                <c:pt idx="232">
                  <c:v>14.5</c:v>
                </c:pt>
                <c:pt idx="233">
                  <c:v>15.1</c:v>
                </c:pt>
                <c:pt idx="234">
                  <c:v>14.3</c:v>
                </c:pt>
                <c:pt idx="235">
                  <c:v>14.5</c:v>
                </c:pt>
                <c:pt idx="236">
                  <c:v>14.5</c:v>
                </c:pt>
                <c:pt idx="237">
                  <c:v>15.8</c:v>
                </c:pt>
                <c:pt idx="238">
                  <c:v>13.1</c:v>
                </c:pt>
                <c:pt idx="239">
                  <c:v>15.1</c:v>
                </c:pt>
                <c:pt idx="240">
                  <c:v>15</c:v>
                </c:pt>
                <c:pt idx="241">
                  <c:v>14.3</c:v>
                </c:pt>
                <c:pt idx="242">
                  <c:v>15.3</c:v>
                </c:pt>
                <c:pt idx="243">
                  <c:v>15.3</c:v>
                </c:pt>
                <c:pt idx="244">
                  <c:v>14.2</c:v>
                </c:pt>
                <c:pt idx="245">
                  <c:v>14.5</c:v>
                </c:pt>
                <c:pt idx="246">
                  <c:v>17</c:v>
                </c:pt>
                <c:pt idx="247">
                  <c:v>14.8</c:v>
                </c:pt>
                <c:pt idx="248">
                  <c:v>16.3</c:v>
                </c:pt>
                <c:pt idx="249">
                  <c:v>13.7</c:v>
                </c:pt>
                <c:pt idx="250">
                  <c:v>17.3</c:v>
                </c:pt>
                <c:pt idx="251">
                  <c:v>13.6</c:v>
                </c:pt>
                <c:pt idx="252">
                  <c:v>15.7</c:v>
                </c:pt>
                <c:pt idx="253">
                  <c:v>13.7</c:v>
                </c:pt>
                <c:pt idx="254">
                  <c:v>16</c:v>
                </c:pt>
                <c:pt idx="255">
                  <c:v>13.7</c:v>
                </c:pt>
                <c:pt idx="256">
                  <c:v>15</c:v>
                </c:pt>
                <c:pt idx="257">
                  <c:v>15.9</c:v>
                </c:pt>
                <c:pt idx="258">
                  <c:v>13.9</c:v>
                </c:pt>
                <c:pt idx="259">
                  <c:v>13.9</c:v>
                </c:pt>
                <c:pt idx="260">
                  <c:v>15.9</c:v>
                </c:pt>
                <c:pt idx="261">
                  <c:v>13.3</c:v>
                </c:pt>
                <c:pt idx="262">
                  <c:v>15.8</c:v>
                </c:pt>
                <c:pt idx="263">
                  <c:v>14.2</c:v>
                </c:pt>
                <c:pt idx="264">
                  <c:v>14.1</c:v>
                </c:pt>
                <c:pt idx="265">
                  <c:v>14.4</c:v>
                </c:pt>
                <c:pt idx="266">
                  <c:v>15</c:v>
                </c:pt>
                <c:pt idx="267">
                  <c:v>14.4</c:v>
                </c:pt>
                <c:pt idx="268">
                  <c:v>15.4</c:v>
                </c:pt>
                <c:pt idx="269">
                  <c:v>13.9</c:v>
                </c:pt>
                <c:pt idx="270">
                  <c:v>15</c:v>
                </c:pt>
                <c:pt idx="271">
                  <c:v>14.5</c:v>
                </c:pt>
                <c:pt idx="272">
                  <c:v>15.3</c:v>
                </c:pt>
                <c:pt idx="273">
                  <c:v>13.8</c:v>
                </c:pt>
                <c:pt idx="274">
                  <c:v>14.9</c:v>
                </c:pt>
                <c:pt idx="275">
                  <c:v>13.9</c:v>
                </c:pt>
                <c:pt idx="276">
                  <c:v>15.7</c:v>
                </c:pt>
                <c:pt idx="277">
                  <c:v>14.2</c:v>
                </c:pt>
                <c:pt idx="278">
                  <c:v>16.8</c:v>
                </c:pt>
                <c:pt idx="279">
                  <c:v>16.2</c:v>
                </c:pt>
                <c:pt idx="280">
                  <c:v>14.2</c:v>
                </c:pt>
                <c:pt idx="281">
                  <c:v>15</c:v>
                </c:pt>
                <c:pt idx="282">
                  <c:v>15</c:v>
                </c:pt>
                <c:pt idx="283">
                  <c:v>15.6</c:v>
                </c:pt>
                <c:pt idx="284">
                  <c:v>15.6</c:v>
                </c:pt>
                <c:pt idx="285">
                  <c:v>14.8</c:v>
                </c:pt>
                <c:pt idx="286">
                  <c:v>15</c:v>
                </c:pt>
                <c:pt idx="287">
                  <c:v>16</c:v>
                </c:pt>
                <c:pt idx="288">
                  <c:v>14.2</c:v>
                </c:pt>
                <c:pt idx="289">
                  <c:v>16.3</c:v>
                </c:pt>
                <c:pt idx="290">
                  <c:v>13.8</c:v>
                </c:pt>
                <c:pt idx="291">
                  <c:v>16.4</c:v>
                </c:pt>
                <c:pt idx="292">
                  <c:v>14.5</c:v>
                </c:pt>
                <c:pt idx="293">
                  <c:v>15.6</c:v>
                </c:pt>
                <c:pt idx="294">
                  <c:v>14.6</c:v>
                </c:pt>
                <c:pt idx="295">
                  <c:v>15.9</c:v>
                </c:pt>
                <c:pt idx="296">
                  <c:v>13.8</c:v>
                </c:pt>
                <c:pt idx="297">
                  <c:v>17.3</c:v>
                </c:pt>
                <c:pt idx="298">
                  <c:v>14.4</c:v>
                </c:pt>
                <c:pt idx="299">
                  <c:v>14.2</c:v>
                </c:pt>
                <c:pt idx="300">
                  <c:v>14</c:v>
                </c:pt>
                <c:pt idx="301">
                  <c:v>17</c:v>
                </c:pt>
                <c:pt idx="302">
                  <c:v>15</c:v>
                </c:pt>
                <c:pt idx="303">
                  <c:v>17.1</c:v>
                </c:pt>
                <c:pt idx="304">
                  <c:v>14.5</c:v>
                </c:pt>
                <c:pt idx="305">
                  <c:v>16.1</c:v>
                </c:pt>
                <c:pt idx="306">
                  <c:v>14.7</c:v>
                </c:pt>
                <c:pt idx="307">
                  <c:v>15.7</c:v>
                </c:pt>
                <c:pt idx="308">
                  <c:v>15.8</c:v>
                </c:pt>
                <c:pt idx="309">
                  <c:v>14.6</c:v>
                </c:pt>
                <c:pt idx="310">
                  <c:v>14.4</c:v>
                </c:pt>
                <c:pt idx="311">
                  <c:v>16.5</c:v>
                </c:pt>
                <c:pt idx="312">
                  <c:v>15</c:v>
                </c:pt>
                <c:pt idx="313">
                  <c:v>17</c:v>
                </c:pt>
                <c:pt idx="314">
                  <c:v>15.5</c:v>
                </c:pt>
                <c:pt idx="315">
                  <c:v>15</c:v>
                </c:pt>
                <c:pt idx="316">
                  <c:v>16.1</c:v>
                </c:pt>
                <c:pt idx="317">
                  <c:v>14.7</c:v>
                </c:pt>
                <c:pt idx="318">
                  <c:v>15.8</c:v>
                </c:pt>
                <c:pt idx="319">
                  <c:v>14</c:v>
                </c:pt>
                <c:pt idx="320">
                  <c:v>15.1</c:v>
                </c:pt>
                <c:pt idx="321">
                  <c:v>15.2</c:v>
                </c:pt>
                <c:pt idx="322">
                  <c:v>15.9</c:v>
                </c:pt>
                <c:pt idx="323">
                  <c:v>15.2</c:v>
                </c:pt>
                <c:pt idx="324">
                  <c:v>16.3</c:v>
                </c:pt>
                <c:pt idx="325">
                  <c:v>14.1</c:v>
                </c:pt>
                <c:pt idx="326">
                  <c:v>16</c:v>
                </c:pt>
                <c:pt idx="327">
                  <c:v>16.2</c:v>
                </c:pt>
                <c:pt idx="328">
                  <c:v>13.7</c:v>
                </c:pt>
                <c:pt idx="329">
                  <c:v>14.3</c:v>
                </c:pt>
                <c:pt idx="330">
                  <c:v>15.7</c:v>
                </c:pt>
                <c:pt idx="331">
                  <c:v>14.8</c:v>
                </c:pt>
                <c:pt idx="332">
                  <c:v>16.1</c:v>
                </c:pt>
              </c:numCache>
            </c:numRef>
          </c:xVal>
          <c:yVal>
            <c:numRef>
              <c:f>Sheet1!$D$2:$D$334</c:f>
              <c:numCache>
                <c:formatCode>General</c:formatCode>
                <c:ptCount val="333"/>
                <c:pt idx="214">
                  <c:v>4500</c:v>
                </c:pt>
                <c:pt idx="215">
                  <c:v>5700</c:v>
                </c:pt>
                <c:pt idx="216">
                  <c:v>4450</c:v>
                </c:pt>
                <c:pt idx="217">
                  <c:v>5700</c:v>
                </c:pt>
                <c:pt idx="218">
                  <c:v>5400</c:v>
                </c:pt>
                <c:pt idx="219">
                  <c:v>4550</c:v>
                </c:pt>
                <c:pt idx="220">
                  <c:v>4800</c:v>
                </c:pt>
                <c:pt idx="221">
                  <c:v>5200</c:v>
                </c:pt>
                <c:pt idx="222">
                  <c:v>4400</c:v>
                </c:pt>
                <c:pt idx="223">
                  <c:v>5150</c:v>
                </c:pt>
                <c:pt idx="224">
                  <c:v>4650</c:v>
                </c:pt>
                <c:pt idx="225">
                  <c:v>5550</c:v>
                </c:pt>
                <c:pt idx="226">
                  <c:v>4650</c:v>
                </c:pt>
                <c:pt idx="227">
                  <c:v>5850</c:v>
                </c:pt>
                <c:pt idx="228">
                  <c:v>4200</c:v>
                </c:pt>
                <c:pt idx="229">
                  <c:v>5850</c:v>
                </c:pt>
                <c:pt idx="230">
                  <c:v>4150</c:v>
                </c:pt>
                <c:pt idx="231">
                  <c:v>6300</c:v>
                </c:pt>
                <c:pt idx="232">
                  <c:v>4800</c:v>
                </c:pt>
                <c:pt idx="233">
                  <c:v>5350</c:v>
                </c:pt>
                <c:pt idx="234">
                  <c:v>5700</c:v>
                </c:pt>
                <c:pt idx="235">
                  <c:v>5000</c:v>
                </c:pt>
                <c:pt idx="236">
                  <c:v>4400</c:v>
                </c:pt>
                <c:pt idx="237">
                  <c:v>5050</c:v>
                </c:pt>
                <c:pt idx="238">
                  <c:v>5000</c:v>
                </c:pt>
                <c:pt idx="239">
                  <c:v>5100</c:v>
                </c:pt>
                <c:pt idx="240">
                  <c:v>5650</c:v>
                </c:pt>
                <c:pt idx="241">
                  <c:v>4600</c:v>
                </c:pt>
                <c:pt idx="242">
                  <c:v>5550</c:v>
                </c:pt>
                <c:pt idx="243">
                  <c:v>5250</c:v>
                </c:pt>
                <c:pt idx="244">
                  <c:v>4700</c:v>
                </c:pt>
                <c:pt idx="245">
                  <c:v>5050</c:v>
                </c:pt>
                <c:pt idx="246">
                  <c:v>6050</c:v>
                </c:pt>
                <c:pt idx="247">
                  <c:v>5150</c:v>
                </c:pt>
                <c:pt idx="248">
                  <c:v>5400</c:v>
                </c:pt>
                <c:pt idx="249">
                  <c:v>4950</c:v>
                </c:pt>
                <c:pt idx="250">
                  <c:v>5250</c:v>
                </c:pt>
                <c:pt idx="251">
                  <c:v>4350</c:v>
                </c:pt>
                <c:pt idx="252">
                  <c:v>5350</c:v>
                </c:pt>
                <c:pt idx="253">
                  <c:v>3950</c:v>
                </c:pt>
                <c:pt idx="254">
                  <c:v>5700</c:v>
                </c:pt>
                <c:pt idx="255">
                  <c:v>4300</c:v>
                </c:pt>
                <c:pt idx="256">
                  <c:v>4750</c:v>
                </c:pt>
                <c:pt idx="257">
                  <c:v>5550</c:v>
                </c:pt>
                <c:pt idx="258">
                  <c:v>4900</c:v>
                </c:pt>
                <c:pt idx="259">
                  <c:v>4200</c:v>
                </c:pt>
                <c:pt idx="260">
                  <c:v>5400</c:v>
                </c:pt>
                <c:pt idx="261">
                  <c:v>5100</c:v>
                </c:pt>
                <c:pt idx="262">
                  <c:v>5300</c:v>
                </c:pt>
                <c:pt idx="263">
                  <c:v>4850</c:v>
                </c:pt>
                <c:pt idx="264">
                  <c:v>5300</c:v>
                </c:pt>
                <c:pt idx="265">
                  <c:v>4400</c:v>
                </c:pt>
                <c:pt idx="266">
                  <c:v>5000</c:v>
                </c:pt>
                <c:pt idx="267">
                  <c:v>4900</c:v>
                </c:pt>
                <c:pt idx="268">
                  <c:v>5050</c:v>
                </c:pt>
                <c:pt idx="269">
                  <c:v>4300</c:v>
                </c:pt>
                <c:pt idx="270">
                  <c:v>5000</c:v>
                </c:pt>
                <c:pt idx="271">
                  <c:v>4450</c:v>
                </c:pt>
                <c:pt idx="272">
                  <c:v>5550</c:v>
                </c:pt>
                <c:pt idx="273">
                  <c:v>4200</c:v>
                </c:pt>
                <c:pt idx="274">
                  <c:v>5300</c:v>
                </c:pt>
                <c:pt idx="275">
                  <c:v>4400</c:v>
                </c:pt>
                <c:pt idx="276">
                  <c:v>5650</c:v>
                </c:pt>
                <c:pt idx="277">
                  <c:v>4700</c:v>
                </c:pt>
                <c:pt idx="278">
                  <c:v>5700</c:v>
                </c:pt>
                <c:pt idx="279">
                  <c:v>5800</c:v>
                </c:pt>
                <c:pt idx="280">
                  <c:v>4700</c:v>
                </c:pt>
                <c:pt idx="281">
                  <c:v>5550</c:v>
                </c:pt>
                <c:pt idx="282">
                  <c:v>4750</c:v>
                </c:pt>
                <c:pt idx="283">
                  <c:v>5000</c:v>
                </c:pt>
                <c:pt idx="284">
                  <c:v>5100</c:v>
                </c:pt>
                <c:pt idx="285">
                  <c:v>5200</c:v>
                </c:pt>
                <c:pt idx="286">
                  <c:v>4700</c:v>
                </c:pt>
                <c:pt idx="287">
                  <c:v>5800</c:v>
                </c:pt>
                <c:pt idx="288">
                  <c:v>4600</c:v>
                </c:pt>
                <c:pt idx="289">
                  <c:v>6000</c:v>
                </c:pt>
                <c:pt idx="290">
                  <c:v>4750</c:v>
                </c:pt>
                <c:pt idx="291">
                  <c:v>5950</c:v>
                </c:pt>
                <c:pt idx="292">
                  <c:v>4625</c:v>
                </c:pt>
                <c:pt idx="293">
                  <c:v>5450</c:v>
                </c:pt>
                <c:pt idx="294">
                  <c:v>4725</c:v>
                </c:pt>
                <c:pt idx="295">
                  <c:v>5350</c:v>
                </c:pt>
                <c:pt idx="296">
                  <c:v>4750</c:v>
                </c:pt>
                <c:pt idx="297">
                  <c:v>5600</c:v>
                </c:pt>
                <c:pt idx="298">
                  <c:v>4600</c:v>
                </c:pt>
                <c:pt idx="299">
                  <c:v>5300</c:v>
                </c:pt>
                <c:pt idx="300">
                  <c:v>4875</c:v>
                </c:pt>
                <c:pt idx="301">
                  <c:v>5550</c:v>
                </c:pt>
                <c:pt idx="302">
                  <c:v>4950</c:v>
                </c:pt>
                <c:pt idx="303">
                  <c:v>5400</c:v>
                </c:pt>
                <c:pt idx="304">
                  <c:v>4750</c:v>
                </c:pt>
                <c:pt idx="305">
                  <c:v>5650</c:v>
                </c:pt>
                <c:pt idx="306">
                  <c:v>4850</c:v>
                </c:pt>
                <c:pt idx="307">
                  <c:v>5200</c:v>
                </c:pt>
                <c:pt idx="308">
                  <c:v>4925</c:v>
                </c:pt>
                <c:pt idx="309">
                  <c:v>4875</c:v>
                </c:pt>
                <c:pt idx="310">
                  <c:v>4625</c:v>
                </c:pt>
                <c:pt idx="311">
                  <c:v>5250</c:v>
                </c:pt>
                <c:pt idx="312">
                  <c:v>4850</c:v>
                </c:pt>
                <c:pt idx="313">
                  <c:v>5600</c:v>
                </c:pt>
                <c:pt idx="314">
                  <c:v>4975</c:v>
                </c:pt>
                <c:pt idx="315">
                  <c:v>5500</c:v>
                </c:pt>
                <c:pt idx="316">
                  <c:v>5500</c:v>
                </c:pt>
                <c:pt idx="317">
                  <c:v>4700</c:v>
                </c:pt>
                <c:pt idx="318">
                  <c:v>5500</c:v>
                </c:pt>
                <c:pt idx="319">
                  <c:v>4575</c:v>
                </c:pt>
                <c:pt idx="320">
                  <c:v>5500</c:v>
                </c:pt>
                <c:pt idx="321">
                  <c:v>5000</c:v>
                </c:pt>
                <c:pt idx="322">
                  <c:v>5950</c:v>
                </c:pt>
                <c:pt idx="323">
                  <c:v>4650</c:v>
                </c:pt>
                <c:pt idx="324">
                  <c:v>5500</c:v>
                </c:pt>
                <c:pt idx="325">
                  <c:v>4375</c:v>
                </c:pt>
                <c:pt idx="326">
                  <c:v>5850</c:v>
                </c:pt>
                <c:pt idx="327">
                  <c:v>6000</c:v>
                </c:pt>
                <c:pt idx="328">
                  <c:v>4925</c:v>
                </c:pt>
                <c:pt idx="329">
                  <c:v>4850</c:v>
                </c:pt>
                <c:pt idx="330">
                  <c:v>5750</c:v>
                </c:pt>
                <c:pt idx="331">
                  <c:v>5200</c:v>
                </c:pt>
                <c:pt idx="332">
                  <c:v>5400</c:v>
                </c:pt>
              </c:numCache>
            </c:numRef>
          </c:yVal>
          <c:smooth val="0"/>
        </c:ser>
        <c:ser>
          <c:idx val="3"/>
          <c:order val="3"/>
          <c:tx>
            <c:strRef>
              <c:f>Sheet1!$E$1</c:f>
              <c:strCache>
                <c:ptCount val="1"/>
                <c:pt idx="0">
                  <c:v>All penguins</c:v>
                </c:pt>
              </c:strCache>
            </c:strRef>
          </c:tx>
          <c:spPr>
            <a:solidFill>
              <a:srgbClr val="E07A1F"/>
            </a:solidFill>
            <a:ln>
              <a:noFill/>
            </a:ln>
            <a:effectLst/>
          </c:spPr>
          <c:marker>
            <c:symbol val="none"/>
          </c:marker>
          <c:trendline>
            <c:spPr>
              <a:ln w="38100" cap="rnd">
                <a:solidFill>
                  <a:srgbClr val="E07A1F"/>
                </a:solidFill>
              </a:ln>
            </c:spPr>
            <c:trendlineType val="linear"/>
            <c:dispRSqr val="0"/>
            <c:dispEq val="0"/>
          </c:trendline>
          <c:xVal>
            <c:numRef>
              <c:f>Sheet1!$A$2:$A$334</c:f>
              <c:numCache>
                <c:formatCode>General</c:formatCode>
                <c:ptCount val="333"/>
                <c:pt idx="0">
                  <c:v>18.7</c:v>
                </c:pt>
                <c:pt idx="1">
                  <c:v>17.4</c:v>
                </c:pt>
                <c:pt idx="2">
                  <c:v>18</c:v>
                </c:pt>
                <c:pt idx="3">
                  <c:v>19.3</c:v>
                </c:pt>
                <c:pt idx="4">
                  <c:v>20.6</c:v>
                </c:pt>
                <c:pt idx="5">
                  <c:v>17.8</c:v>
                </c:pt>
                <c:pt idx="6">
                  <c:v>19.6</c:v>
                </c:pt>
                <c:pt idx="7">
                  <c:v>17.6</c:v>
                </c:pt>
                <c:pt idx="8">
                  <c:v>21.2</c:v>
                </c:pt>
                <c:pt idx="9">
                  <c:v>21.1</c:v>
                </c:pt>
                <c:pt idx="10">
                  <c:v>17.8</c:v>
                </c:pt>
                <c:pt idx="11">
                  <c:v>19</c:v>
                </c:pt>
                <c:pt idx="12">
                  <c:v>20.7</c:v>
                </c:pt>
                <c:pt idx="13">
                  <c:v>18.4</c:v>
                </c:pt>
                <c:pt idx="14">
                  <c:v>21.5</c:v>
                </c:pt>
                <c:pt idx="15">
                  <c:v>18.3</c:v>
                </c:pt>
                <c:pt idx="16">
                  <c:v>18.7</c:v>
                </c:pt>
                <c:pt idx="17">
                  <c:v>19.2</c:v>
                </c:pt>
                <c:pt idx="18">
                  <c:v>18.1</c:v>
                </c:pt>
                <c:pt idx="19">
                  <c:v>17.2</c:v>
                </c:pt>
                <c:pt idx="20">
                  <c:v>18.9</c:v>
                </c:pt>
                <c:pt idx="21">
                  <c:v>18.6</c:v>
                </c:pt>
                <c:pt idx="22">
                  <c:v>17.9</c:v>
                </c:pt>
                <c:pt idx="23">
                  <c:v>18.6</c:v>
                </c:pt>
                <c:pt idx="24">
                  <c:v>18.9</c:v>
                </c:pt>
                <c:pt idx="25">
                  <c:v>16.7</c:v>
                </c:pt>
                <c:pt idx="26">
                  <c:v>18.1</c:v>
                </c:pt>
                <c:pt idx="27">
                  <c:v>17.8</c:v>
                </c:pt>
                <c:pt idx="28">
                  <c:v>18.9</c:v>
                </c:pt>
                <c:pt idx="29">
                  <c:v>17</c:v>
                </c:pt>
                <c:pt idx="30">
                  <c:v>21.1</c:v>
                </c:pt>
                <c:pt idx="31">
                  <c:v>20</c:v>
                </c:pt>
                <c:pt idx="32">
                  <c:v>18.5</c:v>
                </c:pt>
                <c:pt idx="33">
                  <c:v>19.3</c:v>
                </c:pt>
                <c:pt idx="34">
                  <c:v>19.1</c:v>
                </c:pt>
                <c:pt idx="35">
                  <c:v>18</c:v>
                </c:pt>
                <c:pt idx="36">
                  <c:v>18.4</c:v>
                </c:pt>
                <c:pt idx="37">
                  <c:v>18.5</c:v>
                </c:pt>
                <c:pt idx="38">
                  <c:v>19.7</c:v>
                </c:pt>
                <c:pt idx="39">
                  <c:v>16.9</c:v>
                </c:pt>
                <c:pt idx="40">
                  <c:v>18.8</c:v>
                </c:pt>
                <c:pt idx="41">
                  <c:v>19</c:v>
                </c:pt>
                <c:pt idx="42">
                  <c:v>17.9</c:v>
                </c:pt>
                <c:pt idx="43">
                  <c:v>21.2</c:v>
                </c:pt>
                <c:pt idx="44">
                  <c:v>17.7</c:v>
                </c:pt>
                <c:pt idx="45">
                  <c:v>18.9</c:v>
                </c:pt>
                <c:pt idx="46">
                  <c:v>17.9</c:v>
                </c:pt>
                <c:pt idx="47">
                  <c:v>19.5</c:v>
                </c:pt>
                <c:pt idx="48">
                  <c:v>18.1</c:v>
                </c:pt>
                <c:pt idx="49">
                  <c:v>18.6</c:v>
                </c:pt>
                <c:pt idx="50">
                  <c:v>17.5</c:v>
                </c:pt>
                <c:pt idx="51">
                  <c:v>18.8</c:v>
                </c:pt>
                <c:pt idx="52">
                  <c:v>16.6</c:v>
                </c:pt>
                <c:pt idx="53">
                  <c:v>19.1</c:v>
                </c:pt>
                <c:pt idx="54">
                  <c:v>16.9</c:v>
                </c:pt>
                <c:pt idx="55">
                  <c:v>21.1</c:v>
                </c:pt>
                <c:pt idx="56">
                  <c:v>17</c:v>
                </c:pt>
                <c:pt idx="57">
                  <c:v>18.2</c:v>
                </c:pt>
                <c:pt idx="58">
                  <c:v>17.1</c:v>
                </c:pt>
                <c:pt idx="59">
                  <c:v>18</c:v>
                </c:pt>
                <c:pt idx="60">
                  <c:v>16.2</c:v>
                </c:pt>
                <c:pt idx="61">
                  <c:v>19.1</c:v>
                </c:pt>
                <c:pt idx="62">
                  <c:v>16.6</c:v>
                </c:pt>
                <c:pt idx="63">
                  <c:v>19.4</c:v>
                </c:pt>
                <c:pt idx="64">
                  <c:v>19</c:v>
                </c:pt>
                <c:pt idx="65">
                  <c:v>18.4</c:v>
                </c:pt>
                <c:pt idx="66">
                  <c:v>17.2</c:v>
                </c:pt>
                <c:pt idx="67">
                  <c:v>18.9</c:v>
                </c:pt>
                <c:pt idx="68">
                  <c:v>17.5</c:v>
                </c:pt>
                <c:pt idx="69">
                  <c:v>18.5</c:v>
                </c:pt>
                <c:pt idx="70">
                  <c:v>16.8</c:v>
                </c:pt>
                <c:pt idx="71">
                  <c:v>19.4</c:v>
                </c:pt>
                <c:pt idx="72">
                  <c:v>16.1</c:v>
                </c:pt>
                <c:pt idx="73">
                  <c:v>19.1</c:v>
                </c:pt>
                <c:pt idx="74">
                  <c:v>17.2</c:v>
                </c:pt>
                <c:pt idx="75">
                  <c:v>17.6</c:v>
                </c:pt>
                <c:pt idx="76">
                  <c:v>18.8</c:v>
                </c:pt>
                <c:pt idx="77">
                  <c:v>19.4</c:v>
                </c:pt>
                <c:pt idx="78">
                  <c:v>17.8</c:v>
                </c:pt>
                <c:pt idx="79">
                  <c:v>20.3</c:v>
                </c:pt>
                <c:pt idx="80">
                  <c:v>19.5</c:v>
                </c:pt>
                <c:pt idx="81">
                  <c:v>18.6</c:v>
                </c:pt>
                <c:pt idx="82">
                  <c:v>19.2</c:v>
                </c:pt>
                <c:pt idx="83">
                  <c:v>18.8</c:v>
                </c:pt>
                <c:pt idx="84">
                  <c:v>18</c:v>
                </c:pt>
                <c:pt idx="85">
                  <c:v>18.1</c:v>
                </c:pt>
                <c:pt idx="86">
                  <c:v>17.1</c:v>
                </c:pt>
                <c:pt idx="87">
                  <c:v>18.1</c:v>
                </c:pt>
                <c:pt idx="88">
                  <c:v>17.3</c:v>
                </c:pt>
                <c:pt idx="89">
                  <c:v>18.9</c:v>
                </c:pt>
                <c:pt idx="90">
                  <c:v>18.6</c:v>
                </c:pt>
                <c:pt idx="91">
                  <c:v>18.5</c:v>
                </c:pt>
                <c:pt idx="92">
                  <c:v>16.1</c:v>
                </c:pt>
                <c:pt idx="93">
                  <c:v>18.5</c:v>
                </c:pt>
                <c:pt idx="94">
                  <c:v>17.9</c:v>
                </c:pt>
                <c:pt idx="95">
                  <c:v>20</c:v>
                </c:pt>
                <c:pt idx="96">
                  <c:v>16</c:v>
                </c:pt>
                <c:pt idx="97">
                  <c:v>20</c:v>
                </c:pt>
                <c:pt idx="98">
                  <c:v>18.6</c:v>
                </c:pt>
                <c:pt idx="99">
                  <c:v>18.9</c:v>
                </c:pt>
                <c:pt idx="100">
                  <c:v>17.2</c:v>
                </c:pt>
                <c:pt idx="101">
                  <c:v>20</c:v>
                </c:pt>
                <c:pt idx="102">
                  <c:v>17</c:v>
                </c:pt>
                <c:pt idx="103">
                  <c:v>19</c:v>
                </c:pt>
                <c:pt idx="104">
                  <c:v>16.5</c:v>
                </c:pt>
                <c:pt idx="105">
                  <c:v>20.3</c:v>
                </c:pt>
                <c:pt idx="106">
                  <c:v>17.7</c:v>
                </c:pt>
                <c:pt idx="107">
                  <c:v>19.5</c:v>
                </c:pt>
                <c:pt idx="108">
                  <c:v>20.7</c:v>
                </c:pt>
                <c:pt idx="109">
                  <c:v>18.3</c:v>
                </c:pt>
                <c:pt idx="110">
                  <c:v>17</c:v>
                </c:pt>
                <c:pt idx="111">
                  <c:v>20.5</c:v>
                </c:pt>
                <c:pt idx="112">
                  <c:v>17</c:v>
                </c:pt>
                <c:pt idx="113">
                  <c:v>18.6</c:v>
                </c:pt>
                <c:pt idx="114">
                  <c:v>17.2</c:v>
                </c:pt>
                <c:pt idx="115">
                  <c:v>19.8</c:v>
                </c:pt>
                <c:pt idx="116">
                  <c:v>17</c:v>
                </c:pt>
                <c:pt idx="117">
                  <c:v>18.5</c:v>
                </c:pt>
                <c:pt idx="118">
                  <c:v>15.9</c:v>
                </c:pt>
                <c:pt idx="119">
                  <c:v>19</c:v>
                </c:pt>
                <c:pt idx="120">
                  <c:v>17.6</c:v>
                </c:pt>
                <c:pt idx="121">
                  <c:v>18.3</c:v>
                </c:pt>
                <c:pt idx="122">
                  <c:v>17.1</c:v>
                </c:pt>
                <c:pt idx="123">
                  <c:v>18</c:v>
                </c:pt>
                <c:pt idx="124">
                  <c:v>17.9</c:v>
                </c:pt>
                <c:pt idx="125">
                  <c:v>19.2</c:v>
                </c:pt>
                <c:pt idx="126">
                  <c:v>18.5</c:v>
                </c:pt>
                <c:pt idx="127">
                  <c:v>18.5</c:v>
                </c:pt>
                <c:pt idx="128">
                  <c:v>17.6</c:v>
                </c:pt>
                <c:pt idx="129">
                  <c:v>17.5</c:v>
                </c:pt>
                <c:pt idx="130">
                  <c:v>17.5</c:v>
                </c:pt>
                <c:pt idx="131">
                  <c:v>20.1</c:v>
                </c:pt>
                <c:pt idx="132">
                  <c:v>16.5</c:v>
                </c:pt>
                <c:pt idx="133">
                  <c:v>17.9</c:v>
                </c:pt>
                <c:pt idx="134">
                  <c:v>17.1</c:v>
                </c:pt>
                <c:pt idx="135">
                  <c:v>17.2</c:v>
                </c:pt>
                <c:pt idx="136">
                  <c:v>15.5</c:v>
                </c:pt>
                <c:pt idx="137">
                  <c:v>17</c:v>
                </c:pt>
                <c:pt idx="138">
                  <c:v>16.8</c:v>
                </c:pt>
                <c:pt idx="139">
                  <c:v>18.7</c:v>
                </c:pt>
                <c:pt idx="140">
                  <c:v>18.6</c:v>
                </c:pt>
                <c:pt idx="141">
                  <c:v>18.4</c:v>
                </c:pt>
                <c:pt idx="142">
                  <c:v>17.8</c:v>
                </c:pt>
                <c:pt idx="143">
                  <c:v>18.1</c:v>
                </c:pt>
                <c:pt idx="144">
                  <c:v>17.1</c:v>
                </c:pt>
                <c:pt idx="145">
                  <c:v>18.5</c:v>
                </c:pt>
                <c:pt idx="146">
                  <c:v>17.9</c:v>
                </c:pt>
                <c:pt idx="147">
                  <c:v>19.5</c:v>
                </c:pt>
                <c:pt idx="148">
                  <c:v>19.2</c:v>
                </c:pt>
                <c:pt idx="149">
                  <c:v>18.7</c:v>
                </c:pt>
                <c:pt idx="150">
                  <c:v>19.8</c:v>
                </c:pt>
                <c:pt idx="151">
                  <c:v>17.8</c:v>
                </c:pt>
                <c:pt idx="152">
                  <c:v>18.2</c:v>
                </c:pt>
                <c:pt idx="153">
                  <c:v>18.2</c:v>
                </c:pt>
                <c:pt idx="154">
                  <c:v>18.9</c:v>
                </c:pt>
                <c:pt idx="155">
                  <c:v>19.9</c:v>
                </c:pt>
                <c:pt idx="156">
                  <c:v>17.8</c:v>
                </c:pt>
                <c:pt idx="157">
                  <c:v>20.3</c:v>
                </c:pt>
                <c:pt idx="158">
                  <c:v>17.3</c:v>
                </c:pt>
                <c:pt idx="159">
                  <c:v>18.1</c:v>
                </c:pt>
                <c:pt idx="160">
                  <c:v>17.1</c:v>
                </c:pt>
                <c:pt idx="161">
                  <c:v>19.6</c:v>
                </c:pt>
                <c:pt idx="162">
                  <c:v>20</c:v>
                </c:pt>
                <c:pt idx="163">
                  <c:v>17.8</c:v>
                </c:pt>
                <c:pt idx="164">
                  <c:v>18.6</c:v>
                </c:pt>
                <c:pt idx="165">
                  <c:v>18.2</c:v>
                </c:pt>
                <c:pt idx="166">
                  <c:v>17.3</c:v>
                </c:pt>
                <c:pt idx="167">
                  <c:v>17.5</c:v>
                </c:pt>
                <c:pt idx="168">
                  <c:v>16.6</c:v>
                </c:pt>
                <c:pt idx="169">
                  <c:v>19.4</c:v>
                </c:pt>
                <c:pt idx="170">
                  <c:v>17.9</c:v>
                </c:pt>
                <c:pt idx="171">
                  <c:v>19</c:v>
                </c:pt>
                <c:pt idx="172">
                  <c:v>18.4</c:v>
                </c:pt>
                <c:pt idx="173">
                  <c:v>19</c:v>
                </c:pt>
                <c:pt idx="174">
                  <c:v>17.8</c:v>
                </c:pt>
                <c:pt idx="175">
                  <c:v>20</c:v>
                </c:pt>
                <c:pt idx="176">
                  <c:v>16.6</c:v>
                </c:pt>
                <c:pt idx="177">
                  <c:v>20.8</c:v>
                </c:pt>
                <c:pt idx="178">
                  <c:v>16.7</c:v>
                </c:pt>
                <c:pt idx="179">
                  <c:v>18.8</c:v>
                </c:pt>
                <c:pt idx="180">
                  <c:v>18.6</c:v>
                </c:pt>
                <c:pt idx="181">
                  <c:v>16.8</c:v>
                </c:pt>
                <c:pt idx="182">
                  <c:v>18.3</c:v>
                </c:pt>
                <c:pt idx="183">
                  <c:v>20.7</c:v>
                </c:pt>
                <c:pt idx="184">
                  <c:v>16.6</c:v>
                </c:pt>
                <c:pt idx="185">
                  <c:v>19.9</c:v>
                </c:pt>
                <c:pt idx="186">
                  <c:v>19.5</c:v>
                </c:pt>
                <c:pt idx="187">
                  <c:v>17.5</c:v>
                </c:pt>
                <c:pt idx="188">
                  <c:v>19.1</c:v>
                </c:pt>
                <c:pt idx="189">
                  <c:v>17</c:v>
                </c:pt>
                <c:pt idx="190">
                  <c:v>17.9</c:v>
                </c:pt>
                <c:pt idx="191">
                  <c:v>18.5</c:v>
                </c:pt>
                <c:pt idx="192">
                  <c:v>17.9</c:v>
                </c:pt>
                <c:pt idx="193">
                  <c:v>19.6</c:v>
                </c:pt>
                <c:pt idx="194">
                  <c:v>18.7</c:v>
                </c:pt>
                <c:pt idx="195">
                  <c:v>17.3</c:v>
                </c:pt>
                <c:pt idx="196">
                  <c:v>16.4</c:v>
                </c:pt>
                <c:pt idx="197">
                  <c:v>19</c:v>
                </c:pt>
                <c:pt idx="198">
                  <c:v>17.3</c:v>
                </c:pt>
                <c:pt idx="199">
                  <c:v>19.7</c:v>
                </c:pt>
                <c:pt idx="200">
                  <c:v>17.3</c:v>
                </c:pt>
                <c:pt idx="201">
                  <c:v>18.8</c:v>
                </c:pt>
                <c:pt idx="202">
                  <c:v>16.6</c:v>
                </c:pt>
                <c:pt idx="203">
                  <c:v>19.9</c:v>
                </c:pt>
                <c:pt idx="204">
                  <c:v>18.8</c:v>
                </c:pt>
                <c:pt idx="205">
                  <c:v>19.4</c:v>
                </c:pt>
                <c:pt idx="206">
                  <c:v>19.5</c:v>
                </c:pt>
                <c:pt idx="207">
                  <c:v>16.5</c:v>
                </c:pt>
                <c:pt idx="208">
                  <c:v>17</c:v>
                </c:pt>
                <c:pt idx="209">
                  <c:v>19.8</c:v>
                </c:pt>
                <c:pt idx="210">
                  <c:v>18.1</c:v>
                </c:pt>
                <c:pt idx="211">
                  <c:v>18.2</c:v>
                </c:pt>
                <c:pt idx="212">
                  <c:v>19</c:v>
                </c:pt>
                <c:pt idx="213">
                  <c:v>18.7</c:v>
                </c:pt>
                <c:pt idx="214">
                  <c:v>13.2</c:v>
                </c:pt>
                <c:pt idx="215">
                  <c:v>16.3</c:v>
                </c:pt>
                <c:pt idx="216">
                  <c:v>14.1</c:v>
                </c:pt>
                <c:pt idx="217">
                  <c:v>15.2</c:v>
                </c:pt>
                <c:pt idx="218">
                  <c:v>14.5</c:v>
                </c:pt>
                <c:pt idx="219">
                  <c:v>13.5</c:v>
                </c:pt>
                <c:pt idx="220">
                  <c:v>14.6</c:v>
                </c:pt>
                <c:pt idx="221">
                  <c:v>15.3</c:v>
                </c:pt>
                <c:pt idx="222">
                  <c:v>13.4</c:v>
                </c:pt>
                <c:pt idx="223">
                  <c:v>15.4</c:v>
                </c:pt>
                <c:pt idx="224">
                  <c:v>13.7</c:v>
                </c:pt>
                <c:pt idx="225">
                  <c:v>16.1</c:v>
                </c:pt>
                <c:pt idx="226">
                  <c:v>13.7</c:v>
                </c:pt>
                <c:pt idx="227">
                  <c:v>14.6</c:v>
                </c:pt>
                <c:pt idx="228">
                  <c:v>14.6</c:v>
                </c:pt>
                <c:pt idx="229">
                  <c:v>15.7</c:v>
                </c:pt>
                <c:pt idx="230">
                  <c:v>13.5</c:v>
                </c:pt>
                <c:pt idx="231">
                  <c:v>15.2</c:v>
                </c:pt>
                <c:pt idx="232">
                  <c:v>14.5</c:v>
                </c:pt>
                <c:pt idx="233">
                  <c:v>15.1</c:v>
                </c:pt>
                <c:pt idx="234">
                  <c:v>14.3</c:v>
                </c:pt>
                <c:pt idx="235">
                  <c:v>14.5</c:v>
                </c:pt>
                <c:pt idx="236">
                  <c:v>14.5</c:v>
                </c:pt>
                <c:pt idx="237">
                  <c:v>15.8</c:v>
                </c:pt>
                <c:pt idx="238">
                  <c:v>13.1</c:v>
                </c:pt>
                <c:pt idx="239">
                  <c:v>15.1</c:v>
                </c:pt>
                <c:pt idx="240">
                  <c:v>15</c:v>
                </c:pt>
                <c:pt idx="241">
                  <c:v>14.3</c:v>
                </c:pt>
                <c:pt idx="242">
                  <c:v>15.3</c:v>
                </c:pt>
                <c:pt idx="243">
                  <c:v>15.3</c:v>
                </c:pt>
                <c:pt idx="244">
                  <c:v>14.2</c:v>
                </c:pt>
                <c:pt idx="245">
                  <c:v>14.5</c:v>
                </c:pt>
                <c:pt idx="246">
                  <c:v>17</c:v>
                </c:pt>
                <c:pt idx="247">
                  <c:v>14.8</c:v>
                </c:pt>
                <c:pt idx="248">
                  <c:v>16.3</c:v>
                </c:pt>
                <c:pt idx="249">
                  <c:v>13.7</c:v>
                </c:pt>
                <c:pt idx="250">
                  <c:v>17.3</c:v>
                </c:pt>
                <c:pt idx="251">
                  <c:v>13.6</c:v>
                </c:pt>
                <c:pt idx="252">
                  <c:v>15.7</c:v>
                </c:pt>
                <c:pt idx="253">
                  <c:v>13.7</c:v>
                </c:pt>
                <c:pt idx="254">
                  <c:v>16</c:v>
                </c:pt>
                <c:pt idx="255">
                  <c:v>13.7</c:v>
                </c:pt>
                <c:pt idx="256">
                  <c:v>15</c:v>
                </c:pt>
                <c:pt idx="257">
                  <c:v>15.9</c:v>
                </c:pt>
                <c:pt idx="258">
                  <c:v>13.9</c:v>
                </c:pt>
                <c:pt idx="259">
                  <c:v>13.9</c:v>
                </c:pt>
                <c:pt idx="260">
                  <c:v>15.9</c:v>
                </c:pt>
                <c:pt idx="261">
                  <c:v>13.3</c:v>
                </c:pt>
                <c:pt idx="262">
                  <c:v>15.8</c:v>
                </c:pt>
                <c:pt idx="263">
                  <c:v>14.2</c:v>
                </c:pt>
                <c:pt idx="264">
                  <c:v>14.1</c:v>
                </c:pt>
                <c:pt idx="265">
                  <c:v>14.4</c:v>
                </c:pt>
                <c:pt idx="266">
                  <c:v>15</c:v>
                </c:pt>
                <c:pt idx="267">
                  <c:v>14.4</c:v>
                </c:pt>
                <c:pt idx="268">
                  <c:v>15.4</c:v>
                </c:pt>
                <c:pt idx="269">
                  <c:v>13.9</c:v>
                </c:pt>
                <c:pt idx="270">
                  <c:v>15</c:v>
                </c:pt>
                <c:pt idx="271">
                  <c:v>14.5</c:v>
                </c:pt>
                <c:pt idx="272">
                  <c:v>15.3</c:v>
                </c:pt>
                <c:pt idx="273">
                  <c:v>13.8</c:v>
                </c:pt>
                <c:pt idx="274">
                  <c:v>14.9</c:v>
                </c:pt>
                <c:pt idx="275">
                  <c:v>13.9</c:v>
                </c:pt>
                <c:pt idx="276">
                  <c:v>15.7</c:v>
                </c:pt>
                <c:pt idx="277">
                  <c:v>14.2</c:v>
                </c:pt>
                <c:pt idx="278">
                  <c:v>16.8</c:v>
                </c:pt>
                <c:pt idx="279">
                  <c:v>16.2</c:v>
                </c:pt>
                <c:pt idx="280">
                  <c:v>14.2</c:v>
                </c:pt>
                <c:pt idx="281">
                  <c:v>15</c:v>
                </c:pt>
                <c:pt idx="282">
                  <c:v>15</c:v>
                </c:pt>
                <c:pt idx="283">
                  <c:v>15.6</c:v>
                </c:pt>
                <c:pt idx="284">
                  <c:v>15.6</c:v>
                </c:pt>
                <c:pt idx="285">
                  <c:v>14.8</c:v>
                </c:pt>
                <c:pt idx="286">
                  <c:v>15</c:v>
                </c:pt>
                <c:pt idx="287">
                  <c:v>16</c:v>
                </c:pt>
                <c:pt idx="288">
                  <c:v>14.2</c:v>
                </c:pt>
                <c:pt idx="289">
                  <c:v>16.3</c:v>
                </c:pt>
                <c:pt idx="290">
                  <c:v>13.8</c:v>
                </c:pt>
                <c:pt idx="291">
                  <c:v>16.4</c:v>
                </c:pt>
                <c:pt idx="292">
                  <c:v>14.5</c:v>
                </c:pt>
                <c:pt idx="293">
                  <c:v>15.6</c:v>
                </c:pt>
                <c:pt idx="294">
                  <c:v>14.6</c:v>
                </c:pt>
                <c:pt idx="295">
                  <c:v>15.9</c:v>
                </c:pt>
                <c:pt idx="296">
                  <c:v>13.8</c:v>
                </c:pt>
                <c:pt idx="297">
                  <c:v>17.3</c:v>
                </c:pt>
                <c:pt idx="298">
                  <c:v>14.4</c:v>
                </c:pt>
                <c:pt idx="299">
                  <c:v>14.2</c:v>
                </c:pt>
                <c:pt idx="300">
                  <c:v>14</c:v>
                </c:pt>
                <c:pt idx="301">
                  <c:v>17</c:v>
                </c:pt>
                <c:pt idx="302">
                  <c:v>15</c:v>
                </c:pt>
                <c:pt idx="303">
                  <c:v>17.1</c:v>
                </c:pt>
                <c:pt idx="304">
                  <c:v>14.5</c:v>
                </c:pt>
                <c:pt idx="305">
                  <c:v>16.1</c:v>
                </c:pt>
                <c:pt idx="306">
                  <c:v>14.7</c:v>
                </c:pt>
                <c:pt idx="307">
                  <c:v>15.7</c:v>
                </c:pt>
                <c:pt idx="308">
                  <c:v>15.8</c:v>
                </c:pt>
                <c:pt idx="309">
                  <c:v>14.6</c:v>
                </c:pt>
                <c:pt idx="310">
                  <c:v>14.4</c:v>
                </c:pt>
                <c:pt idx="311">
                  <c:v>16.5</c:v>
                </c:pt>
                <c:pt idx="312">
                  <c:v>15</c:v>
                </c:pt>
                <c:pt idx="313">
                  <c:v>17</c:v>
                </c:pt>
                <c:pt idx="314">
                  <c:v>15.5</c:v>
                </c:pt>
                <c:pt idx="315">
                  <c:v>15</c:v>
                </c:pt>
                <c:pt idx="316">
                  <c:v>16.1</c:v>
                </c:pt>
                <c:pt idx="317">
                  <c:v>14.7</c:v>
                </c:pt>
                <c:pt idx="318">
                  <c:v>15.8</c:v>
                </c:pt>
                <c:pt idx="319">
                  <c:v>14</c:v>
                </c:pt>
                <c:pt idx="320">
                  <c:v>15.1</c:v>
                </c:pt>
                <c:pt idx="321">
                  <c:v>15.2</c:v>
                </c:pt>
                <c:pt idx="322">
                  <c:v>15.9</c:v>
                </c:pt>
                <c:pt idx="323">
                  <c:v>15.2</c:v>
                </c:pt>
                <c:pt idx="324">
                  <c:v>16.3</c:v>
                </c:pt>
                <c:pt idx="325">
                  <c:v>14.1</c:v>
                </c:pt>
                <c:pt idx="326">
                  <c:v>16</c:v>
                </c:pt>
                <c:pt idx="327">
                  <c:v>16.2</c:v>
                </c:pt>
                <c:pt idx="328">
                  <c:v>13.7</c:v>
                </c:pt>
                <c:pt idx="329">
                  <c:v>14.3</c:v>
                </c:pt>
                <c:pt idx="330">
                  <c:v>15.7</c:v>
                </c:pt>
                <c:pt idx="331">
                  <c:v>14.8</c:v>
                </c:pt>
                <c:pt idx="332">
                  <c:v>16.1</c:v>
                </c:pt>
              </c:numCache>
            </c:numRef>
          </c:xVal>
          <c:yVal>
            <c:numRef>
              <c:f>Sheet1!$E$2:$E$334</c:f>
              <c:numCache>
                <c:formatCode>General</c:formatCode>
                <c:ptCount val="333"/>
                <c:pt idx="0">
                  <c:v>3750</c:v>
                </c:pt>
                <c:pt idx="1">
                  <c:v>3800</c:v>
                </c:pt>
                <c:pt idx="2">
                  <c:v>3250</c:v>
                </c:pt>
                <c:pt idx="3">
                  <c:v>3450</c:v>
                </c:pt>
                <c:pt idx="4">
                  <c:v>3650</c:v>
                </c:pt>
                <c:pt idx="5">
                  <c:v>3625</c:v>
                </c:pt>
                <c:pt idx="6">
                  <c:v>4675</c:v>
                </c:pt>
                <c:pt idx="7">
                  <c:v>3200</c:v>
                </c:pt>
                <c:pt idx="8">
                  <c:v>3800</c:v>
                </c:pt>
                <c:pt idx="9">
                  <c:v>4400</c:v>
                </c:pt>
                <c:pt idx="10">
                  <c:v>3700</c:v>
                </c:pt>
                <c:pt idx="11">
                  <c:v>3450</c:v>
                </c:pt>
                <c:pt idx="12">
                  <c:v>4500</c:v>
                </c:pt>
                <c:pt idx="13">
                  <c:v>3325</c:v>
                </c:pt>
                <c:pt idx="14">
                  <c:v>4200</c:v>
                </c:pt>
                <c:pt idx="15">
                  <c:v>3400</c:v>
                </c:pt>
                <c:pt idx="16">
                  <c:v>3600</c:v>
                </c:pt>
                <c:pt idx="17">
                  <c:v>3800</c:v>
                </c:pt>
                <c:pt idx="18">
                  <c:v>3950</c:v>
                </c:pt>
                <c:pt idx="19">
                  <c:v>3800</c:v>
                </c:pt>
                <c:pt idx="20">
                  <c:v>3800</c:v>
                </c:pt>
                <c:pt idx="21">
                  <c:v>3550</c:v>
                </c:pt>
                <c:pt idx="22">
                  <c:v>3200</c:v>
                </c:pt>
                <c:pt idx="23">
                  <c:v>3150</c:v>
                </c:pt>
                <c:pt idx="24">
                  <c:v>3950</c:v>
                </c:pt>
                <c:pt idx="25">
                  <c:v>3250</c:v>
                </c:pt>
                <c:pt idx="26">
                  <c:v>3900</c:v>
                </c:pt>
                <c:pt idx="27">
                  <c:v>3300</c:v>
                </c:pt>
                <c:pt idx="28">
                  <c:v>3900</c:v>
                </c:pt>
                <c:pt idx="29">
                  <c:v>3325</c:v>
                </c:pt>
                <c:pt idx="30">
                  <c:v>4150</c:v>
                </c:pt>
                <c:pt idx="31">
                  <c:v>3950</c:v>
                </c:pt>
                <c:pt idx="32">
                  <c:v>3550</c:v>
                </c:pt>
                <c:pt idx="33">
                  <c:v>3300</c:v>
                </c:pt>
                <c:pt idx="34">
                  <c:v>4650</c:v>
                </c:pt>
                <c:pt idx="35">
                  <c:v>3150</c:v>
                </c:pt>
                <c:pt idx="36">
                  <c:v>3900</c:v>
                </c:pt>
                <c:pt idx="37">
                  <c:v>3100</c:v>
                </c:pt>
                <c:pt idx="38">
                  <c:v>4400</c:v>
                </c:pt>
                <c:pt idx="39">
                  <c:v>3000</c:v>
                </c:pt>
                <c:pt idx="40">
                  <c:v>4600</c:v>
                </c:pt>
                <c:pt idx="41">
                  <c:v>3425</c:v>
                </c:pt>
                <c:pt idx="42">
                  <c:v>3450</c:v>
                </c:pt>
                <c:pt idx="43">
                  <c:v>4150</c:v>
                </c:pt>
                <c:pt idx="44">
                  <c:v>3500</c:v>
                </c:pt>
                <c:pt idx="45">
                  <c:v>4300</c:v>
                </c:pt>
                <c:pt idx="46">
                  <c:v>3450</c:v>
                </c:pt>
                <c:pt idx="47">
                  <c:v>4050</c:v>
                </c:pt>
                <c:pt idx="48">
                  <c:v>2900</c:v>
                </c:pt>
                <c:pt idx="49">
                  <c:v>3700</c:v>
                </c:pt>
                <c:pt idx="50">
                  <c:v>3550</c:v>
                </c:pt>
                <c:pt idx="51">
                  <c:v>3800</c:v>
                </c:pt>
                <c:pt idx="52">
                  <c:v>2850</c:v>
                </c:pt>
                <c:pt idx="53">
                  <c:v>3750</c:v>
                </c:pt>
                <c:pt idx="54">
                  <c:v>3150</c:v>
                </c:pt>
                <c:pt idx="55">
                  <c:v>4400</c:v>
                </c:pt>
                <c:pt idx="56">
                  <c:v>3600</c:v>
                </c:pt>
                <c:pt idx="57">
                  <c:v>4050</c:v>
                </c:pt>
                <c:pt idx="58">
                  <c:v>2850</c:v>
                </c:pt>
                <c:pt idx="59">
                  <c:v>3950</c:v>
                </c:pt>
                <c:pt idx="60">
                  <c:v>3350</c:v>
                </c:pt>
                <c:pt idx="61">
                  <c:v>4100</c:v>
                </c:pt>
                <c:pt idx="62">
                  <c:v>3050</c:v>
                </c:pt>
                <c:pt idx="63">
                  <c:v>4450</c:v>
                </c:pt>
                <c:pt idx="64">
                  <c:v>3600</c:v>
                </c:pt>
                <c:pt idx="65">
                  <c:v>3900</c:v>
                </c:pt>
                <c:pt idx="66">
                  <c:v>3550</c:v>
                </c:pt>
                <c:pt idx="67">
                  <c:v>4150</c:v>
                </c:pt>
                <c:pt idx="68">
                  <c:v>3700</c:v>
                </c:pt>
                <c:pt idx="69">
                  <c:v>4250</c:v>
                </c:pt>
                <c:pt idx="70">
                  <c:v>3700</c:v>
                </c:pt>
                <c:pt idx="71">
                  <c:v>3900</c:v>
                </c:pt>
                <c:pt idx="72">
                  <c:v>3550</c:v>
                </c:pt>
                <c:pt idx="73">
                  <c:v>4000</c:v>
                </c:pt>
                <c:pt idx="74">
                  <c:v>3200</c:v>
                </c:pt>
                <c:pt idx="75">
                  <c:v>4700</c:v>
                </c:pt>
                <c:pt idx="76">
                  <c:v>3800</c:v>
                </c:pt>
                <c:pt idx="77">
                  <c:v>4200</c:v>
                </c:pt>
                <c:pt idx="78">
                  <c:v>3350</c:v>
                </c:pt>
                <c:pt idx="79">
                  <c:v>3550</c:v>
                </c:pt>
                <c:pt idx="80">
                  <c:v>3800</c:v>
                </c:pt>
                <c:pt idx="81">
                  <c:v>3500</c:v>
                </c:pt>
                <c:pt idx="82">
                  <c:v>3950</c:v>
                </c:pt>
                <c:pt idx="83">
                  <c:v>3600</c:v>
                </c:pt>
                <c:pt idx="84">
                  <c:v>3550</c:v>
                </c:pt>
                <c:pt idx="85">
                  <c:v>4300</c:v>
                </c:pt>
                <c:pt idx="86">
                  <c:v>3400</c:v>
                </c:pt>
                <c:pt idx="87">
                  <c:v>4450</c:v>
                </c:pt>
                <c:pt idx="88">
                  <c:v>3300</c:v>
                </c:pt>
                <c:pt idx="89">
                  <c:v>4300</c:v>
                </c:pt>
                <c:pt idx="90">
                  <c:v>3700</c:v>
                </c:pt>
                <c:pt idx="91">
                  <c:v>4350</c:v>
                </c:pt>
                <c:pt idx="92">
                  <c:v>2900</c:v>
                </c:pt>
                <c:pt idx="93">
                  <c:v>4100</c:v>
                </c:pt>
                <c:pt idx="94">
                  <c:v>3725</c:v>
                </c:pt>
                <c:pt idx="95">
                  <c:v>4725</c:v>
                </c:pt>
                <c:pt idx="96">
                  <c:v>3075</c:v>
                </c:pt>
                <c:pt idx="97">
                  <c:v>4250</c:v>
                </c:pt>
                <c:pt idx="98">
                  <c:v>2925</c:v>
                </c:pt>
                <c:pt idx="99">
                  <c:v>3550</c:v>
                </c:pt>
                <c:pt idx="100">
                  <c:v>3750</c:v>
                </c:pt>
                <c:pt idx="101">
                  <c:v>3900</c:v>
                </c:pt>
                <c:pt idx="102">
                  <c:v>3175</c:v>
                </c:pt>
                <c:pt idx="103">
                  <c:v>4775</c:v>
                </c:pt>
                <c:pt idx="104">
                  <c:v>3825</c:v>
                </c:pt>
                <c:pt idx="105">
                  <c:v>4600</c:v>
                </c:pt>
                <c:pt idx="106">
                  <c:v>3200</c:v>
                </c:pt>
                <c:pt idx="107">
                  <c:v>4275</c:v>
                </c:pt>
                <c:pt idx="108">
                  <c:v>3900</c:v>
                </c:pt>
                <c:pt idx="109">
                  <c:v>4075</c:v>
                </c:pt>
                <c:pt idx="110">
                  <c:v>2900</c:v>
                </c:pt>
                <c:pt idx="111">
                  <c:v>3775</c:v>
                </c:pt>
                <c:pt idx="112">
                  <c:v>3350</c:v>
                </c:pt>
                <c:pt idx="113">
                  <c:v>3325</c:v>
                </c:pt>
                <c:pt idx="114">
                  <c:v>3150</c:v>
                </c:pt>
                <c:pt idx="115">
                  <c:v>3500</c:v>
                </c:pt>
                <c:pt idx="116">
                  <c:v>3450</c:v>
                </c:pt>
                <c:pt idx="117">
                  <c:v>3875</c:v>
                </c:pt>
                <c:pt idx="118">
                  <c:v>3050</c:v>
                </c:pt>
                <c:pt idx="119">
                  <c:v>4000</c:v>
                </c:pt>
                <c:pt idx="120">
                  <c:v>3275</c:v>
                </c:pt>
                <c:pt idx="121">
                  <c:v>4300</c:v>
                </c:pt>
                <c:pt idx="122">
                  <c:v>3050</c:v>
                </c:pt>
                <c:pt idx="123">
                  <c:v>4000</c:v>
                </c:pt>
                <c:pt idx="124">
                  <c:v>3325</c:v>
                </c:pt>
                <c:pt idx="125">
                  <c:v>3500</c:v>
                </c:pt>
                <c:pt idx="126">
                  <c:v>3500</c:v>
                </c:pt>
                <c:pt idx="127">
                  <c:v>4475</c:v>
                </c:pt>
                <c:pt idx="128">
                  <c:v>3425</c:v>
                </c:pt>
                <c:pt idx="129">
                  <c:v>3900</c:v>
                </c:pt>
                <c:pt idx="130">
                  <c:v>3175</c:v>
                </c:pt>
                <c:pt idx="131">
                  <c:v>3975</c:v>
                </c:pt>
                <c:pt idx="132">
                  <c:v>3400</c:v>
                </c:pt>
                <c:pt idx="133">
                  <c:v>4250</c:v>
                </c:pt>
                <c:pt idx="134">
                  <c:v>3400</c:v>
                </c:pt>
                <c:pt idx="135">
                  <c:v>3475</c:v>
                </c:pt>
                <c:pt idx="136">
                  <c:v>3050</c:v>
                </c:pt>
                <c:pt idx="137">
                  <c:v>3725</c:v>
                </c:pt>
                <c:pt idx="138">
                  <c:v>3000</c:v>
                </c:pt>
                <c:pt idx="139">
                  <c:v>3650</c:v>
                </c:pt>
                <c:pt idx="140">
                  <c:v>4250</c:v>
                </c:pt>
                <c:pt idx="141">
                  <c:v>3475</c:v>
                </c:pt>
                <c:pt idx="142">
                  <c:v>3450</c:v>
                </c:pt>
                <c:pt idx="143">
                  <c:v>3750</c:v>
                </c:pt>
                <c:pt idx="144">
                  <c:v>3700</c:v>
                </c:pt>
                <c:pt idx="145">
                  <c:v>4000</c:v>
                </c:pt>
                <c:pt idx="146">
                  <c:v>3500</c:v>
                </c:pt>
                <c:pt idx="147">
                  <c:v>3900</c:v>
                </c:pt>
                <c:pt idx="148">
                  <c:v>3650</c:v>
                </c:pt>
                <c:pt idx="149">
                  <c:v>3525</c:v>
                </c:pt>
                <c:pt idx="150">
                  <c:v>3725</c:v>
                </c:pt>
                <c:pt idx="151">
                  <c:v>3950</c:v>
                </c:pt>
                <c:pt idx="152">
                  <c:v>3250</c:v>
                </c:pt>
                <c:pt idx="153">
                  <c:v>3750</c:v>
                </c:pt>
                <c:pt idx="154">
                  <c:v>4150</c:v>
                </c:pt>
                <c:pt idx="155">
                  <c:v>3700</c:v>
                </c:pt>
                <c:pt idx="156">
                  <c:v>3800</c:v>
                </c:pt>
                <c:pt idx="157">
                  <c:v>3775</c:v>
                </c:pt>
                <c:pt idx="158">
                  <c:v>3700</c:v>
                </c:pt>
                <c:pt idx="159">
                  <c:v>4050</c:v>
                </c:pt>
                <c:pt idx="160">
                  <c:v>3575</c:v>
                </c:pt>
                <c:pt idx="161">
                  <c:v>4050</c:v>
                </c:pt>
                <c:pt idx="162">
                  <c:v>3300</c:v>
                </c:pt>
                <c:pt idx="163">
                  <c:v>3700</c:v>
                </c:pt>
                <c:pt idx="164">
                  <c:v>3450</c:v>
                </c:pt>
                <c:pt idx="165">
                  <c:v>4400</c:v>
                </c:pt>
                <c:pt idx="166">
                  <c:v>3600</c:v>
                </c:pt>
                <c:pt idx="167">
                  <c:v>3400</c:v>
                </c:pt>
                <c:pt idx="168">
                  <c:v>2900</c:v>
                </c:pt>
                <c:pt idx="169">
                  <c:v>3800</c:v>
                </c:pt>
                <c:pt idx="170">
                  <c:v>3300</c:v>
                </c:pt>
                <c:pt idx="171">
                  <c:v>4150</c:v>
                </c:pt>
                <c:pt idx="172">
                  <c:v>3400</c:v>
                </c:pt>
                <c:pt idx="173">
                  <c:v>3800</c:v>
                </c:pt>
                <c:pt idx="174">
                  <c:v>3700</c:v>
                </c:pt>
                <c:pt idx="175">
                  <c:v>4550</c:v>
                </c:pt>
                <c:pt idx="176">
                  <c:v>3200</c:v>
                </c:pt>
                <c:pt idx="177">
                  <c:v>4300</c:v>
                </c:pt>
                <c:pt idx="178">
                  <c:v>3350</c:v>
                </c:pt>
                <c:pt idx="179">
                  <c:v>4100</c:v>
                </c:pt>
                <c:pt idx="180">
                  <c:v>3600</c:v>
                </c:pt>
                <c:pt idx="181">
                  <c:v>3900</c:v>
                </c:pt>
                <c:pt idx="182">
                  <c:v>3850</c:v>
                </c:pt>
                <c:pt idx="183">
                  <c:v>4800</c:v>
                </c:pt>
                <c:pt idx="184">
                  <c:v>2700</c:v>
                </c:pt>
                <c:pt idx="185">
                  <c:v>4500</c:v>
                </c:pt>
                <c:pt idx="186">
                  <c:v>3950</c:v>
                </c:pt>
                <c:pt idx="187">
                  <c:v>3650</c:v>
                </c:pt>
                <c:pt idx="188">
                  <c:v>3550</c:v>
                </c:pt>
                <c:pt idx="189">
                  <c:v>3500</c:v>
                </c:pt>
                <c:pt idx="190">
                  <c:v>3675</c:v>
                </c:pt>
                <c:pt idx="191">
                  <c:v>4450</c:v>
                </c:pt>
                <c:pt idx="192">
                  <c:v>3400</c:v>
                </c:pt>
                <c:pt idx="193">
                  <c:v>4300</c:v>
                </c:pt>
                <c:pt idx="194">
                  <c:v>3250</c:v>
                </c:pt>
                <c:pt idx="195">
                  <c:v>3675</c:v>
                </c:pt>
                <c:pt idx="196">
                  <c:v>3325</c:v>
                </c:pt>
                <c:pt idx="197">
                  <c:v>3950</c:v>
                </c:pt>
                <c:pt idx="198">
                  <c:v>3600</c:v>
                </c:pt>
                <c:pt idx="199">
                  <c:v>4050</c:v>
                </c:pt>
                <c:pt idx="200">
                  <c:v>3350</c:v>
                </c:pt>
                <c:pt idx="201">
                  <c:v>3450</c:v>
                </c:pt>
                <c:pt idx="202">
                  <c:v>3250</c:v>
                </c:pt>
                <c:pt idx="203">
                  <c:v>4050</c:v>
                </c:pt>
                <c:pt idx="204">
                  <c:v>3800</c:v>
                </c:pt>
                <c:pt idx="205">
                  <c:v>3525</c:v>
                </c:pt>
                <c:pt idx="206">
                  <c:v>3950</c:v>
                </c:pt>
                <c:pt idx="207">
                  <c:v>3650</c:v>
                </c:pt>
                <c:pt idx="208">
                  <c:v>3650</c:v>
                </c:pt>
                <c:pt idx="209">
                  <c:v>4000</c:v>
                </c:pt>
                <c:pt idx="210">
                  <c:v>3400</c:v>
                </c:pt>
                <c:pt idx="211">
                  <c:v>3775</c:v>
                </c:pt>
                <c:pt idx="212">
                  <c:v>4100</c:v>
                </c:pt>
                <c:pt idx="213">
                  <c:v>3775</c:v>
                </c:pt>
                <c:pt idx="214">
                  <c:v>4500</c:v>
                </c:pt>
                <c:pt idx="215">
                  <c:v>5700</c:v>
                </c:pt>
                <c:pt idx="216">
                  <c:v>4450</c:v>
                </c:pt>
                <c:pt idx="217">
                  <c:v>5700</c:v>
                </c:pt>
                <c:pt idx="218">
                  <c:v>5400</c:v>
                </c:pt>
                <c:pt idx="219">
                  <c:v>4550</c:v>
                </c:pt>
                <c:pt idx="220">
                  <c:v>4800</c:v>
                </c:pt>
                <c:pt idx="221">
                  <c:v>5200</c:v>
                </c:pt>
                <c:pt idx="222">
                  <c:v>4400</c:v>
                </c:pt>
                <c:pt idx="223">
                  <c:v>5150</c:v>
                </c:pt>
                <c:pt idx="224">
                  <c:v>4650</c:v>
                </c:pt>
                <c:pt idx="225">
                  <c:v>5550</c:v>
                </c:pt>
                <c:pt idx="226">
                  <c:v>4650</c:v>
                </c:pt>
                <c:pt idx="227">
                  <c:v>5850</c:v>
                </c:pt>
                <c:pt idx="228">
                  <c:v>4200</c:v>
                </c:pt>
                <c:pt idx="229">
                  <c:v>5850</c:v>
                </c:pt>
                <c:pt idx="230">
                  <c:v>4150</c:v>
                </c:pt>
                <c:pt idx="231">
                  <c:v>6300</c:v>
                </c:pt>
                <c:pt idx="232">
                  <c:v>4800</c:v>
                </c:pt>
                <c:pt idx="233">
                  <c:v>5350</c:v>
                </c:pt>
                <c:pt idx="234">
                  <c:v>5700</c:v>
                </c:pt>
                <c:pt idx="235">
                  <c:v>5000</c:v>
                </c:pt>
                <c:pt idx="236">
                  <c:v>4400</c:v>
                </c:pt>
                <c:pt idx="237">
                  <c:v>5050</c:v>
                </c:pt>
                <c:pt idx="238">
                  <c:v>5000</c:v>
                </c:pt>
                <c:pt idx="239">
                  <c:v>5100</c:v>
                </c:pt>
                <c:pt idx="240">
                  <c:v>5650</c:v>
                </c:pt>
                <c:pt idx="241">
                  <c:v>4600</c:v>
                </c:pt>
                <c:pt idx="242">
                  <c:v>5550</c:v>
                </c:pt>
                <c:pt idx="243">
                  <c:v>5250</c:v>
                </c:pt>
                <c:pt idx="244">
                  <c:v>4700</c:v>
                </c:pt>
                <c:pt idx="245">
                  <c:v>5050</c:v>
                </c:pt>
                <c:pt idx="246">
                  <c:v>6050</c:v>
                </c:pt>
                <c:pt idx="247">
                  <c:v>5150</c:v>
                </c:pt>
                <c:pt idx="248">
                  <c:v>5400</c:v>
                </c:pt>
                <c:pt idx="249">
                  <c:v>4950</c:v>
                </c:pt>
                <c:pt idx="250">
                  <c:v>5250</c:v>
                </c:pt>
                <c:pt idx="251">
                  <c:v>4350</c:v>
                </c:pt>
                <c:pt idx="252">
                  <c:v>5350</c:v>
                </c:pt>
                <c:pt idx="253">
                  <c:v>3950</c:v>
                </c:pt>
                <c:pt idx="254">
                  <c:v>5700</c:v>
                </c:pt>
                <c:pt idx="255">
                  <c:v>4300</c:v>
                </c:pt>
                <c:pt idx="256">
                  <c:v>4750</c:v>
                </c:pt>
                <c:pt idx="257">
                  <c:v>5550</c:v>
                </c:pt>
                <c:pt idx="258">
                  <c:v>4900</c:v>
                </c:pt>
                <c:pt idx="259">
                  <c:v>4200</c:v>
                </c:pt>
                <c:pt idx="260">
                  <c:v>5400</c:v>
                </c:pt>
                <c:pt idx="261">
                  <c:v>5100</c:v>
                </c:pt>
                <c:pt idx="262">
                  <c:v>5300</c:v>
                </c:pt>
                <c:pt idx="263">
                  <c:v>4850</c:v>
                </c:pt>
                <c:pt idx="264">
                  <c:v>5300</c:v>
                </c:pt>
                <c:pt idx="265">
                  <c:v>4400</c:v>
                </c:pt>
                <c:pt idx="266">
                  <c:v>5000</c:v>
                </c:pt>
                <c:pt idx="267">
                  <c:v>4900</c:v>
                </c:pt>
                <c:pt idx="268">
                  <c:v>5050</c:v>
                </c:pt>
                <c:pt idx="269">
                  <c:v>4300</c:v>
                </c:pt>
                <c:pt idx="270">
                  <c:v>5000</c:v>
                </c:pt>
                <c:pt idx="271">
                  <c:v>4450</c:v>
                </c:pt>
                <c:pt idx="272">
                  <c:v>5550</c:v>
                </c:pt>
                <c:pt idx="273">
                  <c:v>4200</c:v>
                </c:pt>
                <c:pt idx="274">
                  <c:v>5300</c:v>
                </c:pt>
                <c:pt idx="275">
                  <c:v>4400</c:v>
                </c:pt>
                <c:pt idx="276">
                  <c:v>5650</c:v>
                </c:pt>
                <c:pt idx="277">
                  <c:v>4700</c:v>
                </c:pt>
                <c:pt idx="278">
                  <c:v>5700</c:v>
                </c:pt>
                <c:pt idx="279">
                  <c:v>5800</c:v>
                </c:pt>
                <c:pt idx="280">
                  <c:v>4700</c:v>
                </c:pt>
                <c:pt idx="281">
                  <c:v>5550</c:v>
                </c:pt>
                <c:pt idx="282">
                  <c:v>4750</c:v>
                </c:pt>
                <c:pt idx="283">
                  <c:v>5000</c:v>
                </c:pt>
                <c:pt idx="284">
                  <c:v>5100</c:v>
                </c:pt>
                <c:pt idx="285">
                  <c:v>5200</c:v>
                </c:pt>
                <c:pt idx="286">
                  <c:v>4700</c:v>
                </c:pt>
                <c:pt idx="287">
                  <c:v>5800</c:v>
                </c:pt>
                <c:pt idx="288">
                  <c:v>4600</c:v>
                </c:pt>
                <c:pt idx="289">
                  <c:v>6000</c:v>
                </c:pt>
                <c:pt idx="290">
                  <c:v>4750</c:v>
                </c:pt>
                <c:pt idx="291">
                  <c:v>5950</c:v>
                </c:pt>
                <c:pt idx="292">
                  <c:v>4625</c:v>
                </c:pt>
                <c:pt idx="293">
                  <c:v>5450</c:v>
                </c:pt>
                <c:pt idx="294">
                  <c:v>4725</c:v>
                </c:pt>
                <c:pt idx="295">
                  <c:v>5350</c:v>
                </c:pt>
                <c:pt idx="296">
                  <c:v>4750</c:v>
                </c:pt>
                <c:pt idx="297">
                  <c:v>5600</c:v>
                </c:pt>
                <c:pt idx="298">
                  <c:v>4600</c:v>
                </c:pt>
                <c:pt idx="299">
                  <c:v>5300</c:v>
                </c:pt>
                <c:pt idx="300">
                  <c:v>4875</c:v>
                </c:pt>
                <c:pt idx="301">
                  <c:v>5550</c:v>
                </c:pt>
                <c:pt idx="302">
                  <c:v>4950</c:v>
                </c:pt>
                <c:pt idx="303">
                  <c:v>5400</c:v>
                </c:pt>
                <c:pt idx="304">
                  <c:v>4750</c:v>
                </c:pt>
                <c:pt idx="305">
                  <c:v>5650</c:v>
                </c:pt>
                <c:pt idx="306">
                  <c:v>4850</c:v>
                </c:pt>
                <c:pt idx="307">
                  <c:v>5200</c:v>
                </c:pt>
                <c:pt idx="308">
                  <c:v>4925</c:v>
                </c:pt>
                <c:pt idx="309">
                  <c:v>4875</c:v>
                </c:pt>
                <c:pt idx="310">
                  <c:v>4625</c:v>
                </c:pt>
                <c:pt idx="311">
                  <c:v>5250</c:v>
                </c:pt>
                <c:pt idx="312">
                  <c:v>4850</c:v>
                </c:pt>
                <c:pt idx="313">
                  <c:v>5600</c:v>
                </c:pt>
                <c:pt idx="314">
                  <c:v>4975</c:v>
                </c:pt>
                <c:pt idx="315">
                  <c:v>5500</c:v>
                </c:pt>
                <c:pt idx="316">
                  <c:v>5500</c:v>
                </c:pt>
                <c:pt idx="317">
                  <c:v>4700</c:v>
                </c:pt>
                <c:pt idx="318">
                  <c:v>5500</c:v>
                </c:pt>
                <c:pt idx="319">
                  <c:v>4575</c:v>
                </c:pt>
                <c:pt idx="320">
                  <c:v>5500</c:v>
                </c:pt>
                <c:pt idx="321">
                  <c:v>5000</c:v>
                </c:pt>
                <c:pt idx="322">
                  <c:v>5950</c:v>
                </c:pt>
                <c:pt idx="323">
                  <c:v>4650</c:v>
                </c:pt>
                <c:pt idx="324">
                  <c:v>5500</c:v>
                </c:pt>
                <c:pt idx="325">
                  <c:v>4375</c:v>
                </c:pt>
                <c:pt idx="326">
                  <c:v>5850</c:v>
                </c:pt>
                <c:pt idx="327">
                  <c:v>6000</c:v>
                </c:pt>
                <c:pt idx="328">
                  <c:v>4925</c:v>
                </c:pt>
                <c:pt idx="329">
                  <c:v>4850</c:v>
                </c:pt>
                <c:pt idx="330">
                  <c:v>5750</c:v>
                </c:pt>
                <c:pt idx="331">
                  <c:v>5200</c:v>
                </c:pt>
                <c:pt idx="332">
                  <c:v>5400</c:v>
                </c:pt>
              </c:numCache>
            </c:numRef>
          </c:yVal>
          <c:smooth val="0"/>
        </c:ser>
        <c:dLbls>
          <c:numFmt formatCode="General" sourceLinked="0"/>
          <c:txPr>
            <a:bodyPr/>
            <a:lstStyle/>
            <a:p>
              <a:pPr>
                <a:defRPr b="0" i="0" strike="noStrike" sz="1300" u="none">
                  <a:solidFill>
                    <a:srgbClr val="1C2B36"/>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2"/>
          <c:min val="13"/>
        </c:scaling>
        <c:delete val="0"/>
        <c:axPos val="b"/>
        <c:majorGridlines>
          <c:spPr>
            <a:ln w="12700" cap="flat">
              <a:solidFill>
                <a:srgbClr val="EAF2F5"/>
              </a:solidFill>
              <a:prstDash val="solid"/>
              <a:round/>
            </a:ln>
          </c:spPr>
        </c:majorGridlines>
        <c:title>
          <c:tx>
            <c:rich>
              <a:bodyPr/>
              <a:lstStyle/>
              <a:p>
                <a:pPr>
                  <a:defRPr sz="1300" b="0" i="0" u="none" strike="noStrike">
                    <a:solidFill>
                      <a:srgbClr val="1C2B36"/>
                    </a:solidFill>
                    <a:latin typeface="+mn-lt"/>
                  </a:defRPr>
                </a:pPr>
                <a:r>
                  <a:rPr sz="1300" b="0" i="0" u="none" strike="noStrike">
                    <a:solidFill>
                      <a:srgbClr val="1C2B36"/>
                    </a:solidFill>
                    <a:latin typeface="+mn-lt"/>
                  </a:rPr>
                  <a:t>Bill depth (mm)</a:t>
                </a:r>
              </a:p>
            </c:rich>
          </c:tx>
          <c:layout/>
          <c:overlay val="0"/>
        </c:title>
        <c:numFmt formatCode="#,##0" sourceLinked="1"/>
        <c:majorTickMark val="none"/>
        <c:minorTickMark val="none"/>
        <c:tickLblPos val="nextTo"/>
        <c:spPr>
          <a:ln w="12700" cap="flat">
            <a:noFill/>
            <a:prstDash val="solid"/>
            <a:round/>
          </a:ln>
        </c:spPr>
        <c:txPr>
          <a:bodyPr/>
          <a:lstStyle/>
          <a:p>
            <a:pPr>
              <a:defRPr sz="1300" b="0" i="0" u="none" strike="noStrike">
                <a:solidFill>
                  <a:srgbClr val="1C2B36"/>
                </a:solidFill>
                <a:latin typeface="+mn-lt"/>
              </a:defRPr>
            </a:pPr>
            <a:endParaRPr lang="en-US"/>
          </a:p>
        </c:txPr>
        <c:crossAx val="2094734552"/>
        <c:crosses val="autoZero"/>
        <c:auto val="1"/>
        <c:lblAlgn val="ctr"/>
        <c:noMultiLvlLbl val="1"/>
        <c:majorUnit val="1"/>
      </c:valAx>
      <c:valAx>
        <c:axId val="2094734552"/>
        <c:scaling>
          <c:orientation val="minMax"/>
          <c:max val="6500"/>
          <c:min val="2500"/>
        </c:scaling>
        <c:delete val="0"/>
        <c:axPos val="l"/>
        <c:majorGridlines>
          <c:spPr>
            <a:ln w="12700" cap="flat">
              <a:solidFill>
                <a:srgbClr val="EAF2F5"/>
              </a:solidFill>
              <a:prstDash val="solid"/>
              <a:round/>
            </a:ln>
          </c:spPr>
        </c:majorGridlines>
        <c:title>
          <c:tx>
            <c:rich>
              <a:bodyPr/>
              <a:lstStyle/>
              <a:p>
                <a:pPr>
                  <a:defRPr sz="1300" b="0" i="0" u="none" strike="noStrike">
                    <a:solidFill>
                      <a:srgbClr val="1C2B36"/>
                    </a:solidFill>
                    <a:latin typeface="+mn-lt"/>
                  </a:defRPr>
                </a:pPr>
                <a:r>
                  <a:rPr sz="1300" b="0" i="0" u="none" strike="noStrike">
                    <a:solidFill>
                      <a:srgbClr val="1C2B36"/>
                    </a:solidFill>
                    <a:latin typeface="+mn-lt"/>
                  </a:rPr>
                  <a:t>Body mass (g)</a:t>
                </a:r>
              </a:p>
            </c:rich>
          </c:tx>
          <c:layout/>
          <c:overlay val="0"/>
        </c:title>
        <c:numFmt formatCode="#,##0" sourceLinked="0"/>
        <c:majorTickMark val="none"/>
        <c:minorTickMark val="none"/>
        <c:tickLblPos val="nextTo"/>
        <c:spPr>
          <a:ln w="12700" cap="flat">
            <a:noFill/>
            <a:prstDash val="solid"/>
            <a:round/>
          </a:ln>
        </c:spPr>
        <c:txPr>
          <a:bodyPr/>
          <a:lstStyle/>
          <a:p>
            <a:pPr>
              <a:defRPr sz="1200" b="0" i="0" u="none" strike="noStrike">
                <a:solidFill>
                  <a:srgbClr val="1C2B36"/>
                </a:solidFill>
                <a:latin typeface="+mn-lt"/>
              </a:defRPr>
            </a:pPr>
            <a:endParaRPr lang="en-US"/>
          </a:p>
        </c:txPr>
        <c:crossAx val="2094734554"/>
        <c:crosses val="autoZero"/>
        <c:crossBetween val="midCat"/>
        <c:majorUnit val="10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Bu sunumda kitabın 5. bölümünü, "Data and Models" - Veri ve Modeller bölümünü anlatacağım.
Bu bölüm kısa ama çok önemli, çünkü kitap boyunca karşılaşacağımız iki veri kümesini ve bu veriler üzerinde eğitilen modelleri tanıtıyor: Washington'daki bisiklet kiralama verisi ve Antarktika'daki Palmer penguenleri. Sonraki bölümlerdeki bütün yorumlama yöntemleri bu modeller üzerinde gösteriliyor. Yani bu bölümü iyi anlarsak, kitabın geri kalanını takip etmek çok daha kolay olacak.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Kitap iki veri kümesi kullanıyor ve her biri farklı bir görev türünü temsil ediyor.
Soldaki bisiklet kiralama verisi bir regresyon görevi: Sürekli bir sayıyı, yani günde kaç bisiklet kiralandığını tahmin ediyoruz. İşlendikten sonra 728 gün kalıyor. Veri Capital Bikeshare şirketinden geliyor, Fanaee-T ve Gama da hava durumu ve mevsim bilgisini eklemiş.
Sağdaki Palmer penguenleri ise bir sınıflandırma görevi: Penguenin cinsiyetini, yani erkek mi dişi mi olduğunu tahmin ediyoruz. Veride 333 penguen var.
Böylece kitap hem regresyon hem sınıflandırma için yöntemleri gösterebiliyor.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veri kümesiyle başlayalım: bisiklet kiralama. Burada bir regresyon problemi var, günlük kiralama sayısını tahmin edeceğiz.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veri kümesinin sütunlarını görüyoruz. Turuncu kutu hedef değişkenimiz: cnt, yani hem sıradan hem de kayıtlı kullanıcıların kiraladığı toplam bisiklet sayısı.
Geri kalan sekiz kutu özellikler. Mevsim, tatil olup olmadığı, iş günü mü hafta sonu mu olduğu ve hava durumu kategorik özellikler. Sıcaklık, nem ve rüzgâr hızı sayısal özellikler. Son olarak cnt_2d_bfr var, yani iki gün önce kiralanan bisiklet sayısı. Bu özellik geçmişteki talebi modele taşıyor.
Alttaki notta ön işlemeyi görüyorsunuz: Nemin 0 ölçüldüğü bir gün çıkarılmış, çünkü bu büyük ihtimalle ölçüm hatası. İlk iki gün de çıkarılmış, çünkü o günler için iki gün önceki sayı yok. Böylece elimizde 728 gün kalıyor.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Kitap bu veriyi sadece yorumlama yöntemlerini göstermek için kullanıyor, bu yüzden bazı basitleştirmeler yapılmış.
En önemlisi şu: Hava durumu özelliklerini sanki tahminmiş gibi kabul ediyoruz. Gerçekte bunlar o gün ölçülmüş değerler. Bu varsayımla görev şöyle oluyor: Hava tahmini, mevsim bilgisi ve dünkü kiralama sayısıyla yarın kaç bisiklet kiralanacağını tahmin etmek.
Modeller basit bir holdout yöntemiyle eğitilmiş: Verinin üçte ikisi eğitim, üçte biri test için kullanılmış. Dört algoritma denenmiş: rastgele orman, CART karar ağacı, destek vektör makinesi yani SVM ve doğrusal regresyon.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verisindeki sonuçlara bakalım. İki metrik var: RMSE, yani kök ortalama kare hata, ve MAE, yani ortalama mutlak hata. İkisinde de düşük değer daha iyi. RMSE büyük hataları daha çok cezalandırıyor.
En iyi model SVM: RMSE'si 852, MAE'si 628. Yani SVM'nin tahminleri gerçek değerden ortalama 628 bisiklet sapıyor. Rastgele orman biraz daha kötü, doğrusal regresyon daha da kötü. Karar ağacı ise 1056 RMSE ile belirgin biçimde geride kalıyor.
Bu sonuçlar ileride önemli olacak, çünkü yorumladığımız modelin iyi performans göstermesi gerekiyor. Kötü bir modeli yorumlarsak veri hakkında yanlış sonuçlar çıkarabiliriz.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Birçok yorumlama yöntemi için özelliklerin birbiriyle nasıl ilişkili olduğunu bilmemiz gerekiyor. Özellikle PDP gibi yöntemler, özellikler ilişkiliyse yanıltıcı sonuçlar verebiliyor.
Önce sayısal özellikler arasındaki Pearson korelasyonuna bakalım. Belirgin tek korelasyon, turuncu çubuk: sıcaklık ile iki gün önceki kiralama sayısı arasında, 0.60. Bu mantıklı, çünkü sıcak dönemlerde daha çok bisiklet kiralanıyor. Diğer korelasyonların hepsi küçük.
Ama Pearson korelasyonunun iki eksiği var: Kategorik özelliklerle çalışmıyor ve sadece doğrusal ilişkileri ölçüyor. Bu yüzden iki araç daha kullanıyoruz: ikili saçılım grafikleri ve normalize edilmiş karşılıklı bilgi, yani NMI.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NMI'ın formüllerine kısaca bakalım, ama asıl önemli olan sağdaki yorum kısmı.
Karşılıklı bilgi, iki değişkenin ortak olasılığını, bağımsız olsalardı beklenecek olasılıkla karşılaştırıyor. Bunu iki değişkenin entropilerinin toplamına bölünce 0 ile 1 arasında bir değer elde ediyoruz.
Nasıl okunuyor? 0, iki özellik hiç bilgi paylaşmıyor demek. 1 ise bütün değişimin bu bağımlılıktan geldiği anlamına geliyor.
Sayısal özellikler için önce değerleri eşit genişlikte kutulara bölüyoruz. Kutu sayısını Freedman-Diaconis kuralı belirliyor.
Bir uyarı var: Kutu ya da kategori sayısı çok fazlaysa NMI yukarı yönlü yanlı olabiliyor, yani olduğundan yüksek çıkabiliyor. Bu yüzden NMI'a tek başına güvenmiyoruz, grafiklerle ve korelasyonla birlikte okuyoruz.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şekil kitaptan alınmış. Köşegenin altında ikili grafikler, üstünde de NMI değerleri var.
Üç şey görüyoruz. Birincisi, NMI korelasyon analizinden edindiğimiz izlenimi genel olarak doğruluyor. İkincisi, kategorik özellikler hakkında da bilgi veriyor: Mesela mevsim, sıcaklıkla 0.31, iki gün önceki kiralama sayısıyla da 0.12 bilgi paylaşıyor. Bu şaşırtıcı değil, yazın hava sıcak ve kiralama fazla. Üçüncüsü, ikili grafiklerde sıra dışı bir örüntü yok, ilişkiler çoğunlukla doğrusal. Bu da bu veri kümesi için korelasyonun iyi bir ölçü olduğunu gösteriyor.
Okunabilirlik için holiday ve workday şekilden çıkarılmış. Bir sonraki veri kümesinde, penguenlerde, işler bu kadar basit olmayacak.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veri kümesine geçiyoruz: Palmer penguenleri. Burada bir sınıflandırma problemi var, penguenin cinsiyetini vücut ölçülerinden tahmin edeceğiz.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Palmer penguenleri veri kümesi Antarktika'daki Palmer Takımadaları'ndan 333 penguenin ölçümlerini içeriyor. Veriyi Gorman, Williams ve Fraser, Palmer İstasyonu ile birlikte toplamış. Soldaki sevimli çizimler Allison Horst'a ait ve üç türü gösteriyor: Chinstrap, Gentoo ve Adelie.
Çalışma diğer konuların yanında dişi ve erkek penguenlerin görünüş farklarını incelediği için biz de cinsiyeti sınıflandırıyoruz. Turuncu satır hedefimiz: sex. Özellikler tür, vücut kütlesi, gaga uzunluğu, gaga derinliği ve palet uzunluğu.
Sağ alttaki çizim gaga ölçümlerinin nasıl yapıldığını gösteriyor: Uzunluk gaganın boyu, derinlik ise yüksekliği. On bir penguende eksik veri olduğu için bu kayıtlar çıkarılmış. Veri palmerpenguins R paketiyle yükleniyor.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Penguen modelleri de üçte iki eğitim, üçte bir test olacak şekilde eğitilmiş. Bu sefer metrikler log kaybı ve doğruluk. Log kaybında düşük, doğrulukta yüksek değer iyi.
En iyi yaklaşım lojistik regresyon: log kaybı 0.16, doğruluk 0.93. Ama burada bir detay var: Bu aslında üç ayrı model. Veri önce türe göre bölünmüş ve her tür için ayrı bir lojistik regresyon eğitilmiş. Veri kümesini oluşturanlar da makalelerinde böyle yapmış.
Rastgele orman ve karar ağacında ise tür bir özellik olarak kullanılmış. Karar ağacı için bu iyi çalışmamış, log kaybı 1.23. Rastgele orman ise doğrulukta 0.92 ile lojistik regresyona çok yakın.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penguenlerde özellik bağımlılığına bakalım. Soldaki grafikte en güçlü korelasyon turuncu çubuk: palet uzunluğu ile vücut kütlesi arasında, 0.87. Bu çok mantıklı, büyük penguenlerin paletleri de büyük. Palet uzunluğu gaga uzunluğu ve gaga derinliğiyle de ilişkili.
Ama Pearson korelasyonu sadece doğrusal bağımlılığı ölçtüğü için hikâyenin yarısını anlatıyor. Sağdaki NMI şekline bakınca garip bir şey görüyoruz: Vücut kütlesi ile gaga derinliği arasındaki NMI 0.29, yani kütle ile palet arasındaki 0.3'e çok yakın. Oysa korelasyonları çok farklı: biri 0.87, diğeri eksi 0.47. Neden böyle? Cevap bir sonraki slaytta.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Simpson paradoksu. Simpson paradoksunda, verinin gruplarında görülen bir eğilim, gruplar birleştirilince kayboluyor ya da tersine dönüyor.
Grafiğe bakın: Her türün içinde gaga derinliği ile vücut kütlesi arasında pozitif bir ilişki var. Adelie'de 0.58, Chinstrap'te 0.60, Gentoo'da 0.72. Gagası derin olan penguen daha ağır. Ama bütün penguenleri birleştirince turuncu çizgi aşağı iniyor ve korelasyon eksi 0.47 oluyor.
Bunun nedeni yeşil noktalar, yani Gentoo penguenleri. Gentoo'lar diğer türlerden çok daha ağır ama gagaları daha sığ. Gruplar birleşince bu fark eğilimi tersine çeviriyor.
Karşılıklı bilgi doğrusal bir ilişki varsaymadığı için bu sorundan etkilenmiyor. Bu grafiği palmerpenguins verisinden kendim yeniden çizdim; çizgiler her tür için doğrusal eğilim çizgileri.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Bölüm bir modelleme kararıyla bitiyor. Kitap boyunca varsayılan olarak bütün penguenler tek bir veri kümesi kabul ediliyor ve tür bir özellik olarak kullanılıyor.
Alternatif, her tür için ayrı modelleme ve analiz yapmak. Kitap bunun tartışmaya açık olsa da daha iyi olabileceğini söylüyor. Zaten performans tablosunda türe göre ayrılmış lojistik regresyon en iyi sonucu vermişti, Simpson paradoksu da gruplar arasındaki farkların ne kadar önemli olduğunu gösterdi.
Bu aslında makine öğrenmesinde çok yaygın bir gerilim. Veri noktaları çoğu zaman bir gruba ya da varlığa ait oluyor. Mesela farklı mağazaların satışlarını tahmin ederken ya da aynı partilerden gelen laboratuvar örneklerini sınıflandırırken, ayrı modeller mi kuracağımıza yoksa grup kimliğini bir özellik olarak mı kullanacağımıza karar vermemiz gerekiyor.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Özetlersek: Bisiklet verisi bir regresyon görevi, 728 gün var ve en iyi model SVM, RMSE'si 852. Penguen verisi bir sınıflandırma görevi, 333 penguen var ve en iyi yaklaşım türe göre lojistik regresyon, doğruluğu 0.93.
Bu bölümden çıkarmamız gereken en önemli ders şu: Bir modeli yorumlamadan önce veriyi tanımalıyız. Özellikler arasındaki bağımlılık, yorumlama yöntemlerinin sonuçlarını doğrudan etkiliyor. Bu yüzden korelasyonu, NMI'ı ve grafikleri birlikte kullanmalı, Simpson paradoksu gibi tuzaklara dikkat etmeliyiz.
Dinlediğiniz için teşekkür ederim.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411480"/>
          </a:xfrm>
          <a:prstGeom prst="rect">
            <a:avLst/>
          </a:prstGeom>
          <a:noFill/>
          <a:ln/>
        </p:spPr>
        <p:txBody>
          <a:bodyPr wrap="square" rtlCol="0"/>
          <a:lstStyle>
            <a:lvl1pPr algn="l" indent="0" marL="0">
              <a:buNone/>
              <a:defRPr lang="en-US" sz="1400" b="1" spc="200" kern="0"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731520" y="1874520"/>
            <a:ext cx="6583680" cy="1737360"/>
          </a:xfrm>
          <a:prstGeom prst="rect">
            <a:avLst/>
          </a:prstGeom>
          <a:noFill/>
          <a:ln/>
        </p:spPr>
        <p:txBody>
          <a:bodyPr wrap="square" rtlCol="0"/>
          <a:lstStyle>
            <a:lvl1pPr algn="l" indent="0" marL="0">
              <a:buNone/>
              <a:defRPr lang="en-US" sz="5200" b="1" dirty="0">
                <a:solidFill>
                  <a:schemeClr val="bg1"/>
                </a:solidFill>
                <a:latin typeface="Avenir" pitchFamily="34" charset="0"/>
                <a:ea typeface="Avenir" pitchFamily="34" charset="-122"/>
                <a:cs typeface="Avenir" pitchFamily="34" charset="-120"/>
              </a:defRPr>
            </a:lvl1pPr>
          </a:lstStyle>
          <a:p>
            <a:pPr algn="l" indent="0" marL="0">
              <a:buNone/>
            </a:pPr>
            <a:endParaRPr lang="en-US" sz="5200" dirty="0"/>
          </a:p>
        </p:txBody>
      </p:sp>
      <p:sp>
        <p:nvSpPr>
          <p:cNvPr id="4" name="Text 0"/>
          <p:cNvSpPr/>
          <p:nvPr>
            <p:ph idx="102" type="body" hasCustomPrompt="1"/>
          </p:nvPr>
        </p:nvSpPr>
        <p:spPr>
          <a:xfrm>
            <a:off x="731520" y="3611880"/>
            <a:ext cx="640080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5" name="Text 0"/>
          <p:cNvSpPr/>
          <p:nvPr>
            <p:ph idx="103" type="body" hasCustomPrompt="1"/>
          </p:nvPr>
        </p:nvSpPr>
        <p:spPr>
          <a:xfrm>
            <a:off x="731520" y="5074920"/>
            <a:ext cx="6400800" cy="9144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rtlCol="0"/>
          <a:lstStyle>
            <a:lvl1pPr algn="l" indent="0" marL="0">
              <a:buNone/>
              <a:defRPr lang="en-US" sz="9600" b="1" dirty="0">
                <a:solidFill>
                  <a:schemeClr val="accent2"/>
                </a:solidFill>
                <a:latin typeface="Avenir" pitchFamily="34" charset="0"/>
                <a:ea typeface="Avenir" pitchFamily="34" charset="-122"/>
                <a:cs typeface="Avenir" pitchFamily="34" charset="-120"/>
              </a:defRPr>
            </a:lvl1pPr>
          </a:lstStyle>
          <a:p>
            <a:pPr algn="l" indent="0" marL="0">
              <a:buNone/>
            </a:pP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rtlCol="0"/>
          <a:lstStyle>
            <a:lvl1pPr algn="l" indent="0" marL="0">
              <a:buNone/>
              <a:defRPr lang="en-US" sz="4400" b="1" dirty="0">
                <a:solidFill>
                  <a:schemeClr val="bg1"/>
                </a:solidFill>
                <a:latin typeface="Avenir" pitchFamily="34" charset="0"/>
                <a:ea typeface="Avenir" pitchFamily="34" charset="-122"/>
                <a:cs typeface="Avenir" pitchFamily="34" charset="-120"/>
              </a:defRPr>
            </a:lvl1pPr>
          </a:lstStyle>
          <a:p>
            <a:pPr algn="l" indent="0" marL="0">
              <a:buNone/>
            </a:pP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411480"/>
          </a:xfrm>
          <a:prstGeom prst="rect">
            <a:avLst/>
          </a:prstGeom>
          <a:noFill/>
          <a:ln/>
        </p:spPr>
        <p:txBody>
          <a:bodyPr wrap="square" rtlCol="0"/>
          <a:lstStyle>
            <a:lvl1pPr algn="l" indent="0" marL="0">
              <a:buNone/>
              <a:defRPr lang="en-US" sz="1400" b="1" spc="200" kern="0"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731520" y="1417320"/>
            <a:ext cx="6583680" cy="1828800"/>
          </a:xfrm>
          <a:prstGeom prst="rect">
            <a:avLst/>
          </a:prstGeom>
          <a:noFill/>
          <a:ln/>
        </p:spPr>
        <p:txBody>
          <a:bodyPr wrap="square" rtlCol="0"/>
          <a:lstStyle>
            <a:lvl1pPr algn="l" indent="0" marL="0">
              <a:buNone/>
              <a:defRPr lang="en-US" sz="4000" b="1" dirty="0">
                <a:solidFill>
                  <a:schemeClr val="bg1"/>
                </a:solidFill>
                <a:latin typeface="Avenir" pitchFamily="34" charset="0"/>
                <a:ea typeface="Avenir" pitchFamily="34" charset="-122"/>
                <a:cs typeface="Avenir" pitchFamily="34" charset="-120"/>
              </a:defRPr>
            </a:lvl1pPr>
          </a:lstStyle>
          <a:p>
            <a:pPr algn="l" indent="0" marL="0">
              <a:buNone/>
            </a:pPr>
            <a:endParaRPr lang="en-US" sz="4000" dirty="0"/>
          </a:p>
        </p:txBody>
      </p:sp>
      <p:sp>
        <p:nvSpPr>
          <p:cNvPr id="4" name="Text 0"/>
          <p:cNvSpPr/>
          <p:nvPr>
            <p:ph idx="102" type="body" hasCustomPrompt="1"/>
          </p:nvPr>
        </p:nvSpPr>
        <p:spPr>
          <a:xfrm>
            <a:off x="731520" y="3017520"/>
            <a:ext cx="640080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ph idx="103" type="body" hasCustomPrompt="1"/>
          </p:nvPr>
        </p:nvSpPr>
        <p:spPr>
          <a:xfrm>
            <a:off x="731520" y="5074920"/>
            <a:ext cx="6400800" cy="9144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rtlCol="0"/>
          <a:lstStyle>
            <a:lvl1pPr algn="l" indent="0" marL="0">
              <a:buNone/>
              <a:defRPr lang="en-US" sz="3200" b="1" dirty="0">
                <a:solidFill>
                  <a:schemeClr val="tx2"/>
                </a:solidFill>
                <a:latin typeface="Avenir" pitchFamily="34" charset="0"/>
                <a:ea typeface="Avenir" pitchFamily="34" charset="-122"/>
                <a:cs typeface="Avenir" pitchFamily="34" charset="-120"/>
              </a:defRPr>
            </a:lvl1pPr>
          </a:lstStyle>
          <a:p>
            <a:pPr algn="l" indent="0" marL="0">
              <a:buNone/>
            </a:pPr>
            <a:endParaRPr lang="en-US" sz="32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Chapter 5 · Data and Models · Asasira Martin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5.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5.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3-1.png"/><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411480"/>
          </a:xfrm>
          <a:prstGeom prst="rect">
            <a:avLst/>
          </a:prstGeom>
          <a:noFill/>
          <a:ln/>
        </p:spPr>
        <p:txBody>
          <a:bodyPr wrap="square" lIns="0" tIns="0" rIns="0" bIns="0" rtlCol="0" anchor="b"/>
          <a:lstStyle/>
          <a:p>
            <a:pPr algn="l" indent="0" marL="0">
              <a:buNone/>
            </a:pPr>
            <a:r>
              <a:rPr lang="en-US" sz="1400" b="1" spc="200" kern="0" dirty="0">
                <a:solidFill>
                  <a:schemeClr val="accent2"/>
                </a:solidFill>
              </a:rPr>
              <a:t>CHAPTER 5 · INTERPRETABLE MACHINE LEARNING</a:t>
            </a:r>
            <a:endParaRPr lang="en-US" sz="1400" dirty="0"/>
          </a:p>
        </p:txBody>
      </p:sp>
      <p:sp>
        <p:nvSpPr>
          <p:cNvPr id="3" name="Text 0"/>
          <p:cNvSpPr/>
          <p:nvPr>
            <p:ph idx="101" type="title" hasCustomPrompt="1"/>
          </p:nvPr>
        </p:nvSpPr>
        <p:spPr>
          <a:xfrm>
            <a:off x="731520" y="1874520"/>
            <a:ext cx="6583680" cy="1737360"/>
          </a:xfrm>
          <a:prstGeom prst="rect">
            <a:avLst/>
          </a:prstGeom>
          <a:noFill/>
          <a:ln/>
        </p:spPr>
        <p:txBody>
          <a:bodyPr wrap="square" lIns="0" tIns="0" rIns="0" bIns="0" rtlCol="0" anchor="t"/>
          <a:lstStyle/>
          <a:p>
            <a:pPr algn="l" indent="0" marL="0">
              <a:buNone/>
            </a:pPr>
            <a:r>
              <a:rPr lang="en-US" sz="5200" b="1" dirty="0">
                <a:solidFill>
                  <a:schemeClr val="bg1"/>
                </a:solidFill>
                <a:latin typeface="Avenir" pitchFamily="34" charset="0"/>
                <a:ea typeface="Avenir" pitchFamily="34" charset="-122"/>
                <a:cs typeface="Avenir" pitchFamily="34" charset="-120"/>
              </a:rPr>
              <a:t>Data and Models</a:t>
            </a:r>
            <a:endParaRPr lang="en-US" sz="5200" dirty="0"/>
          </a:p>
        </p:txBody>
      </p:sp>
      <p:sp>
        <p:nvSpPr>
          <p:cNvPr id="4" name="Text 0"/>
          <p:cNvSpPr/>
          <p:nvPr>
            <p:ph idx="102" type="body" hasCustomPrompt="1"/>
          </p:nvPr>
        </p:nvSpPr>
        <p:spPr>
          <a:xfrm>
            <a:off x="731520" y="3611880"/>
            <a:ext cx="6400800" cy="1005840"/>
          </a:xfrm>
          <a:prstGeom prst="rect">
            <a:avLst/>
          </a:prstGeom>
          <a:noFill/>
          <a:ln/>
        </p:spPr>
        <p:txBody>
          <a:bodyPr wrap="square" lIns="0" tIns="0" rIns="0" bIns="0" rtlCol="0" anchor="t"/>
          <a:lstStyle/>
          <a:p>
            <a:pPr algn="l" indent="0" marL="0">
              <a:buNone/>
            </a:pPr>
            <a:r>
              <a:rPr lang="en-US" sz="2200" dirty="0">
                <a:solidFill>
                  <a:schemeClr val="bg2"/>
                </a:solidFill>
              </a:rPr>
              <a:t>The datasets and models we interpret throughout the book</a:t>
            </a:r>
            <a:endParaRPr lang="en-US" sz="2200" dirty="0"/>
          </a:p>
        </p:txBody>
      </p:sp>
      <p:sp>
        <p:nvSpPr>
          <p:cNvPr id="5" name="Text 0"/>
          <p:cNvSpPr/>
          <p:nvPr>
            <p:ph idx="103" type="body" hasCustomPrompt="1"/>
          </p:nvPr>
        </p:nvSpPr>
        <p:spPr>
          <a:xfrm>
            <a:off x="731520" y="5074920"/>
            <a:ext cx="6400800" cy="914400"/>
          </a:xfrm>
          <a:prstGeom prst="rect">
            <a:avLst/>
          </a:prstGeom>
          <a:noFill/>
          <a:ln/>
        </p:spPr>
        <p:txBody>
          <a:bodyPr wrap="square" lIns="0" tIns="0" rIns="0" bIns="0" rtlCol="0" anchor="t"/>
          <a:lstStyle/>
          <a:p>
            <a:pPr algn="l" indent="0" marL="0">
              <a:buNone/>
            </a:pPr>
            <a:r>
              <a:rPr lang="en-US" sz="1400" b="1" dirty="0">
                <a:solidFill>
                  <a:schemeClr val="bg2"/>
                </a:solidFill>
              </a:rPr>
              <a:t>Asasira Martin</a:t>
            </a:r>
            <a:endParaRPr lang="en-US" sz="1400" dirty="0"/>
          </a:p>
          <a:p>
            <a:pPr algn="l" indent="0" marL="0">
              <a:buNone/>
            </a:pPr>
            <a:r>
              <a:rPr lang="en-US" sz="1400" dirty="0">
                <a:solidFill>
                  <a:schemeClr val="bg2"/>
                </a:solidFill>
              </a:rPr>
              <a:t>Source: C. Molnar, Interpretable Machine Learning, 3rd ed. (2025)</a:t>
            </a:r>
            <a:endParaRPr lang="en-US" sz="1400" dirty="0"/>
          </a:p>
        </p:txBody>
      </p:sp>
      <p:sp>
        <p:nvSpPr>
          <p:cNvPr id="6" name="cover-card-1"/>
          <p:cNvSpPr/>
          <p:nvPr/>
        </p:nvSpPr>
        <p:spPr>
          <a:xfrm>
            <a:off x="7452360" y="1417320"/>
            <a:ext cx="4206240" cy="3291840"/>
          </a:xfrm>
          <a:prstGeom prst="roundRect">
            <a:avLst>
              <a:gd name="adj" fmla="val 4167"/>
            </a:avLst>
          </a:prstGeom>
          <a:solidFill>
            <a:schemeClr val="bg1"/>
          </a:solidFill>
          <a:ln/>
        </p:spPr>
      </p:sp>
      <p:pic>
        <p:nvPicPr>
          <p:cNvPr id="7" name="cover-penguins" descr="Illustration of Chinstrap, Gentoo and Adelie penguins">    </p:cNvPr>
          <p:cNvPicPr>
            <a:picLocks noChangeAspect="1"/>
          </p:cNvPicPr>
          <p:nvPr/>
        </p:nvPicPr>
        <p:blipFill>
          <a:blip r:embed="rId1"/>
          <a:stretch>
            <a:fillRect/>
          </a:stretch>
        </p:blipFill>
        <p:spPr>
          <a:xfrm>
            <a:off x="7589520" y="1554480"/>
            <a:ext cx="3931920" cy="2350008"/>
          </a:xfrm>
          <a:prstGeom prst="rect">
            <a:avLst/>
          </a:prstGeom>
        </p:spPr>
      </p:pic>
      <p:sp>
        <p:nvSpPr>
          <p:cNvPr id="8" name="cover-caption-2"/>
          <p:cNvSpPr txBox="1"/>
          <p:nvPr/>
        </p:nvSpPr>
        <p:spPr>
          <a:xfrm>
            <a:off x="7589520" y="4069080"/>
            <a:ext cx="3931920" cy="365760"/>
          </a:xfrm>
          <a:prstGeom prst="rect">
            <a:avLst/>
          </a:prstGeom>
          <a:noFill/>
          <a:ln/>
        </p:spPr>
        <p:txBody>
          <a:bodyPr wrap="square" lIns="0" tIns="0" rIns="0" bIns="0" rtlCol="0" anchor="t"/>
          <a:lstStyle/>
          <a:p>
            <a:pPr algn="ctr" indent="0" marL="0">
              <a:buNone/>
            </a:pPr>
            <a:r>
              <a:rPr lang="en-US" sz="1100" i="1" dirty="0">
                <a:solidFill>
                  <a:schemeClr val="tx2"/>
                </a:solidFill>
              </a:rPr>
              <a:t>Palmer penguins · artwork by Allison Horst</a:t>
            </a:r>
            <a:endParaRPr lang="en-US" sz="1100" dirty="0"/>
          </a:p>
        </p:txBody>
      </p:sp>
      <p:sp>
        <p:nvSpPr>
          <p:cNvPr id="9" name="icon-bg-3"/>
          <p:cNvSpPr/>
          <p:nvPr/>
        </p:nvSpPr>
        <p:spPr>
          <a:xfrm>
            <a:off x="7452360" y="4983480"/>
            <a:ext cx="685800" cy="685800"/>
          </a:xfrm>
          <a:prstGeom prst="ellipse">
            <a:avLst/>
          </a:prstGeom>
          <a:solidFill>
            <a:schemeClr val="accent2"/>
          </a:solidFill>
          <a:ln/>
        </p:spPr>
      </p:sp>
      <p:pic>
        <p:nvPicPr>
          <p:cNvPr id="10" name="icon-4" descr="LuBike">    </p:cNvPr>
          <p:cNvPicPr>
            <a:picLocks noChangeAspect="1"/>
          </p:cNvPicPr>
          <p:nvPr/>
        </p:nvPicPr>
        <p:blipFill>
          <a:blip r:embed="rId2"/>
          <a:stretch>
            <a:fillRect/>
          </a:stretch>
        </p:blipFill>
        <p:spPr>
          <a:xfrm>
            <a:off x="7630668" y="5161788"/>
            <a:ext cx="329184" cy="329184"/>
          </a:xfrm>
          <a:prstGeom prst="rect">
            <a:avLst/>
          </a:prstGeom>
        </p:spPr>
      </p:pic>
      <p:sp>
        <p:nvSpPr>
          <p:cNvPr id="11" name="cover-bike-5"/>
          <p:cNvSpPr txBox="1"/>
          <p:nvPr/>
        </p:nvSpPr>
        <p:spPr>
          <a:xfrm>
            <a:off x="8275320" y="4983480"/>
            <a:ext cx="3383280" cy="685800"/>
          </a:xfrm>
          <a:prstGeom prst="rect">
            <a:avLst/>
          </a:prstGeom>
          <a:noFill/>
          <a:ln/>
        </p:spPr>
        <p:txBody>
          <a:bodyPr wrap="square" lIns="0" tIns="0" rIns="0" bIns="0" rtlCol="0" anchor="ctr"/>
          <a:lstStyle/>
          <a:p>
            <a:pPr indent="0" marL="0">
              <a:buNone/>
            </a:pPr>
            <a:r>
              <a:rPr lang="en-US" sz="1500" dirty="0">
                <a:solidFill>
                  <a:schemeClr val="bg2"/>
                </a:solidFill>
              </a:rPr>
              <a:t>and bike rentals in Washington, D.C.</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OVERVIEW</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Two datasets, two tasks</a:t>
            </a:r>
            <a:endParaRPr lang="en-US" sz="3200" dirty="0"/>
          </a:p>
        </p:txBody>
      </p:sp>
      <p:sp>
        <p:nvSpPr>
          <p:cNvPr id="4" name="dataset-card-6"/>
          <p:cNvSpPr/>
          <p:nvPr/>
        </p:nvSpPr>
        <p:spPr>
          <a:xfrm>
            <a:off x="548640" y="1554480"/>
            <a:ext cx="5364328" cy="4617720"/>
          </a:xfrm>
          <a:prstGeom prst="roundRect">
            <a:avLst>
              <a:gd name="adj" fmla="val 1980"/>
            </a:avLst>
          </a:prstGeom>
          <a:solidFill>
            <a:schemeClr val="bg2"/>
          </a:solidFill>
          <a:ln/>
        </p:spPr>
      </p:sp>
      <p:sp>
        <p:nvSpPr>
          <p:cNvPr id="5" name="icon-bg-7"/>
          <p:cNvSpPr/>
          <p:nvPr/>
        </p:nvSpPr>
        <p:spPr>
          <a:xfrm>
            <a:off x="868680" y="1828800"/>
            <a:ext cx="822960" cy="822960"/>
          </a:xfrm>
          <a:prstGeom prst="ellipse">
            <a:avLst/>
          </a:prstGeom>
          <a:solidFill>
            <a:schemeClr val="accent1"/>
          </a:solidFill>
          <a:ln/>
        </p:spPr>
      </p:sp>
      <p:pic>
        <p:nvPicPr>
          <p:cNvPr id="6" name="icon-8" descr="LuBike">    </p:cNvPr>
          <p:cNvPicPr>
            <a:picLocks noChangeAspect="1"/>
          </p:cNvPicPr>
          <p:nvPr/>
        </p:nvPicPr>
        <p:blipFill>
          <a:blip r:embed="rId1"/>
          <a:stretch>
            <a:fillRect/>
          </a:stretch>
        </p:blipFill>
        <p:spPr>
          <a:xfrm>
            <a:off x="1082650" y="2042770"/>
            <a:ext cx="395021" cy="395021"/>
          </a:xfrm>
          <a:prstGeom prst="rect">
            <a:avLst/>
          </a:prstGeom>
        </p:spPr>
      </p:pic>
      <p:sp>
        <p:nvSpPr>
          <p:cNvPr id="7" name="dataset-title-9"/>
          <p:cNvSpPr txBox="1"/>
          <p:nvPr/>
        </p:nvSpPr>
        <p:spPr>
          <a:xfrm>
            <a:off x="1874520" y="1810512"/>
            <a:ext cx="3809848" cy="502920"/>
          </a:xfrm>
          <a:prstGeom prst="rect">
            <a:avLst/>
          </a:prstGeom>
          <a:noFill/>
          <a:ln/>
        </p:spPr>
        <p:txBody>
          <a:bodyPr wrap="square" lIns="0" tIns="0" rIns="0" bIns="0" rtlCol="0" anchor="t"/>
          <a:lstStyle/>
          <a:p>
            <a:pPr indent="0" marL="0">
              <a:buNone/>
            </a:pPr>
            <a:r>
              <a:rPr lang="en-US" sz="2400" b="1" dirty="0">
                <a:solidFill>
                  <a:schemeClr val="tx2"/>
                </a:solidFill>
                <a:latin typeface="Avenir" pitchFamily="34" charset="0"/>
                <a:ea typeface="Avenir" pitchFamily="34" charset="-122"/>
                <a:cs typeface="Avenir" pitchFamily="34" charset="-120"/>
              </a:rPr>
              <a:t>Bike rentals</a:t>
            </a:r>
            <a:endParaRPr lang="en-US" sz="2400" dirty="0"/>
          </a:p>
        </p:txBody>
      </p:sp>
      <p:sp>
        <p:nvSpPr>
          <p:cNvPr id="8" name="pill-10"/>
          <p:cNvSpPr/>
          <p:nvPr/>
        </p:nvSpPr>
        <p:spPr>
          <a:xfrm>
            <a:off x="1874520" y="2331720"/>
            <a:ext cx="1920240" cy="329184"/>
          </a:xfrm>
          <a:prstGeom prst="roundRect">
            <a:avLst>
              <a:gd name="adj" fmla="val 50000"/>
            </a:avLst>
          </a:prstGeom>
          <a:solidFill>
            <a:schemeClr val="accent1"/>
          </a:solidFill>
          <a:ln/>
        </p:spPr>
      </p:sp>
      <p:sp>
        <p:nvSpPr>
          <p:cNvPr id="9" name="pill-text-11"/>
          <p:cNvSpPr txBox="1"/>
          <p:nvPr/>
        </p:nvSpPr>
        <p:spPr>
          <a:xfrm>
            <a:off x="1874520" y="2331720"/>
            <a:ext cx="192024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REGRESSION</a:t>
            </a:r>
            <a:endParaRPr lang="en-US" sz="1200" dirty="0"/>
          </a:p>
        </p:txBody>
      </p:sp>
      <p:sp>
        <p:nvSpPr>
          <p:cNvPr id="10" name="dataset-stat-12"/>
          <p:cNvSpPr txBox="1"/>
          <p:nvPr/>
        </p:nvSpPr>
        <p:spPr>
          <a:xfrm>
            <a:off x="868680" y="2926080"/>
            <a:ext cx="4724248" cy="1097280"/>
          </a:xfrm>
          <a:prstGeom prst="rect">
            <a:avLst/>
          </a:prstGeom>
          <a:noFill/>
          <a:ln/>
        </p:spPr>
        <p:txBody>
          <a:bodyPr wrap="square" lIns="0" tIns="0" rIns="0" bIns="0" rtlCol="0" anchor="ctr"/>
          <a:lstStyle/>
          <a:p>
            <a:pPr indent="0" marL="0">
              <a:buNone/>
            </a:pPr>
            <a:r>
              <a:rPr lang="en-US" sz="6600" b="1" dirty="0">
                <a:solidFill>
                  <a:schemeClr val="accent1"/>
                </a:solidFill>
                <a:latin typeface="Avenir" pitchFamily="34" charset="0"/>
                <a:ea typeface="Avenir" pitchFamily="34" charset="-122"/>
                <a:cs typeface="Avenir" pitchFamily="34" charset="-120"/>
              </a:rPr>
              <a:t>728</a:t>
            </a:r>
            <a:pPr indent="0" marL="0">
              <a:buNone/>
            </a:pPr>
            <a:r>
              <a:rPr lang="en-US" sz="2200" dirty="0">
                <a:solidFill>
                  <a:schemeClr val="tx2"/>
                </a:solidFill>
              </a:rPr>
              <a:t>  days</a:t>
            </a:r>
            <a:endParaRPr lang="en-US" sz="1600" dirty="0"/>
          </a:p>
        </p:txBody>
      </p:sp>
      <p:sp>
        <p:nvSpPr>
          <p:cNvPr id="11" name="dataset-target-13"/>
          <p:cNvSpPr txBox="1"/>
          <p:nvPr/>
        </p:nvSpPr>
        <p:spPr>
          <a:xfrm>
            <a:off x="868680" y="4206240"/>
            <a:ext cx="4724248" cy="685800"/>
          </a:xfrm>
          <a:prstGeom prst="rect">
            <a:avLst/>
          </a:prstGeom>
          <a:noFill/>
          <a:ln/>
        </p:spPr>
        <p:txBody>
          <a:bodyPr wrap="square" lIns="0" tIns="0" rIns="0" bIns="0" rtlCol="0" anchor="t"/>
          <a:lstStyle/>
          <a:p>
            <a:pPr indent="0" marL="0">
              <a:buNone/>
            </a:pPr>
            <a:r>
              <a:rPr lang="en-US" sz="1800" b="1" dirty="0">
                <a:solidFill>
                  <a:schemeClr val="tx1"/>
                </a:solidFill>
              </a:rPr>
              <a:t>Target: number of bikes rented per day (cnt)</a:t>
            </a:r>
            <a:endParaRPr lang="en-US" sz="1800" dirty="0"/>
          </a:p>
        </p:txBody>
      </p:sp>
      <p:sp>
        <p:nvSpPr>
          <p:cNvPr id="12" name="dataset-src-14"/>
          <p:cNvSpPr txBox="1"/>
          <p:nvPr/>
        </p:nvSpPr>
        <p:spPr>
          <a:xfrm>
            <a:off x="868680" y="5120640"/>
            <a:ext cx="4724248" cy="914400"/>
          </a:xfrm>
          <a:prstGeom prst="rect">
            <a:avLst/>
          </a:prstGeom>
          <a:noFill/>
          <a:ln/>
        </p:spPr>
        <p:txBody>
          <a:bodyPr wrap="square" lIns="0" tIns="0" rIns="0" bIns="0" rtlCol="0" anchor="t"/>
          <a:lstStyle/>
          <a:p>
            <a:pPr indent="0" marL="0">
              <a:buNone/>
            </a:pPr>
            <a:r>
              <a:rPr lang="en-US" sz="1400" dirty="0">
                <a:solidFill>
                  <a:schemeClr val="tx2"/>
                </a:solidFill>
              </a:rPr>
              <a:t>Capital Bikeshare, Washington, D.C.; weather and season info added by Fanaee-T and Gama (2014)</a:t>
            </a:r>
            <a:endParaRPr lang="en-US" sz="1400" dirty="0"/>
          </a:p>
        </p:txBody>
      </p:sp>
      <p:sp>
        <p:nvSpPr>
          <p:cNvPr id="13" name="dataset-card-15"/>
          <p:cNvSpPr/>
          <p:nvPr/>
        </p:nvSpPr>
        <p:spPr>
          <a:xfrm>
            <a:off x="6278728" y="1554480"/>
            <a:ext cx="5364328" cy="4617720"/>
          </a:xfrm>
          <a:prstGeom prst="roundRect">
            <a:avLst>
              <a:gd name="adj" fmla="val 1980"/>
            </a:avLst>
          </a:prstGeom>
          <a:solidFill>
            <a:schemeClr val="bg2"/>
          </a:solidFill>
          <a:ln/>
        </p:spPr>
      </p:sp>
      <p:sp>
        <p:nvSpPr>
          <p:cNvPr id="14" name="icon-bg-16"/>
          <p:cNvSpPr/>
          <p:nvPr/>
        </p:nvSpPr>
        <p:spPr>
          <a:xfrm>
            <a:off x="6598768" y="1828800"/>
            <a:ext cx="822960" cy="822960"/>
          </a:xfrm>
          <a:prstGeom prst="ellipse">
            <a:avLst/>
          </a:prstGeom>
          <a:solidFill>
            <a:schemeClr val="accent5"/>
          </a:solidFill>
          <a:ln/>
        </p:spPr>
      </p:sp>
      <p:pic>
        <p:nvPicPr>
          <p:cNvPr id="15" name="icon-17" descr="LuBird">    </p:cNvPr>
          <p:cNvPicPr>
            <a:picLocks noChangeAspect="1"/>
          </p:cNvPicPr>
          <p:nvPr/>
        </p:nvPicPr>
        <p:blipFill>
          <a:blip r:embed="rId2"/>
          <a:stretch>
            <a:fillRect/>
          </a:stretch>
        </p:blipFill>
        <p:spPr>
          <a:xfrm>
            <a:off x="6812737" y="2042770"/>
            <a:ext cx="395021" cy="395021"/>
          </a:xfrm>
          <a:prstGeom prst="rect">
            <a:avLst/>
          </a:prstGeom>
        </p:spPr>
      </p:pic>
      <p:sp>
        <p:nvSpPr>
          <p:cNvPr id="16" name="dataset-title-18"/>
          <p:cNvSpPr txBox="1"/>
          <p:nvPr/>
        </p:nvSpPr>
        <p:spPr>
          <a:xfrm>
            <a:off x="7604608" y="1810512"/>
            <a:ext cx="3809848" cy="502920"/>
          </a:xfrm>
          <a:prstGeom prst="rect">
            <a:avLst/>
          </a:prstGeom>
          <a:noFill/>
          <a:ln/>
        </p:spPr>
        <p:txBody>
          <a:bodyPr wrap="square" lIns="0" tIns="0" rIns="0" bIns="0" rtlCol="0" anchor="t"/>
          <a:lstStyle/>
          <a:p>
            <a:pPr indent="0" marL="0">
              <a:buNone/>
            </a:pPr>
            <a:r>
              <a:rPr lang="en-US" sz="2400" b="1" dirty="0">
                <a:solidFill>
                  <a:schemeClr val="tx2"/>
                </a:solidFill>
                <a:latin typeface="Avenir" pitchFamily="34" charset="0"/>
                <a:ea typeface="Avenir" pitchFamily="34" charset="-122"/>
                <a:cs typeface="Avenir" pitchFamily="34" charset="-120"/>
              </a:rPr>
              <a:t>Palmer penguins</a:t>
            </a:r>
            <a:endParaRPr lang="en-US" sz="2400" dirty="0"/>
          </a:p>
        </p:txBody>
      </p:sp>
      <p:sp>
        <p:nvSpPr>
          <p:cNvPr id="17" name="pill-19"/>
          <p:cNvSpPr/>
          <p:nvPr/>
        </p:nvSpPr>
        <p:spPr>
          <a:xfrm>
            <a:off x="7604608" y="2331720"/>
            <a:ext cx="1920240" cy="329184"/>
          </a:xfrm>
          <a:prstGeom prst="roundRect">
            <a:avLst>
              <a:gd name="adj" fmla="val 50000"/>
            </a:avLst>
          </a:prstGeom>
          <a:solidFill>
            <a:schemeClr val="accent5"/>
          </a:solidFill>
          <a:ln/>
        </p:spPr>
      </p:sp>
      <p:sp>
        <p:nvSpPr>
          <p:cNvPr id="18" name="pill-text-20"/>
          <p:cNvSpPr txBox="1"/>
          <p:nvPr/>
        </p:nvSpPr>
        <p:spPr>
          <a:xfrm>
            <a:off x="7604608" y="2331720"/>
            <a:ext cx="192024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CLASSIFICATION</a:t>
            </a:r>
            <a:endParaRPr lang="en-US" sz="1200" dirty="0"/>
          </a:p>
        </p:txBody>
      </p:sp>
      <p:sp>
        <p:nvSpPr>
          <p:cNvPr id="19" name="dataset-stat-21"/>
          <p:cNvSpPr txBox="1"/>
          <p:nvPr/>
        </p:nvSpPr>
        <p:spPr>
          <a:xfrm>
            <a:off x="6598768" y="2926080"/>
            <a:ext cx="4724248" cy="1097280"/>
          </a:xfrm>
          <a:prstGeom prst="rect">
            <a:avLst/>
          </a:prstGeom>
          <a:noFill/>
          <a:ln/>
        </p:spPr>
        <p:txBody>
          <a:bodyPr wrap="square" lIns="0" tIns="0" rIns="0" bIns="0" rtlCol="0" anchor="ctr"/>
          <a:lstStyle/>
          <a:p>
            <a:pPr indent="0" marL="0">
              <a:buNone/>
            </a:pPr>
            <a:r>
              <a:rPr lang="en-US" sz="6600" b="1" dirty="0">
                <a:solidFill>
                  <a:schemeClr val="accent5"/>
                </a:solidFill>
                <a:latin typeface="Avenir" pitchFamily="34" charset="0"/>
                <a:ea typeface="Avenir" pitchFamily="34" charset="-122"/>
                <a:cs typeface="Avenir" pitchFamily="34" charset="-120"/>
              </a:rPr>
              <a:t>333</a:t>
            </a:r>
            <a:pPr indent="0" marL="0">
              <a:buNone/>
            </a:pPr>
            <a:r>
              <a:rPr lang="en-US" sz="2200" dirty="0">
                <a:solidFill>
                  <a:schemeClr val="tx2"/>
                </a:solidFill>
              </a:rPr>
              <a:t>  penguins</a:t>
            </a:r>
            <a:endParaRPr lang="en-US" sz="1600" dirty="0"/>
          </a:p>
        </p:txBody>
      </p:sp>
      <p:sp>
        <p:nvSpPr>
          <p:cNvPr id="20" name="dataset-target-22"/>
          <p:cNvSpPr txBox="1"/>
          <p:nvPr/>
        </p:nvSpPr>
        <p:spPr>
          <a:xfrm>
            <a:off x="6598768" y="4206240"/>
            <a:ext cx="4724248" cy="685800"/>
          </a:xfrm>
          <a:prstGeom prst="rect">
            <a:avLst/>
          </a:prstGeom>
          <a:noFill/>
          <a:ln/>
        </p:spPr>
        <p:txBody>
          <a:bodyPr wrap="square" lIns="0" tIns="0" rIns="0" bIns="0" rtlCol="0" anchor="t"/>
          <a:lstStyle/>
          <a:p>
            <a:pPr indent="0" marL="0">
              <a:buNone/>
            </a:pPr>
            <a:r>
              <a:rPr lang="en-US" sz="1800" b="1" dirty="0">
                <a:solidFill>
                  <a:schemeClr val="tx1"/>
                </a:solidFill>
              </a:rPr>
              <a:t>Target: sex (male / female)</a:t>
            </a:r>
            <a:endParaRPr lang="en-US" sz="1800" dirty="0"/>
          </a:p>
        </p:txBody>
      </p:sp>
      <p:sp>
        <p:nvSpPr>
          <p:cNvPr id="21" name="dataset-src-23"/>
          <p:cNvSpPr txBox="1"/>
          <p:nvPr/>
        </p:nvSpPr>
        <p:spPr>
          <a:xfrm>
            <a:off x="6598768" y="5120640"/>
            <a:ext cx="4724248" cy="914400"/>
          </a:xfrm>
          <a:prstGeom prst="rect">
            <a:avLst/>
          </a:prstGeom>
          <a:noFill/>
          <a:ln/>
        </p:spPr>
        <p:txBody>
          <a:bodyPr wrap="square" lIns="0" tIns="0" rIns="0" bIns="0" rtlCol="0" anchor="t"/>
          <a:lstStyle/>
          <a:p>
            <a:pPr indent="0" marL="0">
              <a:buNone/>
            </a:pPr>
            <a:r>
              <a:rPr lang="en-US" sz="1400" dirty="0">
                <a:solidFill>
                  <a:schemeClr val="tx2"/>
                </a:solidFill>
              </a:rPr>
              <a:t>Palmer Station, Antarctica; Gorman, Williams and Fraser (2014)</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algn="l" indent="0" marL="0">
              <a:buNone/>
            </a:pPr>
            <a:r>
              <a:rPr lang="en-US" sz="9600" b="1" dirty="0">
                <a:solidFill>
                  <a:schemeClr val="accent2"/>
                </a:solidFill>
                <a:latin typeface="Avenir" pitchFamily="34" charset="0"/>
                <a:ea typeface="Avenir" pitchFamily="34" charset="-122"/>
                <a:cs typeface="Avenir" pitchFamily="34" charset="-120"/>
              </a:rPr>
              <a:t>01</a:t>
            </a: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lIns="0" tIns="0" rIns="0" bIns="0" rtlCol="0" anchor="t"/>
          <a:lstStyle/>
          <a:p>
            <a:pPr algn="l" indent="0" marL="0">
              <a:buNone/>
            </a:pPr>
            <a:r>
              <a:rPr lang="en-US" sz="4400" b="1" dirty="0">
                <a:solidFill>
                  <a:schemeClr val="bg1"/>
                </a:solidFill>
                <a:latin typeface="Avenir" pitchFamily="34" charset="0"/>
                <a:ea typeface="Avenir" pitchFamily="34" charset="-122"/>
                <a:cs typeface="Avenir" pitchFamily="34" charset="-120"/>
              </a:rPr>
              <a:t>Bike rentals</a:t>
            </a: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lIns="0" tIns="0" rIns="0" bIns="0" rtlCol="0" anchor="t"/>
          <a:lstStyle/>
          <a:p>
            <a:pPr algn="l" indent="0" marL="0">
              <a:buNone/>
            </a:pPr>
            <a:r>
              <a:rPr lang="en-US" sz="2000" dirty="0">
                <a:solidFill>
                  <a:schemeClr val="bg2"/>
                </a:solidFill>
              </a:rPr>
              <a:t>Regression: predicting the number of bikes rented per day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BIKE RENTALS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One target, eight features</a:t>
            </a:r>
            <a:endParaRPr lang="en-US" sz="3200" dirty="0"/>
          </a:p>
        </p:txBody>
      </p:sp>
      <p:sp>
        <p:nvSpPr>
          <p:cNvPr id="4" name="feature-tile-24"/>
          <p:cNvSpPr/>
          <p:nvPr/>
        </p:nvSpPr>
        <p:spPr>
          <a:xfrm>
            <a:off x="548640" y="1554480"/>
            <a:ext cx="3576218" cy="1261872"/>
          </a:xfrm>
          <a:prstGeom prst="roundRect">
            <a:avLst>
              <a:gd name="adj" fmla="val 7246"/>
            </a:avLst>
          </a:prstGeom>
          <a:solidFill>
            <a:schemeClr val="accent2"/>
          </a:solidFill>
          <a:ln/>
        </p:spPr>
      </p:sp>
      <p:sp>
        <p:nvSpPr>
          <p:cNvPr id="5" name="icon-bg-25"/>
          <p:cNvSpPr/>
          <p:nvPr/>
        </p:nvSpPr>
        <p:spPr>
          <a:xfrm>
            <a:off x="777240" y="1847088"/>
            <a:ext cx="676656" cy="676656"/>
          </a:xfrm>
          <a:prstGeom prst="ellipse">
            <a:avLst/>
          </a:prstGeom>
          <a:solidFill>
            <a:schemeClr val="bg1"/>
          </a:solidFill>
          <a:ln/>
        </p:spPr>
      </p:sp>
      <p:pic>
        <p:nvPicPr>
          <p:cNvPr id="6" name="icon-26" descr="LuBike">    </p:cNvPr>
          <p:cNvPicPr>
            <a:picLocks noChangeAspect="1"/>
          </p:cNvPicPr>
          <p:nvPr/>
        </p:nvPicPr>
        <p:blipFill>
          <a:blip r:embed="rId1"/>
          <a:stretch>
            <a:fillRect/>
          </a:stretch>
        </p:blipFill>
        <p:spPr>
          <a:xfrm>
            <a:off x="953171" y="2023019"/>
            <a:ext cx="324795" cy="324795"/>
          </a:xfrm>
          <a:prstGeom prst="rect">
            <a:avLst/>
          </a:prstGeom>
        </p:spPr>
      </p:pic>
      <p:sp>
        <p:nvSpPr>
          <p:cNvPr id="7" name="feature-text-27"/>
          <p:cNvSpPr txBox="1"/>
          <p:nvPr/>
        </p:nvSpPr>
        <p:spPr>
          <a:xfrm>
            <a:off x="1645920" y="1554480"/>
            <a:ext cx="2296058" cy="1261872"/>
          </a:xfrm>
          <a:prstGeom prst="rect">
            <a:avLst/>
          </a:prstGeom>
          <a:noFill/>
          <a:ln/>
        </p:spPr>
        <p:txBody>
          <a:bodyPr wrap="square" lIns="0" tIns="0" rIns="0" bIns="0" rtlCol="0" anchor="ctr"/>
          <a:lstStyle/>
          <a:p>
            <a:pPr indent="0" marL="0">
              <a:buNone/>
            </a:pPr>
            <a:r>
              <a:rPr lang="en-US" sz="1700" b="1" dirty="0">
                <a:solidFill>
                  <a:schemeClr val="bg1"/>
                </a:solidFill>
                <a:latin typeface="Courier New" pitchFamily="34" charset="0"/>
                <a:ea typeface="Courier New" pitchFamily="34" charset="-122"/>
                <a:cs typeface="Courier New" pitchFamily="34" charset="-120"/>
              </a:rPr>
              <a:t>cnt</a:t>
            </a:r>
            <a:pPr indent="0" marL="0">
              <a:buNone/>
            </a:pPr>
            <a:r>
              <a:rPr lang="en-US" sz="1100" b="1" spc="100" kern="0" dirty="0">
                <a:solidFill>
                  <a:schemeClr val="bg1"/>
                </a:solidFill>
              </a:rPr>
              <a:t>   TARGET</a:t>
            </a:r>
            <a:pPr indent="0" marL="0">
              <a:buNone/>
            </a:pPr>
            <a:endParaRPr lang="en-US" sz="1600" dirty="0"/>
          </a:p>
          <a:p>
            <a:pPr indent="0" marL="0">
              <a:buNone/>
            </a:pPr>
            <a:r>
              <a:rPr lang="en-US" sz="1400" dirty="0">
                <a:solidFill>
                  <a:schemeClr val="bg1"/>
                </a:solidFill>
              </a:rPr>
              <a:t>Count of rented bikes (casual + registered)</a:t>
            </a:r>
            <a:endParaRPr lang="en-US" sz="1600" dirty="0"/>
          </a:p>
        </p:txBody>
      </p:sp>
      <p:sp>
        <p:nvSpPr>
          <p:cNvPr id="8" name="feature-tile-28"/>
          <p:cNvSpPr/>
          <p:nvPr/>
        </p:nvSpPr>
        <p:spPr>
          <a:xfrm>
            <a:off x="4307738" y="1554480"/>
            <a:ext cx="3576218" cy="1261872"/>
          </a:xfrm>
          <a:prstGeom prst="roundRect">
            <a:avLst>
              <a:gd name="adj" fmla="val 7246"/>
            </a:avLst>
          </a:prstGeom>
          <a:solidFill>
            <a:schemeClr val="bg2"/>
          </a:solidFill>
          <a:ln/>
        </p:spPr>
      </p:sp>
      <p:sp>
        <p:nvSpPr>
          <p:cNvPr id="9" name="icon-bg-29"/>
          <p:cNvSpPr/>
          <p:nvPr/>
        </p:nvSpPr>
        <p:spPr>
          <a:xfrm>
            <a:off x="4536338" y="1847088"/>
            <a:ext cx="676656" cy="676656"/>
          </a:xfrm>
          <a:prstGeom prst="ellipse">
            <a:avLst/>
          </a:prstGeom>
          <a:solidFill>
            <a:schemeClr val="accent1"/>
          </a:solidFill>
          <a:ln/>
        </p:spPr>
      </p:sp>
      <p:pic>
        <p:nvPicPr>
          <p:cNvPr id="10" name="icon-30" descr="LuLeaf">    </p:cNvPr>
          <p:cNvPicPr>
            <a:picLocks noChangeAspect="1"/>
          </p:cNvPicPr>
          <p:nvPr/>
        </p:nvPicPr>
        <p:blipFill>
          <a:blip r:embed="rId2"/>
          <a:stretch>
            <a:fillRect/>
          </a:stretch>
        </p:blipFill>
        <p:spPr>
          <a:xfrm>
            <a:off x="4712269" y="2023019"/>
            <a:ext cx="324795" cy="324795"/>
          </a:xfrm>
          <a:prstGeom prst="rect">
            <a:avLst/>
          </a:prstGeom>
        </p:spPr>
      </p:pic>
      <p:sp>
        <p:nvSpPr>
          <p:cNvPr id="11" name="feature-text-31"/>
          <p:cNvSpPr txBox="1"/>
          <p:nvPr/>
        </p:nvSpPr>
        <p:spPr>
          <a:xfrm>
            <a:off x="5405018" y="1554480"/>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season</a:t>
            </a:r>
            <a:pPr indent="0" marL="0">
              <a:buNone/>
            </a:pPr>
            <a:endParaRPr lang="en-US" sz="1600" dirty="0"/>
          </a:p>
          <a:p>
            <a:pPr indent="0" marL="0">
              <a:buNone/>
            </a:pPr>
            <a:r>
              <a:rPr lang="en-US" sz="1400" dirty="0">
                <a:solidFill>
                  <a:schemeClr val="tx1"/>
                </a:solidFill>
              </a:rPr>
              <a:t>Spring, summer, fall or winter</a:t>
            </a:r>
            <a:endParaRPr lang="en-US" sz="1600" dirty="0"/>
          </a:p>
        </p:txBody>
      </p:sp>
      <p:sp>
        <p:nvSpPr>
          <p:cNvPr id="12" name="feature-tile-32"/>
          <p:cNvSpPr/>
          <p:nvPr/>
        </p:nvSpPr>
        <p:spPr>
          <a:xfrm>
            <a:off x="8066837" y="1554480"/>
            <a:ext cx="3576218" cy="1261872"/>
          </a:xfrm>
          <a:prstGeom prst="roundRect">
            <a:avLst>
              <a:gd name="adj" fmla="val 7246"/>
            </a:avLst>
          </a:prstGeom>
          <a:solidFill>
            <a:schemeClr val="bg2"/>
          </a:solidFill>
          <a:ln/>
        </p:spPr>
      </p:sp>
      <p:sp>
        <p:nvSpPr>
          <p:cNvPr id="13" name="icon-bg-33"/>
          <p:cNvSpPr/>
          <p:nvPr/>
        </p:nvSpPr>
        <p:spPr>
          <a:xfrm>
            <a:off x="8295437" y="1847088"/>
            <a:ext cx="676656" cy="676656"/>
          </a:xfrm>
          <a:prstGeom prst="ellipse">
            <a:avLst/>
          </a:prstGeom>
          <a:solidFill>
            <a:schemeClr val="accent1"/>
          </a:solidFill>
          <a:ln/>
        </p:spPr>
      </p:sp>
      <p:pic>
        <p:nvPicPr>
          <p:cNvPr id="14" name="icon-34" descr="LuPartyPopper">    </p:cNvPr>
          <p:cNvPicPr>
            <a:picLocks noChangeAspect="1"/>
          </p:cNvPicPr>
          <p:nvPr/>
        </p:nvPicPr>
        <p:blipFill>
          <a:blip r:embed="rId3"/>
          <a:stretch>
            <a:fillRect/>
          </a:stretch>
        </p:blipFill>
        <p:spPr>
          <a:xfrm>
            <a:off x="8471367" y="2023019"/>
            <a:ext cx="324795" cy="324795"/>
          </a:xfrm>
          <a:prstGeom prst="rect">
            <a:avLst/>
          </a:prstGeom>
        </p:spPr>
      </p:pic>
      <p:sp>
        <p:nvSpPr>
          <p:cNvPr id="15" name="feature-text-35"/>
          <p:cNvSpPr txBox="1"/>
          <p:nvPr/>
        </p:nvSpPr>
        <p:spPr>
          <a:xfrm>
            <a:off x="9164117" y="1554480"/>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holiday</a:t>
            </a:r>
            <a:pPr indent="0" marL="0">
              <a:buNone/>
            </a:pPr>
            <a:endParaRPr lang="en-US" sz="1600" dirty="0"/>
          </a:p>
          <a:p>
            <a:pPr indent="0" marL="0">
              <a:buNone/>
            </a:pPr>
            <a:r>
              <a:rPr lang="en-US" sz="1400" dirty="0">
                <a:solidFill>
                  <a:schemeClr val="tx1"/>
                </a:solidFill>
              </a:rPr>
              <a:t>Is the day a holiday?</a:t>
            </a:r>
            <a:endParaRPr lang="en-US" sz="1600" dirty="0"/>
          </a:p>
        </p:txBody>
      </p:sp>
      <p:sp>
        <p:nvSpPr>
          <p:cNvPr id="16" name="feature-tile-36"/>
          <p:cNvSpPr/>
          <p:nvPr/>
        </p:nvSpPr>
        <p:spPr>
          <a:xfrm>
            <a:off x="548640" y="2999232"/>
            <a:ext cx="3576218" cy="1261872"/>
          </a:xfrm>
          <a:prstGeom prst="roundRect">
            <a:avLst>
              <a:gd name="adj" fmla="val 7246"/>
            </a:avLst>
          </a:prstGeom>
          <a:solidFill>
            <a:schemeClr val="bg2"/>
          </a:solidFill>
          <a:ln/>
        </p:spPr>
      </p:sp>
      <p:sp>
        <p:nvSpPr>
          <p:cNvPr id="17" name="icon-bg-37"/>
          <p:cNvSpPr/>
          <p:nvPr/>
        </p:nvSpPr>
        <p:spPr>
          <a:xfrm>
            <a:off x="777240" y="3291840"/>
            <a:ext cx="676656" cy="676656"/>
          </a:xfrm>
          <a:prstGeom prst="ellipse">
            <a:avLst/>
          </a:prstGeom>
          <a:solidFill>
            <a:schemeClr val="accent1"/>
          </a:solidFill>
          <a:ln/>
        </p:spPr>
      </p:sp>
      <p:pic>
        <p:nvPicPr>
          <p:cNvPr id="18" name="icon-38" descr="LuBriefcase">    </p:cNvPr>
          <p:cNvPicPr>
            <a:picLocks noChangeAspect="1"/>
          </p:cNvPicPr>
          <p:nvPr/>
        </p:nvPicPr>
        <p:blipFill>
          <a:blip r:embed="rId4"/>
          <a:stretch>
            <a:fillRect/>
          </a:stretch>
        </p:blipFill>
        <p:spPr>
          <a:xfrm>
            <a:off x="953171" y="3467771"/>
            <a:ext cx="324795" cy="324795"/>
          </a:xfrm>
          <a:prstGeom prst="rect">
            <a:avLst/>
          </a:prstGeom>
        </p:spPr>
      </p:pic>
      <p:sp>
        <p:nvSpPr>
          <p:cNvPr id="19" name="feature-text-39"/>
          <p:cNvSpPr txBox="1"/>
          <p:nvPr/>
        </p:nvSpPr>
        <p:spPr>
          <a:xfrm>
            <a:off x="1645920" y="2999232"/>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workday</a:t>
            </a:r>
            <a:pPr indent="0" marL="0">
              <a:buNone/>
            </a:pPr>
            <a:endParaRPr lang="en-US" sz="1600" dirty="0"/>
          </a:p>
          <a:p>
            <a:pPr indent="0" marL="0">
              <a:buNone/>
            </a:pPr>
            <a:r>
              <a:rPr lang="en-US" sz="1400" dirty="0">
                <a:solidFill>
                  <a:schemeClr val="tx1"/>
                </a:solidFill>
              </a:rPr>
              <a:t>Working day or weekend?</a:t>
            </a:r>
            <a:endParaRPr lang="en-US" sz="1600" dirty="0"/>
          </a:p>
        </p:txBody>
      </p:sp>
      <p:sp>
        <p:nvSpPr>
          <p:cNvPr id="20" name="feature-tile-40"/>
          <p:cNvSpPr/>
          <p:nvPr/>
        </p:nvSpPr>
        <p:spPr>
          <a:xfrm>
            <a:off x="4307738" y="2999232"/>
            <a:ext cx="3576218" cy="1261872"/>
          </a:xfrm>
          <a:prstGeom prst="roundRect">
            <a:avLst>
              <a:gd name="adj" fmla="val 7246"/>
            </a:avLst>
          </a:prstGeom>
          <a:solidFill>
            <a:schemeClr val="bg2"/>
          </a:solidFill>
          <a:ln/>
        </p:spPr>
      </p:sp>
      <p:sp>
        <p:nvSpPr>
          <p:cNvPr id="21" name="icon-bg-41"/>
          <p:cNvSpPr/>
          <p:nvPr/>
        </p:nvSpPr>
        <p:spPr>
          <a:xfrm>
            <a:off x="4536338" y="3291840"/>
            <a:ext cx="676656" cy="676656"/>
          </a:xfrm>
          <a:prstGeom prst="ellipse">
            <a:avLst/>
          </a:prstGeom>
          <a:solidFill>
            <a:schemeClr val="accent1"/>
          </a:solidFill>
          <a:ln/>
        </p:spPr>
      </p:sp>
      <p:pic>
        <p:nvPicPr>
          <p:cNvPr id="22" name="icon-42" descr="LuCloudSun">    </p:cNvPr>
          <p:cNvPicPr>
            <a:picLocks noChangeAspect="1"/>
          </p:cNvPicPr>
          <p:nvPr/>
        </p:nvPicPr>
        <p:blipFill>
          <a:blip r:embed="rId5"/>
          <a:stretch>
            <a:fillRect/>
          </a:stretch>
        </p:blipFill>
        <p:spPr>
          <a:xfrm>
            <a:off x="4712269" y="3467771"/>
            <a:ext cx="324795" cy="324795"/>
          </a:xfrm>
          <a:prstGeom prst="rect">
            <a:avLst/>
          </a:prstGeom>
        </p:spPr>
      </p:pic>
      <p:sp>
        <p:nvSpPr>
          <p:cNvPr id="23" name="feature-text-43"/>
          <p:cNvSpPr txBox="1"/>
          <p:nvPr/>
        </p:nvSpPr>
        <p:spPr>
          <a:xfrm>
            <a:off x="5405018" y="2999232"/>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weather</a:t>
            </a:r>
            <a:pPr indent="0" marL="0">
              <a:buNone/>
            </a:pPr>
            <a:endParaRPr lang="en-US" sz="1600" dirty="0"/>
          </a:p>
          <a:p>
            <a:pPr indent="0" marL="0">
              <a:buNone/>
            </a:pPr>
            <a:r>
              <a:rPr lang="en-US" sz="1400" dirty="0">
                <a:solidFill>
                  <a:schemeClr val="tx1"/>
                </a:solidFill>
              </a:rPr>
              <a:t>Weather: good, misty or bad</a:t>
            </a:r>
            <a:endParaRPr lang="en-US" sz="1600" dirty="0"/>
          </a:p>
        </p:txBody>
      </p:sp>
      <p:sp>
        <p:nvSpPr>
          <p:cNvPr id="24" name="feature-tile-44"/>
          <p:cNvSpPr/>
          <p:nvPr/>
        </p:nvSpPr>
        <p:spPr>
          <a:xfrm>
            <a:off x="8066837" y="2999232"/>
            <a:ext cx="3576218" cy="1261872"/>
          </a:xfrm>
          <a:prstGeom prst="roundRect">
            <a:avLst>
              <a:gd name="adj" fmla="val 7246"/>
            </a:avLst>
          </a:prstGeom>
          <a:solidFill>
            <a:schemeClr val="bg2"/>
          </a:solidFill>
          <a:ln/>
        </p:spPr>
      </p:sp>
      <p:sp>
        <p:nvSpPr>
          <p:cNvPr id="25" name="icon-bg-45"/>
          <p:cNvSpPr/>
          <p:nvPr/>
        </p:nvSpPr>
        <p:spPr>
          <a:xfrm>
            <a:off x="8295437" y="3291840"/>
            <a:ext cx="676656" cy="676656"/>
          </a:xfrm>
          <a:prstGeom prst="ellipse">
            <a:avLst/>
          </a:prstGeom>
          <a:solidFill>
            <a:schemeClr val="accent1"/>
          </a:solidFill>
          <a:ln/>
        </p:spPr>
      </p:sp>
      <p:pic>
        <p:nvPicPr>
          <p:cNvPr id="26" name="icon-46" descr="LuThermometer">    </p:cNvPr>
          <p:cNvPicPr>
            <a:picLocks noChangeAspect="1"/>
          </p:cNvPicPr>
          <p:nvPr/>
        </p:nvPicPr>
        <p:blipFill>
          <a:blip r:embed="rId6"/>
          <a:stretch>
            <a:fillRect/>
          </a:stretch>
        </p:blipFill>
        <p:spPr>
          <a:xfrm>
            <a:off x="8471367" y="3467771"/>
            <a:ext cx="324795" cy="324795"/>
          </a:xfrm>
          <a:prstGeom prst="rect">
            <a:avLst/>
          </a:prstGeom>
        </p:spPr>
      </p:pic>
      <p:sp>
        <p:nvSpPr>
          <p:cNvPr id="27" name="feature-text-47"/>
          <p:cNvSpPr txBox="1"/>
          <p:nvPr/>
        </p:nvSpPr>
        <p:spPr>
          <a:xfrm>
            <a:off x="9164117" y="2999232"/>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temp</a:t>
            </a:r>
            <a:pPr indent="0" marL="0">
              <a:buNone/>
            </a:pPr>
            <a:endParaRPr lang="en-US" sz="1600" dirty="0"/>
          </a:p>
          <a:p>
            <a:pPr indent="0" marL="0">
              <a:buNone/>
            </a:pPr>
            <a:r>
              <a:rPr lang="en-US" sz="1400" dirty="0">
                <a:solidFill>
                  <a:schemeClr val="tx1"/>
                </a:solidFill>
              </a:rPr>
              <a:t>Temperature (°C)</a:t>
            </a:r>
            <a:endParaRPr lang="en-US" sz="1600" dirty="0"/>
          </a:p>
        </p:txBody>
      </p:sp>
      <p:sp>
        <p:nvSpPr>
          <p:cNvPr id="28" name="feature-tile-48"/>
          <p:cNvSpPr/>
          <p:nvPr/>
        </p:nvSpPr>
        <p:spPr>
          <a:xfrm>
            <a:off x="548640" y="4443984"/>
            <a:ext cx="3576218" cy="1261872"/>
          </a:xfrm>
          <a:prstGeom prst="roundRect">
            <a:avLst>
              <a:gd name="adj" fmla="val 7246"/>
            </a:avLst>
          </a:prstGeom>
          <a:solidFill>
            <a:schemeClr val="bg2"/>
          </a:solidFill>
          <a:ln/>
        </p:spPr>
      </p:sp>
      <p:sp>
        <p:nvSpPr>
          <p:cNvPr id="29" name="icon-bg-49"/>
          <p:cNvSpPr/>
          <p:nvPr/>
        </p:nvSpPr>
        <p:spPr>
          <a:xfrm>
            <a:off x="777240" y="4736592"/>
            <a:ext cx="676656" cy="676656"/>
          </a:xfrm>
          <a:prstGeom prst="ellipse">
            <a:avLst/>
          </a:prstGeom>
          <a:solidFill>
            <a:schemeClr val="accent1"/>
          </a:solidFill>
          <a:ln/>
        </p:spPr>
      </p:sp>
      <p:pic>
        <p:nvPicPr>
          <p:cNvPr id="30" name="icon-50" descr="LuDroplets">    </p:cNvPr>
          <p:cNvPicPr>
            <a:picLocks noChangeAspect="1"/>
          </p:cNvPicPr>
          <p:nvPr/>
        </p:nvPicPr>
        <p:blipFill>
          <a:blip r:embed="rId7"/>
          <a:stretch>
            <a:fillRect/>
          </a:stretch>
        </p:blipFill>
        <p:spPr>
          <a:xfrm>
            <a:off x="953171" y="4912523"/>
            <a:ext cx="324795" cy="324795"/>
          </a:xfrm>
          <a:prstGeom prst="rect">
            <a:avLst/>
          </a:prstGeom>
        </p:spPr>
      </p:pic>
      <p:sp>
        <p:nvSpPr>
          <p:cNvPr id="31" name="feature-text-51"/>
          <p:cNvSpPr txBox="1"/>
          <p:nvPr/>
        </p:nvSpPr>
        <p:spPr>
          <a:xfrm>
            <a:off x="1645920" y="4443984"/>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hum</a:t>
            </a:r>
            <a:pPr indent="0" marL="0">
              <a:buNone/>
            </a:pPr>
            <a:endParaRPr lang="en-US" sz="1600" dirty="0"/>
          </a:p>
          <a:p>
            <a:pPr indent="0" marL="0">
              <a:buNone/>
            </a:pPr>
            <a:r>
              <a:rPr lang="en-US" sz="1400" dirty="0">
                <a:solidFill>
                  <a:schemeClr val="tx1"/>
                </a:solidFill>
              </a:rPr>
              <a:t>Relative humidity (%, 0–100)</a:t>
            </a:r>
            <a:endParaRPr lang="en-US" sz="1600" dirty="0"/>
          </a:p>
        </p:txBody>
      </p:sp>
      <p:sp>
        <p:nvSpPr>
          <p:cNvPr id="32" name="feature-tile-52"/>
          <p:cNvSpPr/>
          <p:nvPr/>
        </p:nvSpPr>
        <p:spPr>
          <a:xfrm>
            <a:off x="4307738" y="4443984"/>
            <a:ext cx="3576218" cy="1261872"/>
          </a:xfrm>
          <a:prstGeom prst="roundRect">
            <a:avLst>
              <a:gd name="adj" fmla="val 7246"/>
            </a:avLst>
          </a:prstGeom>
          <a:solidFill>
            <a:schemeClr val="bg2"/>
          </a:solidFill>
          <a:ln/>
        </p:spPr>
      </p:sp>
      <p:sp>
        <p:nvSpPr>
          <p:cNvPr id="33" name="icon-bg-53"/>
          <p:cNvSpPr/>
          <p:nvPr/>
        </p:nvSpPr>
        <p:spPr>
          <a:xfrm>
            <a:off x="4536338" y="4736592"/>
            <a:ext cx="676656" cy="676656"/>
          </a:xfrm>
          <a:prstGeom prst="ellipse">
            <a:avLst/>
          </a:prstGeom>
          <a:solidFill>
            <a:schemeClr val="accent1"/>
          </a:solidFill>
          <a:ln/>
        </p:spPr>
      </p:sp>
      <p:pic>
        <p:nvPicPr>
          <p:cNvPr id="34" name="icon-54" descr="LuWind">    </p:cNvPr>
          <p:cNvPicPr>
            <a:picLocks noChangeAspect="1"/>
          </p:cNvPicPr>
          <p:nvPr/>
        </p:nvPicPr>
        <p:blipFill>
          <a:blip r:embed="rId8"/>
          <a:stretch>
            <a:fillRect/>
          </a:stretch>
        </p:blipFill>
        <p:spPr>
          <a:xfrm>
            <a:off x="4712269" y="4912523"/>
            <a:ext cx="324795" cy="324795"/>
          </a:xfrm>
          <a:prstGeom prst="rect">
            <a:avLst/>
          </a:prstGeom>
        </p:spPr>
      </p:pic>
      <p:sp>
        <p:nvSpPr>
          <p:cNvPr id="35" name="feature-text-55"/>
          <p:cNvSpPr txBox="1"/>
          <p:nvPr/>
        </p:nvSpPr>
        <p:spPr>
          <a:xfrm>
            <a:off x="5405018" y="4443984"/>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windspeed</a:t>
            </a:r>
            <a:pPr indent="0" marL="0">
              <a:buNone/>
            </a:pPr>
            <a:endParaRPr lang="en-US" sz="1600" dirty="0"/>
          </a:p>
          <a:p>
            <a:pPr indent="0" marL="0">
              <a:buNone/>
            </a:pPr>
            <a:r>
              <a:rPr lang="en-US" sz="1400" dirty="0">
                <a:solidFill>
                  <a:schemeClr val="tx1"/>
                </a:solidFill>
              </a:rPr>
              <a:t>Wind speed (km/h)</a:t>
            </a:r>
            <a:endParaRPr lang="en-US" sz="1600" dirty="0"/>
          </a:p>
        </p:txBody>
      </p:sp>
      <p:sp>
        <p:nvSpPr>
          <p:cNvPr id="36" name="feature-tile-56"/>
          <p:cNvSpPr/>
          <p:nvPr/>
        </p:nvSpPr>
        <p:spPr>
          <a:xfrm>
            <a:off x="8066837" y="4443984"/>
            <a:ext cx="3576218" cy="1261872"/>
          </a:xfrm>
          <a:prstGeom prst="roundRect">
            <a:avLst>
              <a:gd name="adj" fmla="val 7246"/>
            </a:avLst>
          </a:prstGeom>
          <a:solidFill>
            <a:schemeClr val="bg2"/>
          </a:solidFill>
          <a:ln/>
        </p:spPr>
      </p:sp>
      <p:sp>
        <p:nvSpPr>
          <p:cNvPr id="37" name="icon-bg-57"/>
          <p:cNvSpPr/>
          <p:nvPr/>
        </p:nvSpPr>
        <p:spPr>
          <a:xfrm>
            <a:off x="8295437" y="4736592"/>
            <a:ext cx="676656" cy="676656"/>
          </a:xfrm>
          <a:prstGeom prst="ellipse">
            <a:avLst/>
          </a:prstGeom>
          <a:solidFill>
            <a:schemeClr val="accent1"/>
          </a:solidFill>
          <a:ln/>
        </p:spPr>
      </p:sp>
      <p:pic>
        <p:nvPicPr>
          <p:cNvPr id="38" name="icon-58" descr="LuHistory">    </p:cNvPr>
          <p:cNvPicPr>
            <a:picLocks noChangeAspect="1"/>
          </p:cNvPicPr>
          <p:nvPr/>
        </p:nvPicPr>
        <p:blipFill>
          <a:blip r:embed="rId9"/>
          <a:stretch>
            <a:fillRect/>
          </a:stretch>
        </p:blipFill>
        <p:spPr>
          <a:xfrm>
            <a:off x="8471367" y="4912523"/>
            <a:ext cx="324795" cy="324795"/>
          </a:xfrm>
          <a:prstGeom prst="rect">
            <a:avLst/>
          </a:prstGeom>
        </p:spPr>
      </p:pic>
      <p:sp>
        <p:nvSpPr>
          <p:cNvPr id="39" name="feature-text-59"/>
          <p:cNvSpPr txBox="1"/>
          <p:nvPr/>
        </p:nvSpPr>
        <p:spPr>
          <a:xfrm>
            <a:off x="9164117" y="4443984"/>
            <a:ext cx="2296058" cy="1261872"/>
          </a:xfrm>
          <a:prstGeom prst="rect">
            <a:avLst/>
          </a:prstGeom>
          <a:noFill/>
          <a:ln/>
        </p:spPr>
        <p:txBody>
          <a:bodyPr wrap="square" lIns="0" tIns="0" rIns="0" bIns="0" rtlCol="0" anchor="ctr"/>
          <a:lstStyle/>
          <a:p>
            <a:pPr indent="0" marL="0">
              <a:buNone/>
            </a:pPr>
            <a:r>
              <a:rPr lang="en-US" sz="1700" b="1" dirty="0">
                <a:solidFill>
                  <a:schemeClr val="tx2"/>
                </a:solidFill>
                <a:latin typeface="Courier New" pitchFamily="34" charset="0"/>
                <a:ea typeface="Courier New" pitchFamily="34" charset="-122"/>
                <a:cs typeface="Courier New" pitchFamily="34" charset="-120"/>
              </a:rPr>
              <a:t>cnt_2d_bfr</a:t>
            </a:r>
            <a:pPr indent="0" marL="0">
              <a:buNone/>
            </a:pPr>
            <a:endParaRPr lang="en-US" sz="1600" dirty="0"/>
          </a:p>
          <a:p>
            <a:pPr indent="0" marL="0">
              <a:buNone/>
            </a:pPr>
            <a:r>
              <a:rPr lang="en-US" sz="1400" dirty="0">
                <a:solidFill>
                  <a:schemeClr val="tx1"/>
                </a:solidFill>
              </a:rPr>
              <a:t>Bikes rented two days before</a:t>
            </a:r>
            <a:endParaRPr lang="en-US" sz="1600" dirty="0"/>
          </a:p>
        </p:txBody>
      </p:sp>
      <p:sp>
        <p:nvSpPr>
          <p:cNvPr id="40" name="preprocess-60"/>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300" i="1" dirty="0">
                <a:solidFill>
                  <a:schemeClr val="tx2"/>
                </a:solidFill>
              </a:rPr>
              <a:t>Processing: one day with humidity 0 and the first two days (no count from two days before) were removed → 728 days.</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BIKE RENTALS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The task: how many bikes will be rented tomorrow?</a:t>
            </a:r>
            <a:endParaRPr lang="en-US" sz="3200" dirty="0"/>
          </a:p>
        </p:txBody>
      </p:sp>
      <p:sp>
        <p:nvSpPr>
          <p:cNvPr id="4" name="input-61"/>
          <p:cNvSpPr/>
          <p:nvPr/>
        </p:nvSpPr>
        <p:spPr>
          <a:xfrm>
            <a:off x="548640" y="1600200"/>
            <a:ext cx="3291840" cy="713232"/>
          </a:xfrm>
          <a:prstGeom prst="roundRect">
            <a:avLst>
              <a:gd name="adj" fmla="val 12821"/>
            </a:avLst>
          </a:prstGeom>
          <a:solidFill>
            <a:schemeClr val="bg2"/>
          </a:solidFill>
          <a:ln/>
        </p:spPr>
      </p:sp>
      <p:sp>
        <p:nvSpPr>
          <p:cNvPr id="5" name="icon-bg-62"/>
          <p:cNvSpPr/>
          <p:nvPr/>
        </p:nvSpPr>
        <p:spPr>
          <a:xfrm>
            <a:off x="685800" y="1709928"/>
            <a:ext cx="493776" cy="493776"/>
          </a:xfrm>
          <a:prstGeom prst="ellipse">
            <a:avLst/>
          </a:prstGeom>
          <a:solidFill>
            <a:schemeClr val="accent1"/>
          </a:solidFill>
          <a:ln/>
        </p:spPr>
      </p:sp>
      <p:pic>
        <p:nvPicPr>
          <p:cNvPr id="6" name="icon-63" descr="LuCloudSun">    </p:cNvPr>
          <p:cNvPicPr>
            <a:picLocks noChangeAspect="1"/>
          </p:cNvPicPr>
          <p:nvPr/>
        </p:nvPicPr>
        <p:blipFill>
          <a:blip r:embed="rId1"/>
          <a:stretch>
            <a:fillRect/>
          </a:stretch>
        </p:blipFill>
        <p:spPr>
          <a:xfrm>
            <a:off x="814182" y="1838310"/>
            <a:ext cx="237012" cy="237012"/>
          </a:xfrm>
          <a:prstGeom prst="rect">
            <a:avLst/>
          </a:prstGeom>
        </p:spPr>
      </p:pic>
      <p:sp>
        <p:nvSpPr>
          <p:cNvPr id="7" name="input-text-64"/>
          <p:cNvSpPr txBox="1"/>
          <p:nvPr/>
        </p:nvSpPr>
        <p:spPr>
          <a:xfrm>
            <a:off x="1325880" y="1600200"/>
            <a:ext cx="2423160" cy="713232"/>
          </a:xfrm>
          <a:prstGeom prst="rect">
            <a:avLst/>
          </a:prstGeom>
          <a:noFill/>
          <a:ln/>
        </p:spPr>
        <p:txBody>
          <a:bodyPr wrap="square" lIns="0" tIns="0" rIns="0" bIns="0" rtlCol="0" anchor="ctr"/>
          <a:lstStyle/>
          <a:p>
            <a:pPr indent="0" marL="0">
              <a:buNone/>
            </a:pPr>
            <a:r>
              <a:rPr lang="en-US" sz="1600" b="1" dirty="0">
                <a:solidFill>
                  <a:schemeClr val="tx2"/>
                </a:solidFill>
              </a:rPr>
              <a:t>Weather forecast</a:t>
            </a:r>
            <a:endParaRPr lang="en-US" sz="1600" dirty="0"/>
          </a:p>
        </p:txBody>
      </p:sp>
      <p:sp>
        <p:nvSpPr>
          <p:cNvPr id="8" name="line-65"/>
          <p:cNvSpPr/>
          <p:nvPr/>
        </p:nvSpPr>
        <p:spPr>
          <a:xfrm>
            <a:off x="3840480" y="1956816"/>
            <a:ext cx="868680" cy="731520"/>
          </a:xfrm>
          <a:prstGeom prst="line">
            <a:avLst/>
          </a:prstGeom>
          <a:noFill/>
          <a:ln w="19050">
            <a:solidFill>
              <a:srgbClr val="9DB7C2"/>
            </a:solidFill>
            <a:prstDash val="solid"/>
          </a:ln>
        </p:spPr>
      </p:sp>
      <p:sp>
        <p:nvSpPr>
          <p:cNvPr id="9" name="input-66"/>
          <p:cNvSpPr/>
          <p:nvPr/>
        </p:nvSpPr>
        <p:spPr>
          <a:xfrm>
            <a:off x="548640" y="2468880"/>
            <a:ext cx="3291840" cy="713232"/>
          </a:xfrm>
          <a:prstGeom prst="roundRect">
            <a:avLst>
              <a:gd name="adj" fmla="val 12821"/>
            </a:avLst>
          </a:prstGeom>
          <a:solidFill>
            <a:schemeClr val="bg2"/>
          </a:solidFill>
          <a:ln/>
        </p:spPr>
      </p:sp>
      <p:sp>
        <p:nvSpPr>
          <p:cNvPr id="10" name="icon-bg-67"/>
          <p:cNvSpPr/>
          <p:nvPr/>
        </p:nvSpPr>
        <p:spPr>
          <a:xfrm>
            <a:off x="685800" y="2578608"/>
            <a:ext cx="493776" cy="493776"/>
          </a:xfrm>
          <a:prstGeom prst="ellipse">
            <a:avLst/>
          </a:prstGeom>
          <a:solidFill>
            <a:schemeClr val="accent1"/>
          </a:solidFill>
          <a:ln/>
        </p:spPr>
      </p:sp>
      <p:pic>
        <p:nvPicPr>
          <p:cNvPr id="11" name="icon-68" descr="LuLeaf">    </p:cNvPr>
          <p:cNvPicPr>
            <a:picLocks noChangeAspect="1"/>
          </p:cNvPicPr>
          <p:nvPr/>
        </p:nvPicPr>
        <p:blipFill>
          <a:blip r:embed="rId2"/>
          <a:stretch>
            <a:fillRect/>
          </a:stretch>
        </p:blipFill>
        <p:spPr>
          <a:xfrm>
            <a:off x="814182" y="2706990"/>
            <a:ext cx="237012" cy="237012"/>
          </a:xfrm>
          <a:prstGeom prst="rect">
            <a:avLst/>
          </a:prstGeom>
        </p:spPr>
      </p:pic>
      <p:sp>
        <p:nvSpPr>
          <p:cNvPr id="12" name="input-text-69"/>
          <p:cNvSpPr txBox="1"/>
          <p:nvPr/>
        </p:nvSpPr>
        <p:spPr>
          <a:xfrm>
            <a:off x="1325880" y="2468880"/>
            <a:ext cx="2423160" cy="713232"/>
          </a:xfrm>
          <a:prstGeom prst="rect">
            <a:avLst/>
          </a:prstGeom>
          <a:noFill/>
          <a:ln/>
        </p:spPr>
        <p:txBody>
          <a:bodyPr wrap="square" lIns="0" tIns="0" rIns="0" bIns="0" rtlCol="0" anchor="ctr"/>
          <a:lstStyle/>
          <a:p>
            <a:pPr indent="0" marL="0">
              <a:buNone/>
            </a:pPr>
            <a:r>
              <a:rPr lang="en-US" sz="1600" b="1" dirty="0">
                <a:solidFill>
                  <a:schemeClr val="tx2"/>
                </a:solidFill>
              </a:rPr>
              <a:t>Seasonal information</a:t>
            </a:r>
            <a:endParaRPr lang="en-US" sz="1600" dirty="0"/>
          </a:p>
        </p:txBody>
      </p:sp>
      <p:sp>
        <p:nvSpPr>
          <p:cNvPr id="13" name="line-70"/>
          <p:cNvSpPr/>
          <p:nvPr/>
        </p:nvSpPr>
        <p:spPr>
          <a:xfrm flipV="1">
            <a:off x="3840480" y="2688336"/>
            <a:ext cx="868680" cy="137160"/>
          </a:xfrm>
          <a:prstGeom prst="line">
            <a:avLst/>
          </a:prstGeom>
          <a:noFill/>
          <a:ln w="19050">
            <a:solidFill>
              <a:srgbClr val="9DB7C2"/>
            </a:solidFill>
            <a:prstDash val="solid"/>
          </a:ln>
        </p:spPr>
      </p:sp>
      <p:sp>
        <p:nvSpPr>
          <p:cNvPr id="14" name="input-71"/>
          <p:cNvSpPr/>
          <p:nvPr/>
        </p:nvSpPr>
        <p:spPr>
          <a:xfrm>
            <a:off x="548640" y="3337560"/>
            <a:ext cx="3291840" cy="713232"/>
          </a:xfrm>
          <a:prstGeom prst="roundRect">
            <a:avLst>
              <a:gd name="adj" fmla="val 12821"/>
            </a:avLst>
          </a:prstGeom>
          <a:solidFill>
            <a:schemeClr val="bg2"/>
          </a:solidFill>
          <a:ln/>
        </p:spPr>
      </p:sp>
      <p:sp>
        <p:nvSpPr>
          <p:cNvPr id="15" name="icon-bg-72"/>
          <p:cNvSpPr/>
          <p:nvPr/>
        </p:nvSpPr>
        <p:spPr>
          <a:xfrm>
            <a:off x="685800" y="3447288"/>
            <a:ext cx="493776" cy="493776"/>
          </a:xfrm>
          <a:prstGeom prst="ellipse">
            <a:avLst/>
          </a:prstGeom>
          <a:solidFill>
            <a:schemeClr val="accent1"/>
          </a:solidFill>
          <a:ln/>
        </p:spPr>
      </p:sp>
      <p:pic>
        <p:nvPicPr>
          <p:cNvPr id="16" name="icon-73" descr="LuHistory">    </p:cNvPr>
          <p:cNvPicPr>
            <a:picLocks noChangeAspect="1"/>
          </p:cNvPicPr>
          <p:nvPr/>
        </p:nvPicPr>
        <p:blipFill>
          <a:blip r:embed="rId3"/>
          <a:stretch>
            <a:fillRect/>
          </a:stretch>
        </p:blipFill>
        <p:spPr>
          <a:xfrm>
            <a:off x="814182" y="3575670"/>
            <a:ext cx="237012" cy="237012"/>
          </a:xfrm>
          <a:prstGeom prst="rect">
            <a:avLst/>
          </a:prstGeom>
        </p:spPr>
      </p:pic>
      <p:sp>
        <p:nvSpPr>
          <p:cNvPr id="17" name="input-text-74"/>
          <p:cNvSpPr txBox="1"/>
          <p:nvPr/>
        </p:nvSpPr>
        <p:spPr>
          <a:xfrm>
            <a:off x="1325880" y="3337560"/>
            <a:ext cx="2423160" cy="713232"/>
          </a:xfrm>
          <a:prstGeom prst="rect">
            <a:avLst/>
          </a:prstGeom>
          <a:noFill/>
          <a:ln/>
        </p:spPr>
        <p:txBody>
          <a:bodyPr wrap="square" lIns="0" tIns="0" rIns="0" bIns="0" rtlCol="0" anchor="ctr"/>
          <a:lstStyle/>
          <a:p>
            <a:pPr indent="0" marL="0">
              <a:buNone/>
            </a:pPr>
            <a:r>
              <a:rPr lang="en-US" sz="1600" b="1" dirty="0">
                <a:solidFill>
                  <a:schemeClr val="tx2"/>
                </a:solidFill>
              </a:rPr>
              <a:t>Bikes rented yesterday</a:t>
            </a:r>
            <a:endParaRPr lang="en-US" sz="1600" dirty="0"/>
          </a:p>
        </p:txBody>
      </p:sp>
      <p:sp>
        <p:nvSpPr>
          <p:cNvPr id="18" name="line-75"/>
          <p:cNvSpPr/>
          <p:nvPr/>
        </p:nvSpPr>
        <p:spPr>
          <a:xfrm flipV="1">
            <a:off x="3840480" y="2688336"/>
            <a:ext cx="868680" cy="1005840"/>
          </a:xfrm>
          <a:prstGeom prst="line">
            <a:avLst/>
          </a:prstGeom>
          <a:noFill/>
          <a:ln w="19050">
            <a:solidFill>
              <a:srgbClr val="9DB7C2"/>
            </a:solidFill>
            <a:prstDash val="solid"/>
          </a:ln>
        </p:spPr>
      </p:sp>
      <p:sp>
        <p:nvSpPr>
          <p:cNvPr id="19" name="model-box-76"/>
          <p:cNvSpPr/>
          <p:nvPr/>
        </p:nvSpPr>
        <p:spPr>
          <a:xfrm>
            <a:off x="4709160" y="2194560"/>
            <a:ext cx="2103120" cy="987552"/>
          </a:xfrm>
          <a:prstGeom prst="roundRect">
            <a:avLst>
              <a:gd name="adj" fmla="val 9259"/>
            </a:avLst>
          </a:prstGeom>
          <a:solidFill>
            <a:schemeClr val="tx2"/>
          </a:solidFill>
          <a:ln/>
        </p:spPr>
      </p:sp>
      <p:sp>
        <p:nvSpPr>
          <p:cNvPr id="20" name="model-text-77"/>
          <p:cNvSpPr txBox="1"/>
          <p:nvPr/>
        </p:nvSpPr>
        <p:spPr>
          <a:xfrm>
            <a:off x="4709160" y="2194560"/>
            <a:ext cx="2103120" cy="987552"/>
          </a:xfrm>
          <a:prstGeom prst="rect">
            <a:avLst/>
          </a:prstGeom>
          <a:noFill/>
          <a:ln/>
        </p:spPr>
        <p:txBody>
          <a:bodyPr wrap="square" lIns="0" tIns="0" rIns="0" bIns="0" rtlCol="0" anchor="ctr"/>
          <a:lstStyle/>
          <a:p>
            <a:pPr algn="ctr" indent="0" marL="0">
              <a:buNone/>
            </a:pPr>
            <a:r>
              <a:rPr lang="en-US" sz="2200" b="1" dirty="0">
                <a:solidFill>
                  <a:schemeClr val="bg1"/>
                </a:solidFill>
                <a:latin typeface="Avenir" pitchFamily="34" charset="0"/>
                <a:ea typeface="Avenir" pitchFamily="34" charset="-122"/>
                <a:cs typeface="Avenir" pitchFamily="34" charset="-120"/>
              </a:rPr>
              <a:t>Model</a:t>
            </a:r>
            <a:endParaRPr lang="en-US" sz="2200" dirty="0"/>
          </a:p>
        </p:txBody>
      </p:sp>
      <p:sp>
        <p:nvSpPr>
          <p:cNvPr id="21" name="arrow"/>
          <p:cNvSpPr/>
          <p:nvPr/>
        </p:nvSpPr>
        <p:spPr>
          <a:xfrm>
            <a:off x="6949440" y="2505456"/>
            <a:ext cx="548640" cy="365760"/>
          </a:xfrm>
          <a:prstGeom prst="rightArrow">
            <a:avLst/>
          </a:prstGeom>
          <a:solidFill>
            <a:schemeClr val="accent2"/>
          </a:solidFill>
          <a:ln/>
        </p:spPr>
      </p:sp>
      <p:sp>
        <p:nvSpPr>
          <p:cNvPr id="22" name="output-78"/>
          <p:cNvSpPr/>
          <p:nvPr/>
        </p:nvSpPr>
        <p:spPr>
          <a:xfrm>
            <a:off x="7635240" y="1965960"/>
            <a:ext cx="4007815" cy="1444752"/>
          </a:xfrm>
          <a:prstGeom prst="roundRect">
            <a:avLst>
              <a:gd name="adj" fmla="val 6329"/>
            </a:avLst>
          </a:prstGeom>
          <a:solidFill>
            <a:schemeClr val="accent2"/>
          </a:solidFill>
          <a:ln/>
        </p:spPr>
      </p:sp>
      <p:sp>
        <p:nvSpPr>
          <p:cNvPr id="23" name="icon-bg-79"/>
          <p:cNvSpPr/>
          <p:nvPr/>
        </p:nvSpPr>
        <p:spPr>
          <a:xfrm>
            <a:off x="7863840" y="2304288"/>
            <a:ext cx="777240" cy="777240"/>
          </a:xfrm>
          <a:prstGeom prst="ellipse">
            <a:avLst/>
          </a:prstGeom>
          <a:solidFill>
            <a:schemeClr val="bg1"/>
          </a:solidFill>
          <a:ln/>
        </p:spPr>
      </p:sp>
      <p:pic>
        <p:nvPicPr>
          <p:cNvPr id="24" name="icon-80" descr="LuBike">    </p:cNvPr>
          <p:cNvPicPr>
            <a:picLocks noChangeAspect="1"/>
          </p:cNvPicPr>
          <p:nvPr/>
        </p:nvPicPr>
        <p:blipFill>
          <a:blip r:embed="rId4"/>
          <a:stretch>
            <a:fillRect/>
          </a:stretch>
        </p:blipFill>
        <p:spPr>
          <a:xfrm>
            <a:off x="8065922" y="2506370"/>
            <a:ext cx="373075" cy="373075"/>
          </a:xfrm>
          <a:prstGeom prst="rect">
            <a:avLst/>
          </a:prstGeom>
        </p:spPr>
      </p:pic>
      <p:sp>
        <p:nvSpPr>
          <p:cNvPr id="25" name="output-text-81"/>
          <p:cNvSpPr txBox="1"/>
          <p:nvPr/>
        </p:nvSpPr>
        <p:spPr>
          <a:xfrm>
            <a:off x="8823960" y="1965960"/>
            <a:ext cx="2681935" cy="1444752"/>
          </a:xfrm>
          <a:prstGeom prst="rect">
            <a:avLst/>
          </a:prstGeom>
          <a:noFill/>
          <a:ln/>
        </p:spPr>
        <p:txBody>
          <a:bodyPr wrap="square" lIns="0" tIns="0" rIns="0" bIns="0" rtlCol="0" anchor="ctr"/>
          <a:lstStyle/>
          <a:p>
            <a:pPr indent="0" marL="0">
              <a:buNone/>
            </a:pPr>
            <a:r>
              <a:rPr lang="en-US" sz="1900" b="1" dirty="0">
                <a:solidFill>
                  <a:schemeClr val="bg1"/>
                </a:solidFill>
              </a:rPr>
              <a:t>Tomorrow's rental count</a:t>
            </a:r>
            <a:endParaRPr lang="en-US" sz="1600" dirty="0"/>
          </a:p>
          <a:p>
            <a:pPr indent="0" marL="0">
              <a:buNone/>
            </a:pPr>
            <a:r>
              <a:rPr lang="en-US" sz="1400" dirty="0">
                <a:solidFill>
                  <a:schemeClr val="bg1"/>
                </a:solidFill>
              </a:rPr>
              <a:t>regression target: cnt</a:t>
            </a:r>
            <a:endParaRPr lang="en-US" sz="1600" dirty="0"/>
          </a:p>
        </p:txBody>
      </p:sp>
      <p:sp>
        <p:nvSpPr>
          <p:cNvPr id="26" name="info-card-82"/>
          <p:cNvSpPr/>
          <p:nvPr/>
        </p:nvSpPr>
        <p:spPr>
          <a:xfrm>
            <a:off x="548640" y="4434840"/>
            <a:ext cx="3515258" cy="1737360"/>
          </a:xfrm>
          <a:prstGeom prst="roundRect">
            <a:avLst>
              <a:gd name="adj" fmla="val 5263"/>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27" name="info-title-83"/>
          <p:cNvSpPr txBox="1"/>
          <p:nvPr/>
        </p:nvSpPr>
        <p:spPr>
          <a:xfrm>
            <a:off x="777240" y="4599432"/>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Simplifying assumption</a:t>
            </a:r>
            <a:endParaRPr lang="en-US" sz="1600" dirty="0"/>
          </a:p>
        </p:txBody>
      </p:sp>
      <p:sp>
        <p:nvSpPr>
          <p:cNvPr id="28" name="info-body-84"/>
          <p:cNvSpPr txBox="1"/>
          <p:nvPr/>
        </p:nvSpPr>
        <p:spPr>
          <a:xfrm>
            <a:off x="777240" y="5029200"/>
            <a:ext cx="3058058" cy="1005840"/>
          </a:xfrm>
          <a:prstGeom prst="rect">
            <a:avLst/>
          </a:prstGeom>
          <a:noFill/>
          <a:ln/>
        </p:spPr>
        <p:txBody>
          <a:bodyPr wrap="square" lIns="0" tIns="0" rIns="0" bIns="0" rtlCol="0" anchor="t"/>
          <a:lstStyle/>
          <a:p>
            <a:pPr indent="0" marL="0">
              <a:buNone/>
            </a:pPr>
            <a:r>
              <a:rPr lang="en-US" sz="1500" dirty="0">
                <a:solidFill>
                  <a:schemeClr val="tx1"/>
                </a:solidFill>
              </a:rPr>
              <a:t>The weather features are treated as forecasts; in reality they are measured values.</a:t>
            </a:r>
            <a:endParaRPr lang="en-US" sz="1500" dirty="0"/>
          </a:p>
        </p:txBody>
      </p:sp>
      <p:sp>
        <p:nvSpPr>
          <p:cNvPr id="29" name="info-card-85"/>
          <p:cNvSpPr/>
          <p:nvPr/>
        </p:nvSpPr>
        <p:spPr>
          <a:xfrm>
            <a:off x="4338218" y="4434840"/>
            <a:ext cx="3515258" cy="1737360"/>
          </a:xfrm>
          <a:prstGeom prst="roundRect">
            <a:avLst>
              <a:gd name="adj" fmla="val 5263"/>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30" name="info-title-86"/>
          <p:cNvSpPr txBox="1"/>
          <p:nvPr/>
        </p:nvSpPr>
        <p:spPr>
          <a:xfrm>
            <a:off x="4566818" y="4599432"/>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Holdout split</a:t>
            </a:r>
            <a:endParaRPr lang="en-US" sz="1600" dirty="0"/>
          </a:p>
        </p:txBody>
      </p:sp>
      <p:sp>
        <p:nvSpPr>
          <p:cNvPr id="31" name="split-train"/>
          <p:cNvSpPr/>
          <p:nvPr/>
        </p:nvSpPr>
        <p:spPr>
          <a:xfrm>
            <a:off x="4566818" y="5166360"/>
            <a:ext cx="2038706" cy="457200"/>
          </a:xfrm>
          <a:prstGeom prst="rect">
            <a:avLst/>
          </a:prstGeom>
          <a:solidFill>
            <a:schemeClr val="accent1"/>
          </a:solidFill>
          <a:ln/>
        </p:spPr>
      </p:sp>
      <p:sp>
        <p:nvSpPr>
          <p:cNvPr id="32" name="split-test"/>
          <p:cNvSpPr/>
          <p:nvPr/>
        </p:nvSpPr>
        <p:spPr>
          <a:xfrm>
            <a:off x="6605524" y="5166360"/>
            <a:ext cx="1019353" cy="457200"/>
          </a:xfrm>
          <a:prstGeom prst="rect">
            <a:avLst/>
          </a:prstGeom>
          <a:solidFill>
            <a:schemeClr val="accent2"/>
          </a:solidFill>
          <a:ln/>
        </p:spPr>
      </p:sp>
      <p:sp>
        <p:nvSpPr>
          <p:cNvPr id="33" name="split-label-87"/>
          <p:cNvSpPr txBox="1"/>
          <p:nvPr/>
        </p:nvSpPr>
        <p:spPr>
          <a:xfrm>
            <a:off x="4566818" y="5166360"/>
            <a:ext cx="2038706" cy="457200"/>
          </a:xfrm>
          <a:prstGeom prst="rect">
            <a:avLst/>
          </a:prstGeom>
          <a:noFill/>
          <a:ln/>
        </p:spPr>
        <p:txBody>
          <a:bodyPr wrap="square" lIns="0" tIns="0" rIns="0" bIns="0" rtlCol="0" anchor="ctr"/>
          <a:lstStyle/>
          <a:p>
            <a:pPr algn="ctr" indent="0" marL="0">
              <a:buNone/>
            </a:pPr>
            <a:r>
              <a:rPr lang="en-US" sz="1400" b="1" dirty="0">
                <a:solidFill>
                  <a:schemeClr val="bg1"/>
                </a:solidFill>
              </a:rPr>
              <a:t>2/3 training</a:t>
            </a:r>
            <a:endParaRPr lang="en-US" sz="1400" dirty="0"/>
          </a:p>
        </p:txBody>
      </p:sp>
      <p:sp>
        <p:nvSpPr>
          <p:cNvPr id="34" name="split-label-88"/>
          <p:cNvSpPr txBox="1"/>
          <p:nvPr/>
        </p:nvSpPr>
        <p:spPr>
          <a:xfrm>
            <a:off x="6605524" y="5166360"/>
            <a:ext cx="1019353" cy="457200"/>
          </a:xfrm>
          <a:prstGeom prst="rect">
            <a:avLst/>
          </a:prstGeom>
          <a:noFill/>
          <a:ln/>
        </p:spPr>
        <p:txBody>
          <a:bodyPr wrap="square" lIns="0" tIns="0" rIns="0" bIns="0" rtlCol="0" anchor="ctr"/>
          <a:lstStyle/>
          <a:p>
            <a:pPr algn="ctr" indent="0" marL="0">
              <a:buNone/>
            </a:pPr>
            <a:r>
              <a:rPr lang="en-US" sz="1400" b="1" dirty="0">
                <a:solidFill>
                  <a:schemeClr val="bg1"/>
                </a:solidFill>
              </a:rPr>
              <a:t>1/3 test</a:t>
            </a:r>
            <a:endParaRPr lang="en-US" sz="1400" dirty="0"/>
          </a:p>
        </p:txBody>
      </p:sp>
      <p:sp>
        <p:nvSpPr>
          <p:cNvPr id="35" name="info-card-89"/>
          <p:cNvSpPr/>
          <p:nvPr/>
        </p:nvSpPr>
        <p:spPr>
          <a:xfrm>
            <a:off x="8127797" y="4434840"/>
            <a:ext cx="3515258" cy="1737360"/>
          </a:xfrm>
          <a:prstGeom prst="roundRect">
            <a:avLst>
              <a:gd name="adj" fmla="val 5263"/>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36" name="info-title-90"/>
          <p:cNvSpPr txBox="1"/>
          <p:nvPr/>
        </p:nvSpPr>
        <p:spPr>
          <a:xfrm>
            <a:off x="8356397" y="4599432"/>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Four models</a:t>
            </a:r>
            <a:endParaRPr lang="en-US" sz="1600" dirty="0"/>
          </a:p>
        </p:txBody>
      </p:sp>
      <p:sp>
        <p:nvSpPr>
          <p:cNvPr id="37" name="pill-91"/>
          <p:cNvSpPr/>
          <p:nvPr/>
        </p:nvSpPr>
        <p:spPr>
          <a:xfrm>
            <a:off x="8356397" y="5074920"/>
            <a:ext cx="1483309" cy="365760"/>
          </a:xfrm>
          <a:prstGeom prst="roundRect">
            <a:avLst>
              <a:gd name="adj" fmla="val 50000"/>
            </a:avLst>
          </a:prstGeom>
          <a:solidFill>
            <a:schemeClr val="bg2"/>
          </a:solidFill>
          <a:ln/>
        </p:spPr>
      </p:sp>
      <p:sp>
        <p:nvSpPr>
          <p:cNvPr id="38" name="pill-text-92"/>
          <p:cNvSpPr txBox="1"/>
          <p:nvPr/>
        </p:nvSpPr>
        <p:spPr>
          <a:xfrm>
            <a:off x="8356397" y="5074920"/>
            <a:ext cx="1483309" cy="365760"/>
          </a:xfrm>
          <a:prstGeom prst="rect">
            <a:avLst/>
          </a:prstGeom>
          <a:noFill/>
          <a:ln/>
        </p:spPr>
        <p:txBody>
          <a:bodyPr wrap="square" lIns="0" tIns="0" rIns="0" bIns="0" rtlCol="0" anchor="ctr"/>
          <a:lstStyle/>
          <a:p>
            <a:pPr algn="ctr" indent="0" marL="0">
              <a:buNone/>
            </a:pPr>
            <a:r>
              <a:rPr lang="en-US" sz="1200" b="1" dirty="0">
                <a:solidFill>
                  <a:schemeClr val="tx2"/>
                </a:solidFill>
              </a:rPr>
              <a:t>Random forest</a:t>
            </a:r>
            <a:endParaRPr lang="en-US" sz="1200" dirty="0"/>
          </a:p>
        </p:txBody>
      </p:sp>
      <p:sp>
        <p:nvSpPr>
          <p:cNvPr id="39" name="pill-93"/>
          <p:cNvSpPr/>
          <p:nvPr/>
        </p:nvSpPr>
        <p:spPr>
          <a:xfrm>
            <a:off x="9931146" y="5074920"/>
            <a:ext cx="1483309" cy="365760"/>
          </a:xfrm>
          <a:prstGeom prst="roundRect">
            <a:avLst>
              <a:gd name="adj" fmla="val 50000"/>
            </a:avLst>
          </a:prstGeom>
          <a:solidFill>
            <a:schemeClr val="bg2"/>
          </a:solidFill>
          <a:ln/>
        </p:spPr>
      </p:sp>
      <p:sp>
        <p:nvSpPr>
          <p:cNvPr id="40" name="pill-text-94"/>
          <p:cNvSpPr txBox="1"/>
          <p:nvPr/>
        </p:nvSpPr>
        <p:spPr>
          <a:xfrm>
            <a:off x="9931146" y="5074920"/>
            <a:ext cx="1483309" cy="365760"/>
          </a:xfrm>
          <a:prstGeom prst="rect">
            <a:avLst/>
          </a:prstGeom>
          <a:noFill/>
          <a:ln/>
        </p:spPr>
        <p:txBody>
          <a:bodyPr wrap="square" lIns="0" tIns="0" rIns="0" bIns="0" rtlCol="0" anchor="ctr"/>
          <a:lstStyle/>
          <a:p>
            <a:pPr algn="ctr" indent="0" marL="0">
              <a:buNone/>
            </a:pPr>
            <a:r>
              <a:rPr lang="en-US" sz="1200" b="1" dirty="0">
                <a:solidFill>
                  <a:schemeClr val="tx2"/>
                </a:solidFill>
              </a:rPr>
              <a:t>CART tree</a:t>
            </a:r>
            <a:endParaRPr lang="en-US" sz="1200" dirty="0"/>
          </a:p>
        </p:txBody>
      </p:sp>
      <p:sp>
        <p:nvSpPr>
          <p:cNvPr id="41" name="pill-95"/>
          <p:cNvSpPr/>
          <p:nvPr/>
        </p:nvSpPr>
        <p:spPr>
          <a:xfrm>
            <a:off x="8356397" y="5532120"/>
            <a:ext cx="1483309" cy="365760"/>
          </a:xfrm>
          <a:prstGeom prst="roundRect">
            <a:avLst>
              <a:gd name="adj" fmla="val 50000"/>
            </a:avLst>
          </a:prstGeom>
          <a:solidFill>
            <a:schemeClr val="bg2"/>
          </a:solidFill>
          <a:ln/>
        </p:spPr>
      </p:sp>
      <p:sp>
        <p:nvSpPr>
          <p:cNvPr id="42" name="pill-text-96"/>
          <p:cNvSpPr txBox="1"/>
          <p:nvPr/>
        </p:nvSpPr>
        <p:spPr>
          <a:xfrm>
            <a:off x="8356397" y="5532120"/>
            <a:ext cx="1483309" cy="365760"/>
          </a:xfrm>
          <a:prstGeom prst="rect">
            <a:avLst/>
          </a:prstGeom>
          <a:noFill/>
          <a:ln/>
        </p:spPr>
        <p:txBody>
          <a:bodyPr wrap="square" lIns="0" tIns="0" rIns="0" bIns="0" rtlCol="0" anchor="ctr"/>
          <a:lstStyle/>
          <a:p>
            <a:pPr algn="ctr" indent="0" marL="0">
              <a:buNone/>
            </a:pPr>
            <a:r>
              <a:rPr lang="en-US" sz="1200" b="1" dirty="0">
                <a:solidFill>
                  <a:schemeClr val="tx2"/>
                </a:solidFill>
              </a:rPr>
              <a:t>SVM</a:t>
            </a:r>
            <a:endParaRPr lang="en-US" sz="1200" dirty="0"/>
          </a:p>
        </p:txBody>
      </p:sp>
      <p:sp>
        <p:nvSpPr>
          <p:cNvPr id="43" name="pill-97"/>
          <p:cNvSpPr/>
          <p:nvPr/>
        </p:nvSpPr>
        <p:spPr>
          <a:xfrm>
            <a:off x="9931146" y="5532120"/>
            <a:ext cx="1483309" cy="365760"/>
          </a:xfrm>
          <a:prstGeom prst="roundRect">
            <a:avLst>
              <a:gd name="adj" fmla="val 50000"/>
            </a:avLst>
          </a:prstGeom>
          <a:solidFill>
            <a:schemeClr val="bg2"/>
          </a:solidFill>
          <a:ln/>
        </p:spPr>
      </p:sp>
      <p:sp>
        <p:nvSpPr>
          <p:cNvPr id="44" name="pill-text-98"/>
          <p:cNvSpPr txBox="1"/>
          <p:nvPr/>
        </p:nvSpPr>
        <p:spPr>
          <a:xfrm>
            <a:off x="9931146" y="5532120"/>
            <a:ext cx="1483309" cy="365760"/>
          </a:xfrm>
          <a:prstGeom prst="rect">
            <a:avLst/>
          </a:prstGeom>
          <a:noFill/>
          <a:ln/>
        </p:spPr>
        <p:txBody>
          <a:bodyPr wrap="square" lIns="0" tIns="0" rIns="0" bIns="0" rtlCol="0" anchor="ctr"/>
          <a:lstStyle/>
          <a:p>
            <a:pPr algn="ctr" indent="0" marL="0">
              <a:buNone/>
            </a:pPr>
            <a:r>
              <a:rPr lang="en-US" sz="1200" b="1" dirty="0">
                <a:solidFill>
                  <a:schemeClr val="tx2"/>
                </a:solidFill>
              </a:rPr>
              <a:t>Linear regression</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BIKE RENTALS · TEST PERFORMANCE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The SVM wins; the decision tree falls clearly behind</a:t>
            </a:r>
            <a:endParaRPr lang="en-US" sz="3200" dirty="0"/>
          </a:p>
        </p:txBody>
      </p:sp>
      <p:graphicFrame>
        <p:nvGraphicFramePr>
          <p:cNvPr id="4" name="bike-perf-chart" descr="RMSE and MAE: SVM 852/628, random forest 883/676, linear regression 948/737, decision tree 1056/794"/>
          <p:cNvGraphicFramePr/>
          <p:nvPr/>
        </p:nvGraphicFramePr>
        <p:xfrm>
          <a:off x="548640" y="150876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5" name="stat-card-99"/>
          <p:cNvSpPr/>
          <p:nvPr/>
        </p:nvSpPr>
        <p:spPr>
          <a:xfrm>
            <a:off x="8138160" y="1600200"/>
            <a:ext cx="3504895" cy="2331720"/>
          </a:xfrm>
          <a:prstGeom prst="roundRect">
            <a:avLst>
              <a:gd name="adj" fmla="val 3922"/>
            </a:avLst>
          </a:prstGeom>
          <a:solidFill>
            <a:schemeClr val="tx2"/>
          </a:solidFill>
          <a:ln/>
        </p:spPr>
      </p:sp>
      <p:sp>
        <p:nvSpPr>
          <p:cNvPr id="6" name="stat-100"/>
          <p:cNvSpPr txBox="1"/>
          <p:nvPr/>
        </p:nvSpPr>
        <p:spPr>
          <a:xfrm>
            <a:off x="8412480" y="1737360"/>
            <a:ext cx="2956255" cy="1051560"/>
          </a:xfrm>
          <a:prstGeom prst="rect">
            <a:avLst/>
          </a:prstGeom>
          <a:noFill/>
          <a:ln/>
        </p:spPr>
        <p:txBody>
          <a:bodyPr wrap="square" lIns="0" tIns="0" rIns="0" bIns="0" rtlCol="0" anchor="t"/>
          <a:lstStyle/>
          <a:p>
            <a:pPr indent="0" marL="0">
              <a:buNone/>
            </a:pPr>
            <a:r>
              <a:rPr lang="en-US" sz="6400" b="1" dirty="0">
                <a:solidFill>
                  <a:schemeClr val="accent2"/>
                </a:solidFill>
                <a:latin typeface="Avenir" pitchFamily="34" charset="0"/>
                <a:ea typeface="Avenir" pitchFamily="34" charset="-122"/>
                <a:cs typeface="Avenir" pitchFamily="34" charset="-120"/>
              </a:rPr>
              <a:t>852</a:t>
            </a:r>
            <a:endParaRPr lang="en-US" sz="6400" dirty="0"/>
          </a:p>
        </p:txBody>
      </p:sp>
      <p:sp>
        <p:nvSpPr>
          <p:cNvPr id="7" name="stat-label-101"/>
          <p:cNvSpPr txBox="1"/>
          <p:nvPr/>
        </p:nvSpPr>
        <p:spPr>
          <a:xfrm>
            <a:off x="8412480" y="2834640"/>
            <a:ext cx="2956255" cy="914400"/>
          </a:xfrm>
          <a:prstGeom prst="rect">
            <a:avLst/>
          </a:prstGeom>
          <a:noFill/>
          <a:ln/>
        </p:spPr>
        <p:txBody>
          <a:bodyPr wrap="square" lIns="0" tIns="0" rIns="0" bIns="0" rtlCol="0" anchor="t"/>
          <a:lstStyle/>
          <a:p>
            <a:pPr indent="0" marL="0">
              <a:buNone/>
            </a:pPr>
            <a:r>
              <a:rPr lang="en-US" sz="1500" dirty="0">
                <a:solidFill>
                  <a:schemeClr val="bg2"/>
                </a:solidFill>
              </a:rPr>
              <a:t>RMSE of the SVM: the lowest error on test data (MAE 628).</a:t>
            </a:r>
            <a:endParaRPr lang="en-US" sz="1500" dirty="0"/>
          </a:p>
        </p:txBody>
      </p:sp>
      <p:sp>
        <p:nvSpPr>
          <p:cNvPr id="8" name="metric-card-102"/>
          <p:cNvSpPr/>
          <p:nvPr/>
        </p:nvSpPr>
        <p:spPr>
          <a:xfrm>
            <a:off x="8138160" y="4160520"/>
            <a:ext cx="3504895" cy="2011680"/>
          </a:xfrm>
          <a:prstGeom prst="roundRect">
            <a:avLst>
              <a:gd name="adj" fmla="val 4545"/>
            </a:avLst>
          </a:prstGeom>
          <a:solidFill>
            <a:schemeClr val="bg2"/>
          </a:solidFill>
          <a:ln/>
        </p:spPr>
      </p:sp>
      <p:sp>
        <p:nvSpPr>
          <p:cNvPr id="9" name="metric-text-103"/>
          <p:cNvSpPr txBox="1"/>
          <p:nvPr/>
        </p:nvSpPr>
        <p:spPr>
          <a:xfrm>
            <a:off x="8412480" y="4297680"/>
            <a:ext cx="2956255" cy="1783080"/>
          </a:xfrm>
          <a:prstGeom prst="rect">
            <a:avLst/>
          </a:prstGeom>
          <a:noFill/>
          <a:ln/>
        </p:spPr>
        <p:txBody>
          <a:bodyPr wrap="square" lIns="0" tIns="0" rIns="0" bIns="0" rtlCol="0" anchor="ctr"/>
          <a:lstStyle/>
          <a:p>
            <a:pPr indent="0" marL="0">
              <a:buNone/>
            </a:pPr>
            <a:r>
              <a:rPr lang="en-US" sz="1500" b="1" dirty="0">
                <a:solidFill>
                  <a:schemeClr val="tx2"/>
                </a:solidFill>
              </a:rPr>
              <a:t>RMSE </a:t>
            </a:r>
            <a:pPr indent="0" marL="0">
              <a:buNone/>
            </a:pPr>
            <a:r>
              <a:rPr lang="en-US" sz="1500" dirty="0">
                <a:solidFill>
                  <a:schemeClr val="tx1"/>
                </a:solidFill>
              </a:rPr>
              <a:t>root mean squared error: punishes large errors more.</a:t>
            </a:r>
            <a:endParaRPr lang="en-US" sz="1500" dirty="0"/>
          </a:p>
          <a:p>
            <a:pPr indent="0" marL="0">
              <a:buNone/>
            </a:pPr>
            <a:r>
              <a:rPr lang="en-US" sz="600" dirty="0">
                <a:solidFill>
                  <a:schemeClr val="tx1"/>
                </a:solidFill>
              </a:rPr>
              <a:t> </a:t>
            </a:r>
            <a:endParaRPr lang="en-US" sz="1500" dirty="0"/>
          </a:p>
          <a:p>
            <a:pPr indent="0" marL="0">
              <a:buNone/>
            </a:pPr>
            <a:r>
              <a:rPr lang="en-US" sz="1500" b="1" dirty="0">
                <a:solidFill>
                  <a:schemeClr val="tx2"/>
                </a:solidFill>
              </a:rPr>
              <a:t>MAE </a:t>
            </a:r>
            <a:pPr indent="0" marL="0">
              <a:buNone/>
            </a:pPr>
            <a:r>
              <a:rPr lang="en-US" sz="1500" dirty="0">
                <a:solidFill>
                  <a:schemeClr val="tx1"/>
                </a:solidFill>
              </a:rPr>
              <a:t>mean absolute error: the average deviation.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BIKE RENTALS · FEATURE DEPENDENCE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One notable correlation: temperature and past rentals</a:t>
            </a:r>
            <a:endParaRPr lang="en-US" sz="3200" dirty="0"/>
          </a:p>
        </p:txBody>
      </p:sp>
      <p:sp>
        <p:nvSpPr>
          <p:cNvPr id="4" name="chart-title-104"/>
          <p:cNvSpPr txBox="1"/>
          <p:nvPr/>
        </p:nvSpPr>
        <p:spPr>
          <a:xfrm>
            <a:off x="548640" y="1508760"/>
            <a:ext cx="6766560" cy="365760"/>
          </a:xfrm>
          <a:prstGeom prst="rect">
            <a:avLst/>
          </a:prstGeom>
          <a:noFill/>
          <a:ln/>
        </p:spPr>
        <p:txBody>
          <a:bodyPr wrap="square" lIns="0" tIns="0" rIns="0" bIns="0" rtlCol="0" anchor="t"/>
          <a:lstStyle/>
          <a:p>
            <a:pPr indent="0" marL="0">
              <a:buNone/>
            </a:pPr>
            <a:r>
              <a:rPr lang="en-US" sz="1500" b="1" dirty="0">
                <a:solidFill>
                  <a:schemeClr val="tx2"/>
                </a:solidFill>
              </a:rPr>
              <a:t>Pearson correlation between the numerical features</a:t>
            </a:r>
            <a:endParaRPr lang="en-US" sz="1500" dirty="0"/>
          </a:p>
        </p:txBody>
      </p:sp>
      <p:graphicFrame>
        <p:nvGraphicFramePr>
          <p:cNvPr id="5" name="corr-chart" descr="Pearson correlations; largest: temp and cnt_2d_bfr at 0.60"/>
          <p:cNvGraphicFramePr/>
          <p:nvPr/>
        </p:nvGraphicFramePr>
        <p:xfrm>
          <a:off x="548640" y="187452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6" name="question-card-105"/>
          <p:cNvSpPr/>
          <p:nvPr/>
        </p:nvSpPr>
        <p:spPr>
          <a:xfrm>
            <a:off x="7726680" y="1600200"/>
            <a:ext cx="3916375" cy="1600200"/>
          </a:xfrm>
          <a:prstGeom prst="roundRect">
            <a:avLst>
              <a:gd name="adj" fmla="val 5714"/>
            </a:avLst>
          </a:prstGeom>
          <a:solidFill>
            <a:schemeClr val="accent2"/>
          </a:solidFill>
          <a:ln/>
        </p:spPr>
      </p:sp>
      <p:sp>
        <p:nvSpPr>
          <p:cNvPr id="7" name="question-106"/>
          <p:cNvSpPr txBox="1"/>
          <p:nvPr/>
        </p:nvSpPr>
        <p:spPr>
          <a:xfrm>
            <a:off x="8001000" y="1600200"/>
            <a:ext cx="3367735" cy="1600200"/>
          </a:xfrm>
          <a:prstGeom prst="rect">
            <a:avLst/>
          </a:prstGeom>
          <a:noFill/>
          <a:ln/>
        </p:spPr>
        <p:txBody>
          <a:bodyPr wrap="square" lIns="0" tIns="0" rIns="0" bIns="0" rtlCol="0" anchor="ctr"/>
          <a:lstStyle/>
          <a:p>
            <a:pPr indent="0" marL="0">
              <a:buNone/>
            </a:pPr>
            <a:r>
              <a:rPr lang="en-US" sz="2000" b="1" dirty="0">
                <a:solidFill>
                  <a:schemeClr val="bg1"/>
                </a:solidFill>
              </a:rPr>
              <a:t>But what about…</a:t>
            </a:r>
            <a:endParaRPr lang="en-US" sz="1600" dirty="0"/>
          </a:p>
          <a:p>
            <a:pPr indent="0" marL="0">
              <a:buNone/>
            </a:pPr>
            <a:r>
              <a:rPr lang="en-US" sz="1600" dirty="0">
                <a:solidFill>
                  <a:schemeClr val="bg1"/>
                </a:solidFill>
              </a:rPr>
              <a:t>categorical features? non-linear relationships?</a:t>
            </a:r>
            <a:endParaRPr lang="en-US" sz="1600" dirty="0"/>
          </a:p>
        </p:txBody>
      </p:sp>
      <p:sp>
        <p:nvSpPr>
          <p:cNvPr id="8" name="tools-title-107"/>
          <p:cNvSpPr txBox="1"/>
          <p:nvPr/>
        </p:nvSpPr>
        <p:spPr>
          <a:xfrm>
            <a:off x="7726680" y="3429000"/>
            <a:ext cx="3916375" cy="365760"/>
          </a:xfrm>
          <a:prstGeom prst="rect">
            <a:avLst/>
          </a:prstGeom>
          <a:noFill/>
          <a:ln/>
        </p:spPr>
        <p:txBody>
          <a:bodyPr wrap="square" lIns="0" tIns="0" rIns="0" bIns="0" rtlCol="0" anchor="t"/>
          <a:lstStyle/>
          <a:p>
            <a:pPr indent="0" marL="0">
              <a:buNone/>
            </a:pPr>
            <a:r>
              <a:rPr lang="en-US" sz="1600" b="1" dirty="0">
                <a:solidFill>
                  <a:schemeClr val="tx2"/>
                </a:solidFill>
              </a:rPr>
              <a:t>Two more tools</a:t>
            </a:r>
            <a:endParaRPr lang="en-US" sz="1600" dirty="0"/>
          </a:p>
        </p:txBody>
      </p:sp>
      <p:sp>
        <p:nvSpPr>
          <p:cNvPr id="9" name="tool-card-108"/>
          <p:cNvSpPr/>
          <p:nvPr/>
        </p:nvSpPr>
        <p:spPr>
          <a:xfrm>
            <a:off x="7726680" y="3886200"/>
            <a:ext cx="3916375" cy="1005840"/>
          </a:xfrm>
          <a:prstGeom prst="roundRect">
            <a:avLst>
              <a:gd name="adj" fmla="val 9091"/>
            </a:avLst>
          </a:prstGeom>
          <a:solidFill>
            <a:schemeClr val="bg2"/>
          </a:solidFill>
          <a:ln/>
        </p:spPr>
      </p:sp>
      <p:sp>
        <p:nvSpPr>
          <p:cNvPr id="10" name="icon-bg-109"/>
          <p:cNvSpPr/>
          <p:nvPr/>
        </p:nvSpPr>
        <p:spPr>
          <a:xfrm>
            <a:off x="7909560" y="4087368"/>
            <a:ext cx="603504" cy="603504"/>
          </a:xfrm>
          <a:prstGeom prst="ellipse">
            <a:avLst/>
          </a:prstGeom>
          <a:solidFill>
            <a:schemeClr val="accent1"/>
          </a:solidFill>
          <a:ln/>
        </p:spPr>
      </p:sp>
      <p:pic>
        <p:nvPicPr>
          <p:cNvPr id="11" name="icon-110" descr="LuChartScatter">    </p:cNvPr>
          <p:cNvPicPr>
            <a:picLocks noChangeAspect="1"/>
          </p:cNvPicPr>
          <p:nvPr/>
        </p:nvPicPr>
        <p:blipFill>
          <a:blip r:embed="rId2"/>
          <a:stretch>
            <a:fillRect/>
          </a:stretch>
        </p:blipFill>
        <p:spPr>
          <a:xfrm>
            <a:off x="8066471" y="4244279"/>
            <a:ext cx="289682" cy="289682"/>
          </a:xfrm>
          <a:prstGeom prst="rect">
            <a:avLst/>
          </a:prstGeom>
        </p:spPr>
      </p:pic>
      <p:sp>
        <p:nvSpPr>
          <p:cNvPr id="12" name="tool-text-111"/>
          <p:cNvSpPr txBox="1"/>
          <p:nvPr/>
        </p:nvSpPr>
        <p:spPr>
          <a:xfrm>
            <a:off x="8686800" y="3886200"/>
            <a:ext cx="2819095" cy="1005840"/>
          </a:xfrm>
          <a:prstGeom prst="rect">
            <a:avLst/>
          </a:prstGeom>
          <a:noFill/>
          <a:ln/>
        </p:spPr>
        <p:txBody>
          <a:bodyPr wrap="square" lIns="0" tIns="0" rIns="0" bIns="0" rtlCol="0" anchor="ctr"/>
          <a:lstStyle/>
          <a:p>
            <a:pPr indent="0" marL="0">
              <a:buNone/>
            </a:pPr>
            <a:r>
              <a:rPr lang="en-US" sz="1600" b="1" dirty="0">
                <a:solidFill>
                  <a:schemeClr val="tx2"/>
                </a:solidFill>
              </a:rPr>
              <a:t>Pairwise scatter plots</a:t>
            </a:r>
            <a:endParaRPr lang="en-US" sz="1600" dirty="0"/>
          </a:p>
          <a:p>
            <a:pPr indent="0" marL="0">
              <a:buNone/>
            </a:pPr>
            <a:r>
              <a:rPr lang="en-US" sz="1400" dirty="0">
                <a:solidFill>
                  <a:schemeClr val="tx1"/>
                </a:solidFill>
              </a:rPr>
              <a:t>Visualize the raw dependence</a:t>
            </a:r>
            <a:endParaRPr lang="en-US" sz="1600" dirty="0"/>
          </a:p>
        </p:txBody>
      </p:sp>
      <p:sp>
        <p:nvSpPr>
          <p:cNvPr id="13" name="tool-card-112"/>
          <p:cNvSpPr/>
          <p:nvPr/>
        </p:nvSpPr>
        <p:spPr>
          <a:xfrm>
            <a:off x="7726680" y="5029200"/>
            <a:ext cx="3916375" cy="1005840"/>
          </a:xfrm>
          <a:prstGeom prst="roundRect">
            <a:avLst>
              <a:gd name="adj" fmla="val 9091"/>
            </a:avLst>
          </a:prstGeom>
          <a:solidFill>
            <a:schemeClr val="bg2"/>
          </a:solidFill>
          <a:ln/>
        </p:spPr>
      </p:sp>
      <p:sp>
        <p:nvSpPr>
          <p:cNvPr id="14" name="icon-bg-113"/>
          <p:cNvSpPr/>
          <p:nvPr/>
        </p:nvSpPr>
        <p:spPr>
          <a:xfrm>
            <a:off x="7909560" y="5230368"/>
            <a:ext cx="603504" cy="603504"/>
          </a:xfrm>
          <a:prstGeom prst="ellipse">
            <a:avLst/>
          </a:prstGeom>
          <a:solidFill>
            <a:schemeClr val="accent1"/>
          </a:solidFill>
          <a:ln/>
        </p:spPr>
      </p:sp>
      <p:pic>
        <p:nvPicPr>
          <p:cNvPr id="15" name="icon-114" descr="LuSigma">    </p:cNvPr>
          <p:cNvPicPr>
            <a:picLocks noChangeAspect="1"/>
          </p:cNvPicPr>
          <p:nvPr/>
        </p:nvPicPr>
        <p:blipFill>
          <a:blip r:embed="rId3"/>
          <a:stretch>
            <a:fillRect/>
          </a:stretch>
        </p:blipFill>
        <p:spPr>
          <a:xfrm>
            <a:off x="8066471" y="5387279"/>
            <a:ext cx="289682" cy="289682"/>
          </a:xfrm>
          <a:prstGeom prst="rect">
            <a:avLst/>
          </a:prstGeom>
        </p:spPr>
      </p:pic>
      <p:sp>
        <p:nvSpPr>
          <p:cNvPr id="16" name="tool-text-115"/>
          <p:cNvSpPr txBox="1"/>
          <p:nvPr/>
        </p:nvSpPr>
        <p:spPr>
          <a:xfrm>
            <a:off x="8686800" y="5029200"/>
            <a:ext cx="2819095" cy="1005840"/>
          </a:xfrm>
          <a:prstGeom prst="rect">
            <a:avLst/>
          </a:prstGeom>
          <a:noFill/>
          <a:ln/>
        </p:spPr>
        <p:txBody>
          <a:bodyPr wrap="square" lIns="0" tIns="0" rIns="0" bIns="0" rtlCol="0" anchor="ctr"/>
          <a:lstStyle/>
          <a:p>
            <a:pPr indent="0" marL="0">
              <a:buNone/>
            </a:pPr>
            <a:r>
              <a:rPr lang="en-US" sz="1600" b="1" dirty="0">
                <a:solidFill>
                  <a:schemeClr val="tx2"/>
                </a:solidFill>
              </a:rPr>
              <a:t>Normalized mutual information</a:t>
            </a:r>
            <a:endParaRPr lang="en-US" sz="1600" dirty="0"/>
          </a:p>
          <a:p>
            <a:pPr indent="0" marL="0">
              <a:buNone/>
            </a:pPr>
            <a:r>
              <a:rPr lang="en-US" sz="1400" dirty="0">
                <a:solidFill>
                  <a:schemeClr val="tx1"/>
                </a:solidFill>
              </a:rPr>
              <a:t>Measures non-linear and categorical dependence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METHOD NOTE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Normalized mutual information (NMI)</a:t>
            </a:r>
            <a:endParaRPr lang="en-US" sz="3200" dirty="0"/>
          </a:p>
        </p:txBody>
      </p:sp>
      <p:sp>
        <p:nvSpPr>
          <p:cNvPr id="4" name="formula-card-116"/>
          <p:cNvSpPr/>
          <p:nvPr/>
        </p:nvSpPr>
        <p:spPr>
          <a:xfrm>
            <a:off x="548640" y="1554480"/>
            <a:ext cx="6949440" cy="1005840"/>
          </a:xfrm>
          <a:prstGeom prst="roundRect">
            <a:avLst>
              <a:gd name="adj" fmla="val 9091"/>
            </a:avLst>
          </a:prstGeom>
          <a:solidFill>
            <a:schemeClr val="bg2"/>
          </a:solidFill>
          <a:ln/>
        </p:spPr>
      </p:sp>
      <p:sp>
        <p:nvSpPr>
          <p:cNvPr id="5" name="formula-label-117"/>
          <p:cNvSpPr txBox="1"/>
          <p:nvPr/>
        </p:nvSpPr>
        <p:spPr>
          <a:xfrm>
            <a:off x="822960" y="1664208"/>
            <a:ext cx="6400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Mutual information</a:t>
            </a:r>
            <a:endParaRPr lang="en-US" sz="1200" dirty="0"/>
          </a:p>
        </p:txBody>
      </p:sp>
      <p:sp>
        <p:nvSpPr>
          <p:cNvPr id="6" name="formula-118"/>
          <p:cNvSpPr txBox="1"/>
          <p:nvPr/>
        </p:nvSpPr>
        <p:spPr>
          <a:xfrm>
            <a:off x="822960" y="1965960"/>
            <a:ext cx="6400800" cy="502920"/>
          </a:xfrm>
          <a:prstGeom prst="rect">
            <a:avLst/>
          </a:prstGeom>
          <a:noFill/>
          <a:ln/>
        </p:spPr>
        <p:txBody>
          <a:bodyPr wrap="square" lIns="0" tIns="0" rIns="0" bIns="0" rtlCol="0" anchor="ctr"/>
          <a:lstStyle/>
          <a:p>
            <a:pPr indent="0" marL="0">
              <a:buNone/>
            </a:pPr>
            <a:r>
              <a:rPr lang="en-US" sz="1800" i="1" dirty="0">
                <a:solidFill>
                  <a:schemeClr val="tx1"/>
                </a:solidFill>
                <a:latin typeface="Avenir" pitchFamily="34" charset="0"/>
                <a:ea typeface="Avenir" pitchFamily="34" charset="-122"/>
                <a:cs typeface="Avenir" pitchFamily="34" charset="-120"/>
              </a:rPr>
              <a:t>MI</a:t>
            </a:r>
            <a:pPr indent="0" marL="0">
              <a:buNone/>
            </a:pPr>
            <a:r>
              <a:rPr lang="en-US" sz="1800" dirty="0">
                <a:solidFill>
                  <a:schemeClr val="tx1"/>
                </a:solidFill>
                <a:latin typeface="Avenir" pitchFamily="34" charset="0"/>
                <a:ea typeface="Avenir" pitchFamily="34" charset="-122"/>
                <a:cs typeface="Avenir" pitchFamily="34" charset="-120"/>
              </a:rPr>
              <a:t>(</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j</a:t>
            </a:r>
            <a:pPr indent="0" marL="0">
              <a:buNone/>
            </a:pPr>
            <a:r>
              <a:rPr lang="en-US" sz="1800" dirty="0">
                <a:solidFill>
                  <a:schemeClr val="tx1"/>
                </a:solidFill>
                <a:latin typeface="Avenir" pitchFamily="34" charset="0"/>
                <a:ea typeface="Avenir" pitchFamily="34" charset="-122"/>
                <a:cs typeface="Avenir" pitchFamily="34" charset="-120"/>
              </a:rPr>
              <a:t>, </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k</a:t>
            </a:r>
            <a:pPr indent="0" marL="0">
              <a:buNone/>
            </a:pPr>
            <a:r>
              <a:rPr lang="en-US" sz="1800" dirty="0">
                <a:solidFill>
                  <a:schemeClr val="tx1"/>
                </a:solidFill>
                <a:latin typeface="Avenir" pitchFamily="34" charset="0"/>
                <a:ea typeface="Avenir" pitchFamily="34" charset="-122"/>
                <a:cs typeface="Avenir" pitchFamily="34" charset="-120"/>
              </a:rPr>
              <a:t>) = Σ</a:t>
            </a:r>
            <a:pPr indent="0" marL="0">
              <a:buNone/>
            </a:pPr>
            <a:r>
              <a:rPr lang="en-US" sz="1800" baseline="-40000" dirty="0">
                <a:solidFill>
                  <a:schemeClr val="tx1"/>
                </a:solidFill>
                <a:latin typeface="Avenir" pitchFamily="34" charset="0"/>
                <a:ea typeface="Avenir" pitchFamily="34" charset="-122"/>
                <a:cs typeface="Avenir" pitchFamily="34" charset="-120"/>
              </a:rPr>
              <a:t>c,d</a:t>
            </a:r>
            <a:pPr indent="0" marL="0">
              <a:buNone/>
            </a:pPr>
            <a:r>
              <a:rPr lang="en-US" sz="1800" dirty="0">
                <a:solidFill>
                  <a:schemeClr val="tx1"/>
                </a:solidFill>
                <a:latin typeface="Avenir" pitchFamily="34" charset="0"/>
                <a:ea typeface="Avenir" pitchFamily="34" charset="-122"/>
                <a:cs typeface="Avenir" pitchFamily="34" charset="-120"/>
              </a:rPr>
              <a:t> P(c,d) · log [ P(c,d) / (P(c) · P(d)) ]</a:t>
            </a:r>
            <a:endParaRPr lang="en-US" sz="1800" dirty="0"/>
          </a:p>
        </p:txBody>
      </p:sp>
      <p:sp>
        <p:nvSpPr>
          <p:cNvPr id="7" name="formula-card-119"/>
          <p:cNvSpPr/>
          <p:nvPr/>
        </p:nvSpPr>
        <p:spPr>
          <a:xfrm>
            <a:off x="548640" y="2715768"/>
            <a:ext cx="6949440" cy="1005840"/>
          </a:xfrm>
          <a:prstGeom prst="roundRect">
            <a:avLst>
              <a:gd name="adj" fmla="val 9091"/>
            </a:avLst>
          </a:prstGeom>
          <a:solidFill>
            <a:schemeClr val="bg2"/>
          </a:solidFill>
          <a:ln/>
        </p:spPr>
      </p:sp>
      <p:sp>
        <p:nvSpPr>
          <p:cNvPr id="8" name="formula-label-120"/>
          <p:cNvSpPr txBox="1"/>
          <p:nvPr/>
        </p:nvSpPr>
        <p:spPr>
          <a:xfrm>
            <a:off x="822960" y="2825496"/>
            <a:ext cx="6400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Normalized</a:t>
            </a:r>
            <a:endParaRPr lang="en-US" sz="1200" dirty="0"/>
          </a:p>
        </p:txBody>
      </p:sp>
      <p:sp>
        <p:nvSpPr>
          <p:cNvPr id="9" name="formula-121"/>
          <p:cNvSpPr txBox="1"/>
          <p:nvPr/>
        </p:nvSpPr>
        <p:spPr>
          <a:xfrm>
            <a:off x="822960" y="3127248"/>
            <a:ext cx="6400800" cy="502920"/>
          </a:xfrm>
          <a:prstGeom prst="rect">
            <a:avLst/>
          </a:prstGeom>
          <a:noFill/>
          <a:ln/>
        </p:spPr>
        <p:txBody>
          <a:bodyPr wrap="square" lIns="0" tIns="0" rIns="0" bIns="0" rtlCol="0" anchor="ctr"/>
          <a:lstStyle/>
          <a:p>
            <a:pPr indent="0" marL="0">
              <a:buNone/>
            </a:pPr>
            <a:r>
              <a:rPr lang="en-US" sz="1800" i="1" dirty="0">
                <a:solidFill>
                  <a:schemeClr val="tx1"/>
                </a:solidFill>
                <a:latin typeface="Avenir" pitchFamily="34" charset="0"/>
                <a:ea typeface="Avenir" pitchFamily="34" charset="-122"/>
                <a:cs typeface="Avenir" pitchFamily="34" charset="-120"/>
              </a:rPr>
              <a:t>NMI</a:t>
            </a:r>
            <a:pPr indent="0" marL="0">
              <a:buNone/>
            </a:pPr>
            <a:r>
              <a:rPr lang="en-US" sz="1800" dirty="0">
                <a:solidFill>
                  <a:schemeClr val="tx1"/>
                </a:solidFill>
                <a:latin typeface="Avenir" pitchFamily="34" charset="0"/>
                <a:ea typeface="Avenir" pitchFamily="34" charset="-122"/>
                <a:cs typeface="Avenir" pitchFamily="34" charset="-120"/>
              </a:rPr>
              <a:t>(</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j</a:t>
            </a:r>
            <a:pPr indent="0" marL="0">
              <a:buNone/>
            </a:pPr>
            <a:r>
              <a:rPr lang="en-US" sz="1800" dirty="0">
                <a:solidFill>
                  <a:schemeClr val="tx1"/>
                </a:solidFill>
                <a:latin typeface="Avenir" pitchFamily="34" charset="0"/>
                <a:ea typeface="Avenir" pitchFamily="34" charset="-122"/>
                <a:cs typeface="Avenir" pitchFamily="34" charset="-120"/>
              </a:rPr>
              <a:t>, </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k</a:t>
            </a:r>
            <a:pPr indent="0" marL="0">
              <a:buNone/>
            </a:pPr>
            <a:r>
              <a:rPr lang="en-US" sz="1800" dirty="0">
                <a:solidFill>
                  <a:schemeClr val="tx1"/>
                </a:solidFill>
                <a:latin typeface="Avenir" pitchFamily="34" charset="0"/>
                <a:ea typeface="Avenir" pitchFamily="34" charset="-122"/>
                <a:cs typeface="Avenir" pitchFamily="34" charset="-120"/>
              </a:rPr>
              <a:t>) = 2 · MI(</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j</a:t>
            </a:r>
            <a:pPr indent="0" marL="0">
              <a:buNone/>
            </a:pPr>
            <a:r>
              <a:rPr lang="en-US" sz="1800" dirty="0">
                <a:solidFill>
                  <a:schemeClr val="tx1"/>
                </a:solidFill>
                <a:latin typeface="Avenir" pitchFamily="34" charset="0"/>
                <a:ea typeface="Avenir" pitchFamily="34" charset="-122"/>
                <a:cs typeface="Avenir" pitchFamily="34" charset="-120"/>
              </a:rPr>
              <a:t>, </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k</a:t>
            </a:r>
            <a:pPr indent="0" marL="0">
              <a:buNone/>
            </a:pPr>
            <a:r>
              <a:rPr lang="en-US" sz="1800" dirty="0">
                <a:solidFill>
                  <a:schemeClr val="tx1"/>
                </a:solidFill>
                <a:latin typeface="Avenir" pitchFamily="34" charset="0"/>
                <a:ea typeface="Avenir" pitchFamily="34" charset="-122"/>
                <a:cs typeface="Avenir" pitchFamily="34" charset="-120"/>
              </a:rPr>
              <a:t>) / [ H(</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j</a:t>
            </a:r>
            <a:pPr indent="0" marL="0">
              <a:buNone/>
            </a:pPr>
            <a:r>
              <a:rPr lang="en-US" sz="1800" dirty="0">
                <a:solidFill>
                  <a:schemeClr val="tx1"/>
                </a:solidFill>
                <a:latin typeface="Avenir" pitchFamily="34" charset="0"/>
                <a:ea typeface="Avenir" pitchFamily="34" charset="-122"/>
                <a:cs typeface="Avenir" pitchFamily="34" charset="-120"/>
              </a:rPr>
              <a:t>) + H(</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k</a:t>
            </a:r>
            <a:pPr indent="0" marL="0">
              <a:buNone/>
            </a:pPr>
            <a:r>
              <a:rPr lang="en-US" sz="1800" dirty="0">
                <a:solidFill>
                  <a:schemeClr val="tx1"/>
                </a:solidFill>
                <a:latin typeface="Avenir" pitchFamily="34" charset="0"/>
                <a:ea typeface="Avenir" pitchFamily="34" charset="-122"/>
                <a:cs typeface="Avenir" pitchFamily="34" charset="-120"/>
              </a:rPr>
              <a:t>) ]</a:t>
            </a:r>
            <a:endParaRPr lang="en-US" sz="1800" dirty="0"/>
          </a:p>
        </p:txBody>
      </p:sp>
      <p:sp>
        <p:nvSpPr>
          <p:cNvPr id="10" name="formula-card-122"/>
          <p:cNvSpPr/>
          <p:nvPr/>
        </p:nvSpPr>
        <p:spPr>
          <a:xfrm>
            <a:off x="548640" y="3877056"/>
            <a:ext cx="6949440" cy="1005840"/>
          </a:xfrm>
          <a:prstGeom prst="roundRect">
            <a:avLst>
              <a:gd name="adj" fmla="val 9091"/>
            </a:avLst>
          </a:prstGeom>
          <a:solidFill>
            <a:schemeClr val="bg2"/>
          </a:solidFill>
          <a:ln/>
        </p:spPr>
      </p:sp>
      <p:sp>
        <p:nvSpPr>
          <p:cNvPr id="11" name="formula-label-123"/>
          <p:cNvSpPr txBox="1"/>
          <p:nvPr/>
        </p:nvSpPr>
        <p:spPr>
          <a:xfrm>
            <a:off x="822960" y="3986784"/>
            <a:ext cx="6400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Entropy</a:t>
            </a:r>
            <a:endParaRPr lang="en-US" sz="1200" dirty="0"/>
          </a:p>
        </p:txBody>
      </p:sp>
      <p:sp>
        <p:nvSpPr>
          <p:cNvPr id="12" name="formula-124"/>
          <p:cNvSpPr txBox="1"/>
          <p:nvPr/>
        </p:nvSpPr>
        <p:spPr>
          <a:xfrm>
            <a:off x="822960" y="4288536"/>
            <a:ext cx="6400800" cy="502920"/>
          </a:xfrm>
          <a:prstGeom prst="rect">
            <a:avLst/>
          </a:prstGeom>
          <a:noFill/>
          <a:ln/>
        </p:spPr>
        <p:txBody>
          <a:bodyPr wrap="square" lIns="0" tIns="0" rIns="0" bIns="0" rtlCol="0" anchor="ctr"/>
          <a:lstStyle/>
          <a:p>
            <a:pPr indent="0" marL="0">
              <a:buNone/>
            </a:pPr>
            <a:r>
              <a:rPr lang="en-US" sz="1800" i="1" dirty="0">
                <a:solidFill>
                  <a:schemeClr val="tx1"/>
                </a:solidFill>
                <a:latin typeface="Avenir" pitchFamily="34" charset="0"/>
                <a:ea typeface="Avenir" pitchFamily="34" charset="-122"/>
                <a:cs typeface="Avenir" pitchFamily="34" charset="-120"/>
              </a:rPr>
              <a:t>H</a:t>
            </a:r>
            <a:pPr indent="0" marL="0">
              <a:buNone/>
            </a:pPr>
            <a:r>
              <a:rPr lang="en-US" sz="1800" dirty="0">
                <a:solidFill>
                  <a:schemeClr val="tx1"/>
                </a:solidFill>
                <a:latin typeface="Avenir" pitchFamily="34" charset="0"/>
                <a:ea typeface="Avenir" pitchFamily="34" charset="-122"/>
                <a:cs typeface="Avenir" pitchFamily="34" charset="-120"/>
              </a:rPr>
              <a:t>(</a:t>
            </a:r>
            <a:pPr indent="0" marL="0">
              <a:buNone/>
            </a:pPr>
            <a:r>
              <a:rPr lang="en-US" sz="1800" i="1" dirty="0">
                <a:solidFill>
                  <a:schemeClr val="tx1"/>
                </a:solidFill>
                <a:latin typeface="Avenir" pitchFamily="34" charset="0"/>
                <a:ea typeface="Avenir" pitchFamily="34" charset="-122"/>
                <a:cs typeface="Avenir" pitchFamily="34" charset="-120"/>
              </a:rPr>
              <a:t>X</a:t>
            </a:r>
            <a:pPr indent="0" marL="0">
              <a:buNone/>
            </a:pPr>
            <a:r>
              <a:rPr lang="en-US" sz="1800" baseline="-40000" dirty="0">
                <a:solidFill>
                  <a:schemeClr val="tx1"/>
                </a:solidFill>
                <a:latin typeface="Avenir" pitchFamily="34" charset="0"/>
                <a:ea typeface="Avenir" pitchFamily="34" charset="-122"/>
                <a:cs typeface="Avenir" pitchFamily="34" charset="-120"/>
              </a:rPr>
              <a:t>j</a:t>
            </a:r>
            <a:pPr indent="0" marL="0">
              <a:buNone/>
            </a:pPr>
            <a:r>
              <a:rPr lang="en-US" sz="1800" dirty="0">
                <a:solidFill>
                  <a:schemeClr val="tx1"/>
                </a:solidFill>
                <a:latin typeface="Avenir" pitchFamily="34" charset="0"/>
                <a:ea typeface="Avenir" pitchFamily="34" charset="-122"/>
                <a:cs typeface="Avenir" pitchFamily="34" charset="-120"/>
              </a:rPr>
              <a:t>) = − Σ</a:t>
            </a:r>
            <a:pPr indent="0" marL="0">
              <a:buNone/>
            </a:pPr>
            <a:r>
              <a:rPr lang="en-US" sz="1800" baseline="-40000" dirty="0">
                <a:solidFill>
                  <a:schemeClr val="tx1"/>
                </a:solidFill>
                <a:latin typeface="Avenir" pitchFamily="34" charset="0"/>
                <a:ea typeface="Avenir" pitchFamily="34" charset="-122"/>
                <a:cs typeface="Avenir" pitchFamily="34" charset="-120"/>
              </a:rPr>
              <a:t>c</a:t>
            </a:r>
            <a:pPr indent="0" marL="0">
              <a:buNone/>
            </a:pPr>
            <a:r>
              <a:rPr lang="en-US" sz="1800" dirty="0">
                <a:solidFill>
                  <a:schemeClr val="tx1"/>
                </a:solidFill>
                <a:latin typeface="Avenir" pitchFamily="34" charset="0"/>
                <a:ea typeface="Avenir" pitchFamily="34" charset="-122"/>
                <a:cs typeface="Avenir" pitchFamily="34" charset="-120"/>
              </a:rPr>
              <a:t> P(c) · log P(c)</a:t>
            </a:r>
            <a:endParaRPr lang="en-US" sz="1800" dirty="0"/>
          </a:p>
        </p:txBody>
      </p:sp>
      <p:sp>
        <p:nvSpPr>
          <p:cNvPr id="13" name="formula-card-125"/>
          <p:cNvSpPr/>
          <p:nvPr/>
        </p:nvSpPr>
        <p:spPr>
          <a:xfrm>
            <a:off x="548640" y="5038344"/>
            <a:ext cx="6949440" cy="1005840"/>
          </a:xfrm>
          <a:prstGeom prst="roundRect">
            <a:avLst>
              <a:gd name="adj" fmla="val 9091"/>
            </a:avLst>
          </a:prstGeom>
          <a:solidFill>
            <a:schemeClr val="bg2"/>
          </a:solidFill>
          <a:ln/>
        </p:spPr>
      </p:sp>
      <p:sp>
        <p:nvSpPr>
          <p:cNvPr id="14" name="formula-label-126"/>
          <p:cNvSpPr txBox="1"/>
          <p:nvPr/>
        </p:nvSpPr>
        <p:spPr>
          <a:xfrm>
            <a:off x="822960" y="5148072"/>
            <a:ext cx="6400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Numerical features: number of bins</a:t>
            </a:r>
            <a:endParaRPr lang="en-US" sz="1200" dirty="0"/>
          </a:p>
        </p:txBody>
      </p:sp>
      <p:sp>
        <p:nvSpPr>
          <p:cNvPr id="15" name="formula-127"/>
          <p:cNvSpPr txBox="1"/>
          <p:nvPr/>
        </p:nvSpPr>
        <p:spPr>
          <a:xfrm>
            <a:off x="822960" y="5449824"/>
            <a:ext cx="6400800" cy="502920"/>
          </a:xfrm>
          <a:prstGeom prst="rect">
            <a:avLst/>
          </a:prstGeom>
          <a:noFill/>
          <a:ln/>
        </p:spPr>
        <p:txBody>
          <a:bodyPr wrap="square" lIns="0" tIns="0" rIns="0" bIns="0" rtlCol="0" anchor="ctr"/>
          <a:lstStyle/>
          <a:p>
            <a:pPr indent="0" marL="0">
              <a:buNone/>
            </a:pPr>
            <a:r>
              <a:rPr lang="en-US" sz="1800" dirty="0">
                <a:solidFill>
                  <a:schemeClr val="tx1"/>
                </a:solidFill>
                <a:latin typeface="Avenir" pitchFamily="34" charset="0"/>
                <a:ea typeface="Avenir" pitchFamily="34" charset="-122"/>
                <a:cs typeface="Avenir" pitchFamily="34" charset="-120"/>
              </a:rPr>
              <a:t>nbins = ⌈ (max − min) / (2 · IQR / n</a:t>
            </a:r>
            <a:pPr indent="0" marL="0">
              <a:buNone/>
            </a:pPr>
            <a:r>
              <a:rPr lang="en-US" sz="1800" baseline="30000" dirty="0">
                <a:solidFill>
                  <a:schemeClr val="tx1"/>
                </a:solidFill>
                <a:latin typeface="Avenir" pitchFamily="34" charset="0"/>
                <a:ea typeface="Avenir" pitchFamily="34" charset="-122"/>
                <a:cs typeface="Avenir" pitchFamily="34" charset="-120"/>
              </a:rPr>
              <a:t>1/3</a:t>
            </a:r>
            <a:pPr indent="0" marL="0">
              <a:buNone/>
            </a:pPr>
            <a:r>
              <a:rPr lang="en-US" sz="1800" dirty="0">
                <a:solidFill>
                  <a:schemeClr val="tx1"/>
                </a:solidFill>
                <a:latin typeface="Avenir" pitchFamily="34" charset="0"/>
                <a:ea typeface="Avenir" pitchFamily="34" charset="-122"/>
                <a:cs typeface="Avenir" pitchFamily="34" charset="-120"/>
              </a:rPr>
              <a:t>) ⌉   (Freedman–Diaconis)</a:t>
            </a:r>
            <a:endParaRPr lang="en-US" sz="1800" dirty="0"/>
          </a:p>
        </p:txBody>
      </p:sp>
      <p:sp>
        <p:nvSpPr>
          <p:cNvPr id="16" name="scale-title-128"/>
          <p:cNvSpPr txBox="1"/>
          <p:nvPr/>
        </p:nvSpPr>
        <p:spPr>
          <a:xfrm>
            <a:off x="7863840" y="1554480"/>
            <a:ext cx="3779215" cy="365760"/>
          </a:xfrm>
          <a:prstGeom prst="rect">
            <a:avLst/>
          </a:prstGeom>
          <a:noFill/>
          <a:ln/>
        </p:spPr>
        <p:txBody>
          <a:bodyPr wrap="square" lIns="0" tIns="0" rIns="0" bIns="0" rtlCol="0" anchor="t"/>
          <a:lstStyle/>
          <a:p>
            <a:pPr indent="0" marL="0">
              <a:buNone/>
            </a:pPr>
            <a:r>
              <a:rPr lang="en-US" sz="1600" b="1" dirty="0">
                <a:solidFill>
                  <a:schemeClr val="tx2"/>
                </a:solidFill>
              </a:rPr>
              <a:t>How to read it</a:t>
            </a:r>
            <a:endParaRPr lang="en-US" sz="1600" dirty="0"/>
          </a:p>
        </p:txBody>
      </p:sp>
      <p:sp>
        <p:nvSpPr>
          <p:cNvPr id="17" name="scale-bar"/>
          <p:cNvSpPr/>
          <p:nvPr/>
        </p:nvSpPr>
        <p:spPr>
          <a:xfrm>
            <a:off x="7863840" y="2148840"/>
            <a:ext cx="3779215" cy="201168"/>
          </a:xfrm>
          <a:prstGeom prst="roundRect">
            <a:avLst>
              <a:gd name="adj" fmla="val 50000"/>
            </a:avLst>
          </a:prstGeom>
          <a:solidFill>
            <a:schemeClr val="accent1"/>
          </a:solidFill>
          <a:ln/>
        </p:spPr>
      </p:sp>
      <p:sp>
        <p:nvSpPr>
          <p:cNvPr id="18" name="scale-0-129"/>
          <p:cNvSpPr txBox="1"/>
          <p:nvPr/>
        </p:nvSpPr>
        <p:spPr>
          <a:xfrm>
            <a:off x="7863840" y="2468880"/>
            <a:ext cx="1889608" cy="822960"/>
          </a:xfrm>
          <a:prstGeom prst="rect">
            <a:avLst/>
          </a:prstGeom>
          <a:noFill/>
          <a:ln/>
        </p:spPr>
        <p:txBody>
          <a:bodyPr wrap="square" lIns="0" tIns="0" rIns="0" bIns="0" rtlCol="0" anchor="t"/>
          <a:lstStyle/>
          <a:p>
            <a:pPr indent="0" marL="0">
              <a:buNone/>
            </a:pPr>
            <a:r>
              <a:rPr lang="en-US" sz="2200" b="1" dirty="0">
                <a:solidFill>
                  <a:schemeClr val="accent1"/>
                </a:solidFill>
              </a:rPr>
              <a:t>0</a:t>
            </a:r>
            <a:endParaRPr lang="en-US" sz="1400" dirty="0"/>
          </a:p>
          <a:p>
            <a:pPr indent="0" marL="0">
              <a:buNone/>
            </a:pPr>
            <a:r>
              <a:rPr lang="en-US" sz="1400" dirty="0">
                <a:solidFill>
                  <a:schemeClr val="tx1"/>
                </a:solidFill>
              </a:rPr>
              <a:t>no shared information</a:t>
            </a:r>
            <a:endParaRPr lang="en-US" sz="1400" dirty="0"/>
          </a:p>
        </p:txBody>
      </p:sp>
      <p:sp>
        <p:nvSpPr>
          <p:cNvPr id="19" name="scale-1-130"/>
          <p:cNvSpPr txBox="1"/>
          <p:nvPr/>
        </p:nvSpPr>
        <p:spPr>
          <a:xfrm>
            <a:off x="9753448" y="2468880"/>
            <a:ext cx="1889608" cy="822960"/>
          </a:xfrm>
          <a:prstGeom prst="rect">
            <a:avLst/>
          </a:prstGeom>
          <a:noFill/>
          <a:ln/>
        </p:spPr>
        <p:txBody>
          <a:bodyPr wrap="square" lIns="0" tIns="0" rIns="0" bIns="0" rtlCol="0" anchor="t"/>
          <a:lstStyle/>
          <a:p>
            <a:pPr algn="r" indent="0" marL="0">
              <a:buNone/>
            </a:pPr>
            <a:r>
              <a:rPr lang="en-US" sz="2200" b="1" dirty="0">
                <a:solidFill>
                  <a:schemeClr val="accent1"/>
                </a:solidFill>
              </a:rPr>
              <a:t>1</a:t>
            </a:r>
            <a:endParaRPr lang="en-US" sz="1400" dirty="0"/>
          </a:p>
          <a:p>
            <a:pPr algn="r" indent="0" marL="0">
              <a:buNone/>
            </a:pPr>
            <a:r>
              <a:rPr lang="en-US" sz="1400" dirty="0">
                <a:solidFill>
                  <a:schemeClr val="tx1"/>
                </a:solidFill>
              </a:rPr>
              <a:t>all variation from the dependence</a:t>
            </a:r>
            <a:endParaRPr lang="en-US" sz="1400" dirty="0"/>
          </a:p>
        </p:txBody>
      </p:sp>
      <p:sp>
        <p:nvSpPr>
          <p:cNvPr id="20" name="warn-card-131"/>
          <p:cNvSpPr/>
          <p:nvPr/>
        </p:nvSpPr>
        <p:spPr>
          <a:xfrm>
            <a:off x="7863840" y="3657600"/>
            <a:ext cx="3779215" cy="2514600"/>
          </a:xfrm>
          <a:prstGeom prst="roundRect">
            <a:avLst>
              <a:gd name="adj" fmla="val 3636"/>
            </a:avLst>
          </a:prstGeom>
          <a:solidFill>
            <a:schemeClr val="bg1"/>
          </a:solidFill>
          <a:ln w="19050">
            <a:solidFill>
              <a:schemeClr val="accent2"/>
            </a:solidFill>
            <a:prstDash val="solid"/>
          </a:ln>
        </p:spPr>
      </p:sp>
      <p:sp>
        <p:nvSpPr>
          <p:cNvPr id="21" name="icon-bg-132"/>
          <p:cNvSpPr/>
          <p:nvPr/>
        </p:nvSpPr>
        <p:spPr>
          <a:xfrm>
            <a:off x="8092440" y="3886200"/>
            <a:ext cx="566928" cy="566928"/>
          </a:xfrm>
          <a:prstGeom prst="ellipse">
            <a:avLst/>
          </a:prstGeom>
          <a:solidFill>
            <a:schemeClr val="accent2"/>
          </a:solidFill>
          <a:ln/>
        </p:spPr>
      </p:sp>
      <p:pic>
        <p:nvPicPr>
          <p:cNvPr id="22" name="icon-133" descr="LuTriangleAlert">    </p:cNvPr>
          <p:cNvPicPr>
            <a:picLocks noChangeAspect="1"/>
          </p:cNvPicPr>
          <p:nvPr/>
        </p:nvPicPr>
        <p:blipFill>
          <a:blip r:embed="rId1"/>
          <a:stretch>
            <a:fillRect/>
          </a:stretch>
        </p:blipFill>
        <p:spPr>
          <a:xfrm>
            <a:off x="8239841" y="4033601"/>
            <a:ext cx="272125" cy="272125"/>
          </a:xfrm>
          <a:prstGeom prst="rect">
            <a:avLst/>
          </a:prstGeom>
        </p:spPr>
      </p:pic>
      <p:sp>
        <p:nvSpPr>
          <p:cNvPr id="23" name="warn-title-134"/>
          <p:cNvSpPr txBox="1"/>
          <p:nvPr/>
        </p:nvSpPr>
        <p:spPr>
          <a:xfrm>
            <a:off x="8823960" y="3886200"/>
            <a:ext cx="2590495" cy="566928"/>
          </a:xfrm>
          <a:prstGeom prst="rect">
            <a:avLst/>
          </a:prstGeom>
          <a:noFill/>
          <a:ln/>
        </p:spPr>
        <p:txBody>
          <a:bodyPr wrap="square" lIns="0" tIns="0" rIns="0" bIns="0" rtlCol="0" anchor="ctr"/>
          <a:lstStyle/>
          <a:p>
            <a:pPr indent="0" marL="0">
              <a:buNone/>
            </a:pPr>
            <a:r>
              <a:rPr lang="en-US" sz="1800" b="1" dirty="0">
                <a:solidFill>
                  <a:schemeClr val="accent2"/>
                </a:solidFill>
              </a:rPr>
              <a:t>Caution</a:t>
            </a:r>
            <a:endParaRPr lang="en-US" sz="1800" dirty="0"/>
          </a:p>
        </p:txBody>
      </p:sp>
      <p:sp>
        <p:nvSpPr>
          <p:cNvPr id="24" name="warn-text-135"/>
          <p:cNvSpPr txBox="1"/>
          <p:nvPr/>
        </p:nvSpPr>
        <p:spPr>
          <a:xfrm>
            <a:off x="8092440" y="4572000"/>
            <a:ext cx="3322015" cy="1508760"/>
          </a:xfrm>
          <a:prstGeom prst="rect">
            <a:avLst/>
          </a:prstGeom>
          <a:noFill/>
          <a:ln/>
        </p:spPr>
        <p:txBody>
          <a:bodyPr wrap="square" lIns="0" tIns="0" rIns="0" bIns="0" rtlCol="0" anchor="t"/>
          <a:lstStyle/>
          <a:p>
            <a:pPr indent="0" marL="0">
              <a:buNone/>
            </a:pPr>
            <a:r>
              <a:rPr lang="en-US" sz="1500" dirty="0">
                <a:solidFill>
                  <a:schemeClr val="tx1"/>
                </a:solidFill>
              </a:rPr>
              <a:t>NMI can be biased upward for features with many bins or categories (Mahmoudi, 2024). So we read it together with raw-data plots and the Pearson correlation.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BIKE RENTALS · FEATURE DEPENDENCE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NMI confirms the correlations and covers categoricals</a:t>
            </a:r>
            <a:endParaRPr lang="en-US" sz="3200" dirty="0"/>
          </a:p>
        </p:txBody>
      </p:sp>
      <p:sp>
        <p:nvSpPr>
          <p:cNvPr id="4" name="fig-card-136"/>
          <p:cNvSpPr/>
          <p:nvPr/>
        </p:nvSpPr>
        <p:spPr>
          <a:xfrm>
            <a:off x="548640" y="1508760"/>
            <a:ext cx="5897880" cy="4663440"/>
          </a:xfrm>
          <a:prstGeom prst="roundRect">
            <a:avLst>
              <a:gd name="adj" fmla="val 1961"/>
            </a:avLst>
          </a:prstGeom>
          <a:solidFill>
            <a:schemeClr val="bg1"/>
          </a:solidFill>
          <a:ln w="12700">
            <a:solidFill>
              <a:schemeClr val="bg2"/>
            </a:solidFill>
            <a:prstDash val="solid"/>
          </a:ln>
        </p:spPr>
      </p:sp>
      <p:pic>
        <p:nvPicPr>
          <p:cNvPr id="5" name="fig-bike-nmi" descr="Pairwise plots and NMI values for the bike features">    </p:cNvPr>
          <p:cNvPicPr>
            <a:picLocks noChangeAspect="1"/>
          </p:cNvPicPr>
          <p:nvPr/>
        </p:nvPicPr>
        <p:blipFill>
          <a:blip r:embed="rId1"/>
          <a:stretch>
            <a:fillRect/>
          </a:stretch>
        </p:blipFill>
        <p:spPr>
          <a:xfrm>
            <a:off x="640080" y="1572768"/>
            <a:ext cx="5715000" cy="4572000"/>
          </a:xfrm>
          <a:prstGeom prst="rect">
            <a:avLst/>
          </a:prstGeom>
        </p:spPr>
      </p:pic>
      <p:sp>
        <p:nvSpPr>
          <p:cNvPr id="6" name="icon-bg-137"/>
          <p:cNvSpPr/>
          <p:nvPr/>
        </p:nvSpPr>
        <p:spPr>
          <a:xfrm>
            <a:off x="6766560" y="1600200"/>
            <a:ext cx="658368" cy="658368"/>
          </a:xfrm>
          <a:prstGeom prst="ellipse">
            <a:avLst/>
          </a:prstGeom>
          <a:solidFill>
            <a:schemeClr val="accent1"/>
          </a:solidFill>
          <a:ln/>
        </p:spPr>
      </p:sp>
      <p:pic>
        <p:nvPicPr>
          <p:cNvPr id="7" name="icon-138" descr="LuCircleCheck">    </p:cNvPr>
          <p:cNvPicPr>
            <a:picLocks noChangeAspect="1"/>
          </p:cNvPicPr>
          <p:nvPr/>
        </p:nvPicPr>
        <p:blipFill>
          <a:blip r:embed="rId2"/>
          <a:stretch>
            <a:fillRect/>
          </a:stretch>
        </p:blipFill>
        <p:spPr>
          <a:xfrm>
            <a:off x="6937736" y="1771376"/>
            <a:ext cx="316017" cy="316017"/>
          </a:xfrm>
          <a:prstGeom prst="rect">
            <a:avLst/>
          </a:prstGeom>
        </p:spPr>
      </p:pic>
      <p:sp>
        <p:nvSpPr>
          <p:cNvPr id="8" name="point-title-139"/>
          <p:cNvSpPr txBox="1"/>
          <p:nvPr/>
        </p:nvSpPr>
        <p:spPr>
          <a:xfrm>
            <a:off x="7635240" y="1581912"/>
            <a:ext cx="4007815" cy="384048"/>
          </a:xfrm>
          <a:prstGeom prst="rect">
            <a:avLst/>
          </a:prstGeom>
          <a:noFill/>
          <a:ln/>
        </p:spPr>
        <p:txBody>
          <a:bodyPr wrap="square" lIns="0" tIns="0" rIns="0" bIns="0" rtlCol="0" anchor="t"/>
          <a:lstStyle/>
          <a:p>
            <a:pPr indent="0" marL="0">
              <a:buNone/>
            </a:pPr>
            <a:r>
              <a:rPr lang="en-US" sz="1800" b="1" dirty="0">
                <a:solidFill>
                  <a:schemeClr val="tx2"/>
                </a:solidFill>
              </a:rPr>
              <a:t>Same picture</a:t>
            </a:r>
            <a:endParaRPr lang="en-US" sz="1800" dirty="0"/>
          </a:p>
        </p:txBody>
      </p:sp>
      <p:sp>
        <p:nvSpPr>
          <p:cNvPr id="9" name="point-desc-140"/>
          <p:cNvSpPr txBox="1"/>
          <p:nvPr/>
        </p:nvSpPr>
        <p:spPr>
          <a:xfrm>
            <a:off x="7635240" y="1984248"/>
            <a:ext cx="4007815" cy="960120"/>
          </a:xfrm>
          <a:prstGeom prst="rect">
            <a:avLst/>
          </a:prstGeom>
          <a:noFill/>
          <a:ln/>
        </p:spPr>
        <p:txBody>
          <a:bodyPr wrap="square" lIns="0" tIns="0" rIns="0" bIns="0" rtlCol="0" anchor="t"/>
          <a:lstStyle/>
          <a:p>
            <a:pPr indent="0" marL="0">
              <a:buNone/>
            </a:pPr>
            <a:r>
              <a:rPr lang="en-US" sz="1500" dirty="0">
                <a:solidFill>
                  <a:schemeClr val="tx1"/>
                </a:solidFill>
              </a:rPr>
              <a:t>NMI broadly confirms the impression from the correlation analysis.</a:t>
            </a:r>
            <a:endParaRPr lang="en-US" sz="1500" dirty="0"/>
          </a:p>
        </p:txBody>
      </p:sp>
      <p:sp>
        <p:nvSpPr>
          <p:cNvPr id="10" name="icon-bg-141"/>
          <p:cNvSpPr/>
          <p:nvPr/>
        </p:nvSpPr>
        <p:spPr>
          <a:xfrm>
            <a:off x="6766560" y="3063240"/>
            <a:ext cx="658368" cy="658368"/>
          </a:xfrm>
          <a:prstGeom prst="ellipse">
            <a:avLst/>
          </a:prstGeom>
          <a:solidFill>
            <a:schemeClr val="accent1"/>
          </a:solidFill>
          <a:ln/>
        </p:spPr>
      </p:sp>
      <p:pic>
        <p:nvPicPr>
          <p:cNvPr id="11" name="icon-142" descr="LuLeaf">    </p:cNvPr>
          <p:cNvPicPr>
            <a:picLocks noChangeAspect="1"/>
          </p:cNvPicPr>
          <p:nvPr/>
        </p:nvPicPr>
        <p:blipFill>
          <a:blip r:embed="rId3"/>
          <a:stretch>
            <a:fillRect/>
          </a:stretch>
        </p:blipFill>
        <p:spPr>
          <a:xfrm>
            <a:off x="6937736" y="3234416"/>
            <a:ext cx="316017" cy="316017"/>
          </a:xfrm>
          <a:prstGeom prst="rect">
            <a:avLst/>
          </a:prstGeom>
        </p:spPr>
      </p:pic>
      <p:sp>
        <p:nvSpPr>
          <p:cNvPr id="12" name="point-title-143"/>
          <p:cNvSpPr txBox="1"/>
          <p:nvPr/>
        </p:nvSpPr>
        <p:spPr>
          <a:xfrm>
            <a:off x="7635240" y="3044952"/>
            <a:ext cx="4007815" cy="384048"/>
          </a:xfrm>
          <a:prstGeom prst="rect">
            <a:avLst/>
          </a:prstGeom>
          <a:noFill/>
          <a:ln/>
        </p:spPr>
        <p:txBody>
          <a:bodyPr wrap="square" lIns="0" tIns="0" rIns="0" bIns="0" rtlCol="0" anchor="t"/>
          <a:lstStyle/>
          <a:p>
            <a:pPr indent="0" marL="0">
              <a:buNone/>
            </a:pPr>
            <a:r>
              <a:rPr lang="en-US" sz="1800" b="1" dirty="0">
                <a:solidFill>
                  <a:schemeClr val="tx2"/>
                </a:solidFill>
              </a:rPr>
              <a:t>Categorical features</a:t>
            </a:r>
            <a:endParaRPr lang="en-US" sz="1800" dirty="0"/>
          </a:p>
        </p:txBody>
      </p:sp>
      <p:sp>
        <p:nvSpPr>
          <p:cNvPr id="13" name="point-desc-144"/>
          <p:cNvSpPr txBox="1"/>
          <p:nvPr/>
        </p:nvSpPr>
        <p:spPr>
          <a:xfrm>
            <a:off x="7635240" y="3447288"/>
            <a:ext cx="4007815" cy="960120"/>
          </a:xfrm>
          <a:prstGeom prst="rect">
            <a:avLst/>
          </a:prstGeom>
          <a:noFill/>
          <a:ln/>
        </p:spPr>
        <p:txBody>
          <a:bodyPr wrap="square" lIns="0" tIns="0" rIns="0" bIns="0" rtlCol="0" anchor="t"/>
          <a:lstStyle/>
          <a:p>
            <a:pPr indent="0" marL="0">
              <a:buNone/>
            </a:pPr>
            <a:r>
              <a:rPr lang="en-US" sz="1500" dirty="0">
                <a:solidFill>
                  <a:schemeClr val="tx1"/>
                </a:solidFill>
              </a:rPr>
              <a:t>Season shares information with temperature and with the count from two days before, which is no surprise.</a:t>
            </a:r>
            <a:endParaRPr lang="en-US" sz="1500" dirty="0"/>
          </a:p>
        </p:txBody>
      </p:sp>
      <p:sp>
        <p:nvSpPr>
          <p:cNvPr id="14" name="icon-bg-145"/>
          <p:cNvSpPr/>
          <p:nvPr/>
        </p:nvSpPr>
        <p:spPr>
          <a:xfrm>
            <a:off x="6766560" y="4526280"/>
            <a:ext cx="658368" cy="658368"/>
          </a:xfrm>
          <a:prstGeom prst="ellipse">
            <a:avLst/>
          </a:prstGeom>
          <a:solidFill>
            <a:schemeClr val="accent1"/>
          </a:solidFill>
          <a:ln/>
        </p:spPr>
      </p:sp>
      <p:pic>
        <p:nvPicPr>
          <p:cNvPr id="15" name="icon-146" descr="LuChartScatter">    </p:cNvPr>
          <p:cNvPicPr>
            <a:picLocks noChangeAspect="1"/>
          </p:cNvPicPr>
          <p:nvPr/>
        </p:nvPicPr>
        <p:blipFill>
          <a:blip r:embed="rId4"/>
          <a:stretch>
            <a:fillRect/>
          </a:stretch>
        </p:blipFill>
        <p:spPr>
          <a:xfrm>
            <a:off x="6937736" y="4697456"/>
            <a:ext cx="316017" cy="316017"/>
          </a:xfrm>
          <a:prstGeom prst="rect">
            <a:avLst/>
          </a:prstGeom>
        </p:spPr>
      </p:pic>
      <p:sp>
        <p:nvSpPr>
          <p:cNvPr id="16" name="point-title-147"/>
          <p:cNvSpPr txBox="1"/>
          <p:nvPr/>
        </p:nvSpPr>
        <p:spPr>
          <a:xfrm>
            <a:off x="7635240" y="4507992"/>
            <a:ext cx="4007815" cy="384048"/>
          </a:xfrm>
          <a:prstGeom prst="rect">
            <a:avLst/>
          </a:prstGeom>
          <a:noFill/>
          <a:ln/>
        </p:spPr>
        <p:txBody>
          <a:bodyPr wrap="square" lIns="0" tIns="0" rIns="0" bIns="0" rtlCol="0" anchor="t"/>
          <a:lstStyle/>
          <a:p>
            <a:pPr indent="0" marL="0">
              <a:buNone/>
            </a:pPr>
            <a:r>
              <a:rPr lang="en-US" sz="1800" b="1" dirty="0">
                <a:solidFill>
                  <a:schemeClr val="tx2"/>
                </a:solidFill>
              </a:rPr>
              <a:t>Mostly linear</a:t>
            </a:r>
            <a:endParaRPr lang="en-US" sz="1800" dirty="0"/>
          </a:p>
        </p:txBody>
      </p:sp>
      <p:sp>
        <p:nvSpPr>
          <p:cNvPr id="17" name="point-desc-148"/>
          <p:cNvSpPr txBox="1"/>
          <p:nvPr/>
        </p:nvSpPr>
        <p:spPr>
          <a:xfrm>
            <a:off x="7635240" y="4910328"/>
            <a:ext cx="4007815" cy="960120"/>
          </a:xfrm>
          <a:prstGeom prst="rect">
            <a:avLst/>
          </a:prstGeom>
          <a:noFill/>
          <a:ln/>
        </p:spPr>
        <p:txBody>
          <a:bodyPr wrap="square" lIns="0" tIns="0" rIns="0" bIns="0" rtlCol="0" anchor="t"/>
          <a:lstStyle/>
          <a:p>
            <a:pPr indent="0" marL="0">
              <a:buNone/>
            </a:pPr>
            <a:r>
              <a:rPr lang="en-US" sz="1500" dirty="0">
                <a:solidFill>
                  <a:schemeClr val="tx1"/>
                </a:solidFill>
              </a:rPr>
              <a:t>The pairwise plots show no unusual patterns, so correlation is a good measure here.</a:t>
            </a:r>
            <a:endParaRPr lang="en-US" sz="1500" dirty="0"/>
          </a:p>
        </p:txBody>
      </p:sp>
      <p:sp>
        <p:nvSpPr>
          <p:cNvPr id="18" name="fig-caption-149"/>
          <p:cNvSpPr txBox="1"/>
          <p:nvPr/>
        </p:nvSpPr>
        <p:spPr>
          <a:xfrm>
            <a:off x="6766560" y="5897880"/>
            <a:ext cx="4876495" cy="274320"/>
          </a:xfrm>
          <a:prstGeom prst="rect">
            <a:avLst/>
          </a:prstGeom>
          <a:noFill/>
          <a:ln/>
        </p:spPr>
        <p:txBody>
          <a:bodyPr wrap="square" lIns="0" tIns="0" rIns="0" bIns="0" rtlCol="0" anchor="t"/>
          <a:lstStyle/>
          <a:p>
            <a:pPr indent="0" marL="0">
              <a:buNone/>
            </a:pPr>
            <a:r>
              <a:rPr lang="en-US" sz="1100" i="1" dirty="0">
                <a:solidFill>
                  <a:schemeClr val="tx2"/>
                </a:solidFill>
              </a:rPr>
              <a:t>Figure: Molnar (2025). holiday and workday removed for readability.</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algn="l" indent="0" marL="0">
              <a:buNone/>
            </a:pPr>
            <a:r>
              <a:rPr lang="en-US" sz="9600" b="1" dirty="0">
                <a:solidFill>
                  <a:schemeClr val="accent2"/>
                </a:solidFill>
                <a:latin typeface="Avenir" pitchFamily="34" charset="0"/>
                <a:ea typeface="Avenir" pitchFamily="34" charset="-122"/>
                <a:cs typeface="Avenir" pitchFamily="34" charset="-120"/>
              </a:rPr>
              <a:t>02</a:t>
            </a: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lIns="0" tIns="0" rIns="0" bIns="0" rtlCol="0" anchor="t"/>
          <a:lstStyle/>
          <a:p>
            <a:pPr algn="l" indent="0" marL="0">
              <a:buNone/>
            </a:pPr>
            <a:r>
              <a:rPr lang="en-US" sz="4400" b="1" dirty="0">
                <a:solidFill>
                  <a:schemeClr val="bg1"/>
                </a:solidFill>
                <a:latin typeface="Avenir" pitchFamily="34" charset="0"/>
                <a:ea typeface="Avenir" pitchFamily="34" charset="-122"/>
                <a:cs typeface="Avenir" pitchFamily="34" charset="-120"/>
              </a:rPr>
              <a:t>Palmer penguins</a:t>
            </a: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lIns="0" tIns="0" rIns="0" bIns="0" rtlCol="0" anchor="t"/>
          <a:lstStyle/>
          <a:p>
            <a:pPr algn="l" indent="0" marL="0">
              <a:buNone/>
            </a:pPr>
            <a:r>
              <a:rPr lang="en-US" sz="2000" dirty="0">
                <a:solidFill>
                  <a:schemeClr val="bg2"/>
                </a:solidFill>
              </a:rPr>
              <a:t>Classification: predicting a penguin's sex from body measurements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PALMER PENGUINS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333 penguins, five features, one target</a:t>
            </a:r>
            <a:endParaRPr lang="en-US" sz="3200" dirty="0"/>
          </a:p>
        </p:txBody>
      </p:sp>
      <p:sp>
        <p:nvSpPr>
          <p:cNvPr id="4" name="fig-card-150"/>
          <p:cNvSpPr/>
          <p:nvPr/>
        </p:nvSpPr>
        <p:spPr>
          <a:xfrm>
            <a:off x="548640" y="1508760"/>
            <a:ext cx="5669280" cy="3749040"/>
          </a:xfrm>
          <a:prstGeom prst="roundRect">
            <a:avLst>
              <a:gd name="adj" fmla="val 2439"/>
            </a:avLst>
          </a:prstGeom>
          <a:solidFill>
            <a:schemeClr val="bg1"/>
          </a:solidFill>
          <a:ln w="12700">
            <a:solidFill>
              <a:schemeClr val="bg2"/>
            </a:solidFill>
            <a:prstDash val="solid"/>
          </a:ln>
        </p:spPr>
      </p:sp>
      <p:pic>
        <p:nvPicPr>
          <p:cNvPr id="5" name="fig-species" descr="The three penguin species: Chinstrap, Gentoo and Adelie">    </p:cNvPr>
          <p:cNvPicPr>
            <a:picLocks noChangeAspect="1"/>
          </p:cNvPicPr>
          <p:nvPr/>
        </p:nvPicPr>
        <p:blipFill>
          <a:blip r:embed="rId1"/>
          <a:stretch>
            <a:fillRect/>
          </a:stretch>
        </p:blipFill>
        <p:spPr>
          <a:xfrm>
            <a:off x="685800" y="1600200"/>
            <a:ext cx="5394960" cy="3218688"/>
          </a:xfrm>
          <a:prstGeom prst="rect">
            <a:avLst/>
          </a:prstGeom>
        </p:spPr>
      </p:pic>
      <p:sp>
        <p:nvSpPr>
          <p:cNvPr id="6" name="fig-caption-151"/>
          <p:cNvSpPr txBox="1"/>
          <p:nvPr/>
        </p:nvSpPr>
        <p:spPr>
          <a:xfrm>
            <a:off x="548640" y="4892040"/>
            <a:ext cx="5669280" cy="320040"/>
          </a:xfrm>
          <a:prstGeom prst="rect">
            <a:avLst/>
          </a:prstGeom>
          <a:noFill/>
          <a:ln/>
        </p:spPr>
        <p:txBody>
          <a:bodyPr wrap="square" lIns="0" tIns="0" rIns="0" bIns="0" rtlCol="0" anchor="t"/>
          <a:lstStyle/>
          <a:p>
            <a:pPr algn="ctr" indent="0" marL="0">
              <a:buNone/>
            </a:pPr>
            <a:r>
              <a:rPr lang="en-US" sz="1100" i="1" dirty="0">
                <a:solidFill>
                  <a:schemeClr val="tx2"/>
                </a:solidFill>
              </a:rPr>
              <a:t>Three species: Chinstrap, Gentoo, Adelie · artwork by Allison Horst</a:t>
            </a:r>
            <a:endParaRPr lang="en-US" sz="1100" dirty="0"/>
          </a:p>
        </p:txBody>
      </p:sp>
      <p:sp>
        <p:nvSpPr>
          <p:cNvPr id="7" name="source-152"/>
          <p:cNvSpPr txBox="1"/>
          <p:nvPr/>
        </p:nvSpPr>
        <p:spPr>
          <a:xfrm>
            <a:off x="548640" y="5440680"/>
            <a:ext cx="5669280" cy="777240"/>
          </a:xfrm>
          <a:prstGeom prst="rect">
            <a:avLst/>
          </a:prstGeom>
          <a:noFill/>
          <a:ln/>
        </p:spPr>
        <p:txBody>
          <a:bodyPr wrap="square" lIns="0" tIns="0" rIns="0" bIns="0" rtlCol="0" anchor="t"/>
          <a:lstStyle/>
          <a:p>
            <a:pPr indent="0" marL="0">
              <a:buNone/>
            </a:pPr>
            <a:r>
              <a:rPr lang="en-US" sz="1400" b="1" dirty="0">
                <a:solidFill>
                  <a:schemeClr val="tx2"/>
                </a:solidFill>
              </a:rPr>
              <a:t>Source: </a:t>
            </a:r>
            <a:pPr indent="0" marL="0">
              <a:buNone/>
            </a:pPr>
            <a:r>
              <a:rPr lang="en-US" sz="1400" dirty="0">
                <a:solidFill>
                  <a:schemeClr val="tx1"/>
                </a:solidFill>
              </a:rPr>
              <a:t>Gorman, Williams and Fraser (2014), Palmer Station (LTER). 11 penguins with missing values were removed; loaded with the palmerpenguins R package.</a:t>
            </a:r>
            <a:endParaRPr lang="en-US" sz="1400" dirty="0"/>
          </a:p>
        </p:txBody>
      </p:sp>
      <p:sp>
        <p:nvSpPr>
          <p:cNvPr id="8" name="feature-row-153"/>
          <p:cNvSpPr/>
          <p:nvPr/>
        </p:nvSpPr>
        <p:spPr>
          <a:xfrm>
            <a:off x="6537960" y="1508760"/>
            <a:ext cx="5105095" cy="457200"/>
          </a:xfrm>
          <a:prstGeom prst="roundRect">
            <a:avLst>
              <a:gd name="adj" fmla="val 16000"/>
            </a:avLst>
          </a:prstGeom>
          <a:solidFill>
            <a:schemeClr val="accent2"/>
          </a:solidFill>
          <a:ln/>
        </p:spPr>
      </p:sp>
      <p:sp>
        <p:nvSpPr>
          <p:cNvPr id="9" name="feature-code-154"/>
          <p:cNvSpPr txBox="1"/>
          <p:nvPr/>
        </p:nvSpPr>
        <p:spPr>
          <a:xfrm>
            <a:off x="6720840" y="1508760"/>
            <a:ext cx="2286000" cy="457200"/>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sex</a:t>
            </a:r>
            <a:endParaRPr lang="en-US" sz="1500" dirty="0"/>
          </a:p>
        </p:txBody>
      </p:sp>
      <p:sp>
        <p:nvSpPr>
          <p:cNvPr id="10" name="feature-desc-155"/>
          <p:cNvSpPr txBox="1"/>
          <p:nvPr/>
        </p:nvSpPr>
        <p:spPr>
          <a:xfrm>
            <a:off x="9006840" y="1508760"/>
            <a:ext cx="2499055" cy="457200"/>
          </a:xfrm>
          <a:prstGeom prst="rect">
            <a:avLst/>
          </a:prstGeom>
          <a:noFill/>
          <a:ln/>
        </p:spPr>
        <p:txBody>
          <a:bodyPr wrap="square" lIns="0" tIns="0" rIns="0" bIns="0" rtlCol="0" anchor="ctr"/>
          <a:lstStyle/>
          <a:p>
            <a:pPr indent="0" marL="0">
              <a:buNone/>
            </a:pPr>
            <a:r>
              <a:rPr lang="en-US" sz="1400" b="1" dirty="0">
                <a:solidFill>
                  <a:schemeClr val="bg1"/>
                </a:solidFill>
              </a:rPr>
              <a:t>Male / female  · TARGET</a:t>
            </a:r>
            <a:endParaRPr lang="en-US" sz="1400" dirty="0"/>
          </a:p>
        </p:txBody>
      </p:sp>
      <p:sp>
        <p:nvSpPr>
          <p:cNvPr id="11" name="feature-row-156"/>
          <p:cNvSpPr/>
          <p:nvPr/>
        </p:nvSpPr>
        <p:spPr>
          <a:xfrm>
            <a:off x="6537960" y="2057400"/>
            <a:ext cx="5105095" cy="457200"/>
          </a:xfrm>
          <a:prstGeom prst="roundRect">
            <a:avLst>
              <a:gd name="adj" fmla="val 16000"/>
            </a:avLst>
          </a:prstGeom>
          <a:solidFill>
            <a:schemeClr val="bg2"/>
          </a:solidFill>
          <a:ln/>
        </p:spPr>
      </p:sp>
      <p:sp>
        <p:nvSpPr>
          <p:cNvPr id="12" name="feature-code-157"/>
          <p:cNvSpPr txBox="1"/>
          <p:nvPr/>
        </p:nvSpPr>
        <p:spPr>
          <a:xfrm>
            <a:off x="6720840" y="2057400"/>
            <a:ext cx="2286000" cy="4572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species</a:t>
            </a:r>
            <a:endParaRPr lang="en-US" sz="1500" dirty="0"/>
          </a:p>
        </p:txBody>
      </p:sp>
      <p:sp>
        <p:nvSpPr>
          <p:cNvPr id="13" name="feature-desc-158"/>
          <p:cNvSpPr txBox="1"/>
          <p:nvPr/>
        </p:nvSpPr>
        <p:spPr>
          <a:xfrm>
            <a:off x="9006840" y="2057400"/>
            <a:ext cx="2499055" cy="457200"/>
          </a:xfrm>
          <a:prstGeom prst="rect">
            <a:avLst/>
          </a:prstGeom>
          <a:noFill/>
          <a:ln/>
        </p:spPr>
        <p:txBody>
          <a:bodyPr wrap="square" lIns="0" tIns="0" rIns="0" bIns="0" rtlCol="0" anchor="ctr"/>
          <a:lstStyle/>
          <a:p>
            <a:pPr indent="0" marL="0">
              <a:buNone/>
            </a:pPr>
            <a:r>
              <a:rPr lang="en-US" sz="1400" dirty="0">
                <a:solidFill>
                  <a:schemeClr val="tx1"/>
                </a:solidFill>
              </a:rPr>
              <a:t>Chinstrap, Gentoo or Adelie</a:t>
            </a:r>
            <a:endParaRPr lang="en-US" sz="1400" dirty="0"/>
          </a:p>
        </p:txBody>
      </p:sp>
      <p:sp>
        <p:nvSpPr>
          <p:cNvPr id="14" name="feature-row-159"/>
          <p:cNvSpPr/>
          <p:nvPr/>
        </p:nvSpPr>
        <p:spPr>
          <a:xfrm>
            <a:off x="6537960" y="2606040"/>
            <a:ext cx="5105095" cy="457200"/>
          </a:xfrm>
          <a:prstGeom prst="roundRect">
            <a:avLst>
              <a:gd name="adj" fmla="val 16000"/>
            </a:avLst>
          </a:prstGeom>
          <a:solidFill>
            <a:schemeClr val="bg2"/>
          </a:solidFill>
          <a:ln/>
        </p:spPr>
      </p:sp>
      <p:sp>
        <p:nvSpPr>
          <p:cNvPr id="15" name="feature-code-160"/>
          <p:cNvSpPr txBox="1"/>
          <p:nvPr/>
        </p:nvSpPr>
        <p:spPr>
          <a:xfrm>
            <a:off x="6720840" y="2606040"/>
            <a:ext cx="2286000" cy="4572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body_mass_g</a:t>
            </a:r>
            <a:endParaRPr lang="en-US" sz="1500" dirty="0"/>
          </a:p>
        </p:txBody>
      </p:sp>
      <p:sp>
        <p:nvSpPr>
          <p:cNvPr id="16" name="feature-desc-161"/>
          <p:cNvSpPr txBox="1"/>
          <p:nvPr/>
        </p:nvSpPr>
        <p:spPr>
          <a:xfrm>
            <a:off x="9006840" y="2606040"/>
            <a:ext cx="2499055" cy="457200"/>
          </a:xfrm>
          <a:prstGeom prst="rect">
            <a:avLst/>
          </a:prstGeom>
          <a:noFill/>
          <a:ln/>
        </p:spPr>
        <p:txBody>
          <a:bodyPr wrap="square" lIns="0" tIns="0" rIns="0" bIns="0" rtlCol="0" anchor="ctr"/>
          <a:lstStyle/>
          <a:p>
            <a:pPr indent="0" marL="0">
              <a:buNone/>
            </a:pPr>
            <a:r>
              <a:rPr lang="en-US" sz="1400" dirty="0">
                <a:solidFill>
                  <a:schemeClr val="tx1"/>
                </a:solidFill>
              </a:rPr>
              <a:t>Body mass (g)</a:t>
            </a:r>
            <a:endParaRPr lang="en-US" sz="1400" dirty="0"/>
          </a:p>
        </p:txBody>
      </p:sp>
      <p:sp>
        <p:nvSpPr>
          <p:cNvPr id="17" name="feature-row-162"/>
          <p:cNvSpPr/>
          <p:nvPr/>
        </p:nvSpPr>
        <p:spPr>
          <a:xfrm>
            <a:off x="6537960" y="3154680"/>
            <a:ext cx="5105095" cy="457200"/>
          </a:xfrm>
          <a:prstGeom prst="roundRect">
            <a:avLst>
              <a:gd name="adj" fmla="val 16000"/>
            </a:avLst>
          </a:prstGeom>
          <a:solidFill>
            <a:schemeClr val="bg2"/>
          </a:solidFill>
          <a:ln/>
        </p:spPr>
      </p:sp>
      <p:sp>
        <p:nvSpPr>
          <p:cNvPr id="18" name="feature-code-163"/>
          <p:cNvSpPr txBox="1"/>
          <p:nvPr/>
        </p:nvSpPr>
        <p:spPr>
          <a:xfrm>
            <a:off x="6720840" y="3154680"/>
            <a:ext cx="2286000" cy="4572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bill_length_mm</a:t>
            </a:r>
            <a:endParaRPr lang="en-US" sz="1500" dirty="0"/>
          </a:p>
        </p:txBody>
      </p:sp>
      <p:sp>
        <p:nvSpPr>
          <p:cNvPr id="19" name="feature-desc-164"/>
          <p:cNvSpPr txBox="1"/>
          <p:nvPr/>
        </p:nvSpPr>
        <p:spPr>
          <a:xfrm>
            <a:off x="9006840" y="3154680"/>
            <a:ext cx="2499055" cy="457200"/>
          </a:xfrm>
          <a:prstGeom prst="rect">
            <a:avLst/>
          </a:prstGeom>
          <a:noFill/>
          <a:ln/>
        </p:spPr>
        <p:txBody>
          <a:bodyPr wrap="square" lIns="0" tIns="0" rIns="0" bIns="0" rtlCol="0" anchor="ctr"/>
          <a:lstStyle/>
          <a:p>
            <a:pPr indent="0" marL="0">
              <a:buNone/>
            </a:pPr>
            <a:r>
              <a:rPr lang="en-US" sz="1400" dirty="0">
                <a:solidFill>
                  <a:schemeClr val="tx1"/>
                </a:solidFill>
              </a:rPr>
              <a:t>Bill length (mm)</a:t>
            </a:r>
            <a:endParaRPr lang="en-US" sz="1400" dirty="0"/>
          </a:p>
        </p:txBody>
      </p:sp>
      <p:sp>
        <p:nvSpPr>
          <p:cNvPr id="20" name="feature-row-165"/>
          <p:cNvSpPr/>
          <p:nvPr/>
        </p:nvSpPr>
        <p:spPr>
          <a:xfrm>
            <a:off x="6537960" y="3703320"/>
            <a:ext cx="5105095" cy="457200"/>
          </a:xfrm>
          <a:prstGeom prst="roundRect">
            <a:avLst>
              <a:gd name="adj" fmla="val 16000"/>
            </a:avLst>
          </a:prstGeom>
          <a:solidFill>
            <a:schemeClr val="bg2"/>
          </a:solidFill>
          <a:ln/>
        </p:spPr>
      </p:sp>
      <p:sp>
        <p:nvSpPr>
          <p:cNvPr id="21" name="feature-code-166"/>
          <p:cNvSpPr txBox="1"/>
          <p:nvPr/>
        </p:nvSpPr>
        <p:spPr>
          <a:xfrm>
            <a:off x="6720840" y="3703320"/>
            <a:ext cx="2286000" cy="4572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bill_depth_mm</a:t>
            </a:r>
            <a:endParaRPr lang="en-US" sz="1500" dirty="0"/>
          </a:p>
        </p:txBody>
      </p:sp>
      <p:sp>
        <p:nvSpPr>
          <p:cNvPr id="22" name="feature-desc-167"/>
          <p:cNvSpPr txBox="1"/>
          <p:nvPr/>
        </p:nvSpPr>
        <p:spPr>
          <a:xfrm>
            <a:off x="9006840" y="3703320"/>
            <a:ext cx="2499055" cy="457200"/>
          </a:xfrm>
          <a:prstGeom prst="rect">
            <a:avLst/>
          </a:prstGeom>
          <a:noFill/>
          <a:ln/>
        </p:spPr>
        <p:txBody>
          <a:bodyPr wrap="square" lIns="0" tIns="0" rIns="0" bIns="0" rtlCol="0" anchor="ctr"/>
          <a:lstStyle/>
          <a:p>
            <a:pPr indent="0" marL="0">
              <a:buNone/>
            </a:pPr>
            <a:r>
              <a:rPr lang="en-US" sz="1400" dirty="0">
                <a:solidFill>
                  <a:schemeClr val="tx1"/>
                </a:solidFill>
              </a:rPr>
              <a:t>Bill depth (mm)</a:t>
            </a:r>
            <a:endParaRPr lang="en-US" sz="1400" dirty="0"/>
          </a:p>
        </p:txBody>
      </p:sp>
      <p:sp>
        <p:nvSpPr>
          <p:cNvPr id="23" name="feature-row-168"/>
          <p:cNvSpPr/>
          <p:nvPr/>
        </p:nvSpPr>
        <p:spPr>
          <a:xfrm>
            <a:off x="6537960" y="4251960"/>
            <a:ext cx="5105095" cy="457200"/>
          </a:xfrm>
          <a:prstGeom prst="roundRect">
            <a:avLst>
              <a:gd name="adj" fmla="val 16000"/>
            </a:avLst>
          </a:prstGeom>
          <a:solidFill>
            <a:schemeClr val="bg2"/>
          </a:solidFill>
          <a:ln/>
        </p:spPr>
      </p:sp>
      <p:sp>
        <p:nvSpPr>
          <p:cNvPr id="24" name="feature-code-169"/>
          <p:cNvSpPr txBox="1"/>
          <p:nvPr/>
        </p:nvSpPr>
        <p:spPr>
          <a:xfrm>
            <a:off x="6720840" y="4251960"/>
            <a:ext cx="2286000" cy="45720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flipper_length_mm</a:t>
            </a:r>
            <a:endParaRPr lang="en-US" sz="1500" dirty="0"/>
          </a:p>
        </p:txBody>
      </p:sp>
      <p:sp>
        <p:nvSpPr>
          <p:cNvPr id="25" name="feature-desc-170"/>
          <p:cNvSpPr txBox="1"/>
          <p:nvPr/>
        </p:nvSpPr>
        <p:spPr>
          <a:xfrm>
            <a:off x="9006840" y="4251960"/>
            <a:ext cx="2499055" cy="457200"/>
          </a:xfrm>
          <a:prstGeom prst="rect">
            <a:avLst/>
          </a:prstGeom>
          <a:noFill/>
          <a:ln/>
        </p:spPr>
        <p:txBody>
          <a:bodyPr wrap="square" lIns="0" tIns="0" rIns="0" bIns="0" rtlCol="0" anchor="ctr"/>
          <a:lstStyle/>
          <a:p>
            <a:pPr indent="0" marL="0">
              <a:buNone/>
            </a:pPr>
            <a:r>
              <a:rPr lang="en-US" sz="1400" dirty="0">
                <a:solidFill>
                  <a:schemeClr val="tx1"/>
                </a:solidFill>
              </a:rPr>
              <a:t>Flipper length (mm)</a:t>
            </a:r>
            <a:endParaRPr lang="en-US" sz="1400" dirty="0"/>
          </a:p>
        </p:txBody>
      </p:sp>
      <p:sp>
        <p:nvSpPr>
          <p:cNvPr id="26" name="bill-card-171"/>
          <p:cNvSpPr/>
          <p:nvPr/>
        </p:nvSpPr>
        <p:spPr>
          <a:xfrm>
            <a:off x="6537960" y="4937760"/>
            <a:ext cx="5105095" cy="1234440"/>
          </a:xfrm>
          <a:prstGeom prst="roundRect">
            <a:avLst>
              <a:gd name="adj" fmla="val 7407"/>
            </a:avLst>
          </a:prstGeom>
          <a:solidFill>
            <a:schemeClr val="bg1"/>
          </a:solidFill>
          <a:ln w="12700">
            <a:solidFill>
              <a:schemeClr val="bg2"/>
            </a:solidFill>
            <a:prstDash val="solid"/>
          </a:ln>
        </p:spPr>
      </p:sp>
      <p:pic>
        <p:nvPicPr>
          <p:cNvPr id="27" name="fig-bill" descr="How bill length and depth are measured">    </p:cNvPr>
          <p:cNvPicPr>
            <a:picLocks noChangeAspect="1"/>
          </p:cNvPicPr>
          <p:nvPr/>
        </p:nvPicPr>
        <p:blipFill>
          <a:blip r:embed="rId2"/>
          <a:stretch>
            <a:fillRect/>
          </a:stretch>
        </p:blipFill>
        <p:spPr>
          <a:xfrm>
            <a:off x="6629400" y="5001768"/>
            <a:ext cx="1719072" cy="1106424"/>
          </a:xfrm>
          <a:prstGeom prst="rect">
            <a:avLst/>
          </a:prstGeom>
        </p:spPr>
      </p:pic>
      <p:sp>
        <p:nvSpPr>
          <p:cNvPr id="28" name="bill-text-172"/>
          <p:cNvSpPr txBox="1"/>
          <p:nvPr/>
        </p:nvSpPr>
        <p:spPr>
          <a:xfrm>
            <a:off x="8503920" y="4937760"/>
            <a:ext cx="3001975" cy="1234440"/>
          </a:xfrm>
          <a:prstGeom prst="rect">
            <a:avLst/>
          </a:prstGeom>
          <a:noFill/>
          <a:ln/>
        </p:spPr>
        <p:txBody>
          <a:bodyPr wrap="square" lIns="0" tIns="0" rIns="0" bIns="0" rtlCol="0" anchor="ctr"/>
          <a:lstStyle/>
          <a:p>
            <a:pPr indent="0" marL="0">
              <a:buNone/>
            </a:pPr>
            <a:r>
              <a:rPr lang="en-US" sz="1400" dirty="0">
                <a:solidFill>
                  <a:schemeClr val="tx1"/>
                </a:solidFill>
              </a:rPr>
              <a:t>How bill length and depth are measured. The study looks at differences in how female and male penguins look.</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PALMER PENGUINS · TEST PERFORMANCE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Logistic regression by species performs best</a:t>
            </a:r>
            <a:endParaRPr lang="en-US" sz="3200" dirty="0"/>
          </a:p>
        </p:txBody>
      </p:sp>
      <p:graphicFrame>
        <p:nvGraphicFramePr>
          <p:cNvPr id="4" name="logloss-chart" descr="Log loss: logistic regression 0.16, random forest 0.19, decision tree 1.23"/>
          <p:cNvGraphicFramePr/>
          <p:nvPr/>
        </p:nvGraphicFramePr>
        <p:xfrm>
          <a:off x="548640" y="1508760"/>
          <a:ext cx="5364328"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accuracy-chart" descr="Accuracy: logistic regression 0.93, random forest 0.92, decision tree 0.86"/>
          <p:cNvGraphicFramePr/>
          <p:nvPr/>
        </p:nvGraphicFramePr>
        <p:xfrm>
          <a:off x="6278728" y="1508760"/>
          <a:ext cx="5364328" cy="3429000"/>
        </p:xfrm>
        <a:graphic xmlns:a="http://schemas.openxmlformats.org/drawingml/2006/main">
          <a:graphicData uri="http://schemas.openxmlformats.org/drawingml/2006/chart">
            <c:chart xmlns:c="http://schemas.openxmlformats.org/drawingml/2006/chart" r:id="rId2"/>
          </a:graphicData>
        </a:graphic>
      </p:graphicFrame>
      <p:sp>
        <p:nvSpPr>
          <p:cNvPr id="6" name="note-card-173"/>
          <p:cNvSpPr/>
          <p:nvPr/>
        </p:nvSpPr>
        <p:spPr>
          <a:xfrm>
            <a:off x="548640" y="5120640"/>
            <a:ext cx="5364328" cy="1051560"/>
          </a:xfrm>
          <a:prstGeom prst="roundRect">
            <a:avLst>
              <a:gd name="adj" fmla="val 8696"/>
            </a:avLst>
          </a:prstGeom>
          <a:solidFill>
            <a:schemeClr val="bg2"/>
          </a:solidFill>
          <a:ln/>
        </p:spPr>
      </p:sp>
      <p:sp>
        <p:nvSpPr>
          <p:cNvPr id="7" name="icon-bg-174"/>
          <p:cNvSpPr/>
          <p:nvPr/>
        </p:nvSpPr>
        <p:spPr>
          <a:xfrm>
            <a:off x="731520" y="5330952"/>
            <a:ext cx="621792" cy="621792"/>
          </a:xfrm>
          <a:prstGeom prst="ellipse">
            <a:avLst/>
          </a:prstGeom>
          <a:solidFill>
            <a:schemeClr val="accent1"/>
          </a:solidFill>
          <a:ln/>
        </p:spPr>
      </p:sp>
      <p:pic>
        <p:nvPicPr>
          <p:cNvPr id="8" name="icon-175" descr="LuSplit">    </p:cNvPr>
          <p:cNvPicPr>
            <a:picLocks noChangeAspect="1"/>
          </p:cNvPicPr>
          <p:nvPr/>
        </p:nvPicPr>
        <p:blipFill>
          <a:blip r:embed="rId3"/>
          <a:stretch>
            <a:fillRect/>
          </a:stretch>
        </p:blipFill>
        <p:spPr>
          <a:xfrm>
            <a:off x="893186" y="5492618"/>
            <a:ext cx="298460" cy="298460"/>
          </a:xfrm>
          <a:prstGeom prst="rect">
            <a:avLst/>
          </a:prstGeom>
        </p:spPr>
      </p:pic>
      <p:sp>
        <p:nvSpPr>
          <p:cNvPr id="9" name="note-text-176"/>
          <p:cNvSpPr txBox="1"/>
          <p:nvPr/>
        </p:nvSpPr>
        <p:spPr>
          <a:xfrm>
            <a:off x="1508760" y="5120640"/>
            <a:ext cx="4221328" cy="1051560"/>
          </a:xfrm>
          <a:prstGeom prst="rect">
            <a:avLst/>
          </a:prstGeom>
          <a:noFill/>
          <a:ln/>
        </p:spPr>
        <p:txBody>
          <a:bodyPr wrap="square" lIns="0" tIns="0" rIns="0" bIns="0" rtlCol="0" anchor="ctr"/>
          <a:lstStyle/>
          <a:p>
            <a:pPr indent="0" marL="0">
              <a:buNone/>
            </a:pPr>
            <a:r>
              <a:rPr lang="en-US" sz="1600" b="1" dirty="0">
                <a:solidFill>
                  <a:schemeClr val="tx2"/>
                </a:solidFill>
              </a:rPr>
              <a:t>Logistic regression = 3 models</a:t>
            </a:r>
            <a:endParaRPr lang="en-US" sz="1600" dirty="0"/>
          </a:p>
          <a:p>
            <a:pPr indent="0" marL="0">
              <a:buNone/>
            </a:pPr>
            <a:r>
              <a:rPr lang="en-US" sz="1400" dirty="0">
                <a:solidFill>
                  <a:schemeClr val="tx1"/>
                </a:solidFill>
              </a:rPr>
              <a:t>The data is split by species and one model is trained per species, as in Gorman et al. (2014).</a:t>
            </a:r>
            <a:endParaRPr lang="en-US" sz="1600" dirty="0"/>
          </a:p>
        </p:txBody>
      </p:sp>
      <p:sp>
        <p:nvSpPr>
          <p:cNvPr id="10" name="note-card-177"/>
          <p:cNvSpPr/>
          <p:nvPr/>
        </p:nvSpPr>
        <p:spPr>
          <a:xfrm>
            <a:off x="6278728" y="5120640"/>
            <a:ext cx="5364328" cy="1051560"/>
          </a:xfrm>
          <a:prstGeom prst="roundRect">
            <a:avLst>
              <a:gd name="adj" fmla="val 8696"/>
            </a:avLst>
          </a:prstGeom>
          <a:solidFill>
            <a:schemeClr val="bg2"/>
          </a:solidFill>
          <a:ln/>
        </p:spPr>
      </p:sp>
      <p:sp>
        <p:nvSpPr>
          <p:cNvPr id="11" name="icon-bg-178"/>
          <p:cNvSpPr/>
          <p:nvPr/>
        </p:nvSpPr>
        <p:spPr>
          <a:xfrm>
            <a:off x="6461608" y="5330952"/>
            <a:ext cx="621792" cy="621792"/>
          </a:xfrm>
          <a:prstGeom prst="ellipse">
            <a:avLst/>
          </a:prstGeom>
          <a:solidFill>
            <a:schemeClr val="accent1"/>
          </a:solidFill>
          <a:ln/>
        </p:spPr>
      </p:sp>
      <p:pic>
        <p:nvPicPr>
          <p:cNvPr id="12" name="icon-179" descr="LuTrees">    </p:cNvPr>
          <p:cNvPicPr>
            <a:picLocks noChangeAspect="1"/>
          </p:cNvPicPr>
          <p:nvPr/>
        </p:nvPicPr>
        <p:blipFill>
          <a:blip r:embed="rId4"/>
          <a:stretch>
            <a:fillRect/>
          </a:stretch>
        </p:blipFill>
        <p:spPr>
          <a:xfrm>
            <a:off x="6623274" y="5492618"/>
            <a:ext cx="298460" cy="298460"/>
          </a:xfrm>
          <a:prstGeom prst="rect">
            <a:avLst/>
          </a:prstGeom>
        </p:spPr>
      </p:pic>
      <p:sp>
        <p:nvSpPr>
          <p:cNvPr id="13" name="note-text-180"/>
          <p:cNvSpPr txBox="1"/>
          <p:nvPr/>
        </p:nvSpPr>
        <p:spPr>
          <a:xfrm>
            <a:off x="7238848" y="5120640"/>
            <a:ext cx="4221328" cy="1051560"/>
          </a:xfrm>
          <a:prstGeom prst="rect">
            <a:avLst/>
          </a:prstGeom>
          <a:noFill/>
          <a:ln/>
        </p:spPr>
        <p:txBody>
          <a:bodyPr wrap="square" lIns="0" tIns="0" rIns="0" bIns="0" rtlCol="0" anchor="ctr"/>
          <a:lstStyle/>
          <a:p>
            <a:pPr indent="0" marL="0">
              <a:buNone/>
            </a:pPr>
            <a:r>
              <a:rPr lang="en-US" sz="1600" b="1" dirty="0">
                <a:solidFill>
                  <a:schemeClr val="tx2"/>
                </a:solidFill>
              </a:rPr>
              <a:t>Trees use species as a feature</a:t>
            </a:r>
            <a:endParaRPr lang="en-US" sz="1600" dirty="0"/>
          </a:p>
          <a:p>
            <a:pPr indent="0" marL="0">
              <a:buNone/>
            </a:pPr>
            <a:r>
              <a:rPr lang="en-US" sz="1400" dirty="0">
                <a:solidFill>
                  <a:schemeClr val="tx1"/>
                </a:solidFill>
              </a:rPr>
              <a:t>This didn't work well for the decision tree; the random forest gets close in accuracy.</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PALMER PENGUINS · FEATURE DEPENDENCE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Pearson correlation tells only half the story</a:t>
            </a:r>
            <a:endParaRPr lang="en-US" sz="3200" dirty="0"/>
          </a:p>
        </p:txBody>
      </p:sp>
      <p:sp>
        <p:nvSpPr>
          <p:cNvPr id="4" name="chart-title-181"/>
          <p:cNvSpPr txBox="1"/>
          <p:nvPr/>
        </p:nvSpPr>
        <p:spPr>
          <a:xfrm>
            <a:off x="548640" y="1508760"/>
            <a:ext cx="5486400" cy="365760"/>
          </a:xfrm>
          <a:prstGeom prst="rect">
            <a:avLst/>
          </a:prstGeom>
          <a:noFill/>
          <a:ln/>
        </p:spPr>
        <p:txBody>
          <a:bodyPr wrap="square" lIns="0" tIns="0" rIns="0" bIns="0" rtlCol="0" anchor="t"/>
          <a:lstStyle/>
          <a:p>
            <a:pPr indent="0" marL="0">
              <a:buNone/>
            </a:pPr>
            <a:r>
              <a:rPr lang="en-US" sz="1500" b="1" dirty="0">
                <a:solidFill>
                  <a:schemeClr val="tx2"/>
                </a:solidFill>
              </a:rPr>
              <a:t>Pearson correlation</a:t>
            </a:r>
            <a:endParaRPr lang="en-US" sz="1500" dirty="0"/>
          </a:p>
        </p:txBody>
      </p:sp>
      <p:graphicFrame>
        <p:nvGraphicFramePr>
          <p:cNvPr id="5" name="corr-chart" descr="Pearson correlations of the penguin features; largest: flipper length and body mass at 0.87"/>
          <p:cNvGraphicFramePr/>
          <p:nvPr/>
        </p:nvGraphicFramePr>
        <p:xfrm>
          <a:off x="548640" y="187452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6" name="insight-card-182"/>
          <p:cNvSpPr/>
          <p:nvPr/>
        </p:nvSpPr>
        <p:spPr>
          <a:xfrm>
            <a:off x="548640" y="5349240"/>
            <a:ext cx="5486400" cy="822960"/>
          </a:xfrm>
          <a:prstGeom prst="roundRect">
            <a:avLst>
              <a:gd name="adj" fmla="val 11111"/>
            </a:avLst>
          </a:prstGeom>
          <a:solidFill>
            <a:schemeClr val="bg2"/>
          </a:solidFill>
          <a:ln/>
        </p:spPr>
      </p:sp>
      <p:sp>
        <p:nvSpPr>
          <p:cNvPr id="7" name="insight-183"/>
          <p:cNvSpPr txBox="1"/>
          <p:nvPr/>
        </p:nvSpPr>
        <p:spPr>
          <a:xfrm>
            <a:off x="731520" y="5349240"/>
            <a:ext cx="5120640" cy="822960"/>
          </a:xfrm>
          <a:prstGeom prst="rect">
            <a:avLst/>
          </a:prstGeom>
          <a:noFill/>
          <a:ln/>
        </p:spPr>
        <p:txBody>
          <a:bodyPr wrap="square" lIns="0" tIns="0" rIns="0" bIns="0" rtlCol="0" anchor="ctr"/>
          <a:lstStyle/>
          <a:p>
            <a:pPr indent="0" marL="0">
              <a:buNone/>
            </a:pPr>
            <a:r>
              <a:rPr lang="en-US" sz="1400" b="1" dirty="0">
                <a:solidFill>
                  <a:schemeClr val="accent2"/>
                </a:solidFill>
              </a:rPr>
              <a:t>Notice: </a:t>
            </a:r>
            <a:pPr indent="0" marL="0">
              <a:buNone/>
            </a:pPr>
            <a:r>
              <a:rPr lang="en-US" sz="1400" dirty="0">
                <a:solidFill>
                  <a:schemeClr val="tx1"/>
                </a:solidFill>
              </a:rPr>
              <a:t>the NMI of body mass and bill depth is as high as body mass and flipper, but the correlation is much lower (−0.47).</a:t>
            </a:r>
            <a:endParaRPr lang="en-US" sz="1400" dirty="0"/>
          </a:p>
        </p:txBody>
      </p:sp>
      <p:sp>
        <p:nvSpPr>
          <p:cNvPr id="8" name="fig-card-184"/>
          <p:cNvSpPr/>
          <p:nvPr/>
        </p:nvSpPr>
        <p:spPr>
          <a:xfrm>
            <a:off x="6355080" y="1508760"/>
            <a:ext cx="5287975" cy="4663440"/>
          </a:xfrm>
          <a:prstGeom prst="roundRect">
            <a:avLst>
              <a:gd name="adj" fmla="val 1961"/>
            </a:avLst>
          </a:prstGeom>
          <a:solidFill>
            <a:schemeClr val="bg1"/>
          </a:solidFill>
          <a:ln w="12700">
            <a:solidFill>
              <a:schemeClr val="bg2"/>
            </a:solidFill>
            <a:prstDash val="solid"/>
          </a:ln>
        </p:spPr>
      </p:sp>
      <p:pic>
        <p:nvPicPr>
          <p:cNvPr id="9" name="fig-penguin-nmi" descr="Pairwise plots and NMI for the numerical penguin features">    </p:cNvPr>
          <p:cNvPicPr>
            <a:picLocks noChangeAspect="1"/>
          </p:cNvPicPr>
          <p:nvPr/>
        </p:nvPicPr>
        <p:blipFill>
          <a:blip r:embed="rId2"/>
          <a:stretch>
            <a:fillRect/>
          </a:stretch>
        </p:blipFill>
        <p:spPr>
          <a:xfrm>
            <a:off x="6446520" y="1600200"/>
            <a:ext cx="5102352" cy="4078224"/>
          </a:xfrm>
          <a:prstGeom prst="rect">
            <a:avLst/>
          </a:prstGeom>
        </p:spPr>
      </p:pic>
      <p:sp>
        <p:nvSpPr>
          <p:cNvPr id="10" name="fig-caption-185"/>
          <p:cNvSpPr txBox="1"/>
          <p:nvPr/>
        </p:nvSpPr>
        <p:spPr>
          <a:xfrm>
            <a:off x="6446520" y="5760720"/>
            <a:ext cx="5102352" cy="320040"/>
          </a:xfrm>
          <a:prstGeom prst="rect">
            <a:avLst/>
          </a:prstGeom>
          <a:noFill/>
          <a:ln/>
        </p:spPr>
        <p:txBody>
          <a:bodyPr wrap="square" lIns="0" tIns="0" rIns="0" bIns="0" rtlCol="0" anchor="t"/>
          <a:lstStyle/>
          <a:p>
            <a:pPr algn="ctr" indent="0" marL="0">
              <a:buNone/>
            </a:pPr>
            <a:r>
              <a:rPr lang="en-US" sz="1100" i="1" dirty="0">
                <a:solidFill>
                  <a:schemeClr val="tx2"/>
                </a:solidFill>
              </a:rPr>
              <a:t>Pairwise plots and NMI · Figure: Molnar (2025)</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PALMER PENGUINS · SIMPSON'S PARADOX</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Positive within each species, negative when pooled</a:t>
            </a:r>
            <a:endParaRPr lang="en-US" sz="3200" dirty="0"/>
          </a:p>
        </p:txBody>
      </p:sp>
      <p:graphicFrame>
        <p:nvGraphicFramePr>
          <p:cNvPr id="4" name="simpson-chart" descr="Bill depth vs. body mass: positive trend within each species, negative trend over all penguins"/>
          <p:cNvGraphicFramePr/>
          <p:nvPr/>
        </p:nvGraphicFramePr>
        <p:xfrm>
          <a:off x="548640" y="150876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5" name="stats-title-186"/>
          <p:cNvSpPr txBox="1"/>
          <p:nvPr/>
        </p:nvSpPr>
        <p:spPr>
          <a:xfrm>
            <a:off x="7818120" y="1508760"/>
            <a:ext cx="3824935" cy="457200"/>
          </a:xfrm>
          <a:prstGeom prst="rect">
            <a:avLst/>
          </a:prstGeom>
          <a:noFill/>
          <a:ln/>
        </p:spPr>
        <p:txBody>
          <a:bodyPr wrap="square" lIns="0" tIns="0" rIns="0" bIns="0" rtlCol="0" anchor="t"/>
          <a:lstStyle/>
          <a:p>
            <a:pPr indent="0" marL="0">
              <a:buNone/>
            </a:pPr>
            <a:r>
              <a:rPr lang="en-US" sz="1400" b="1" dirty="0">
                <a:solidFill>
                  <a:schemeClr val="tx2"/>
                </a:solidFill>
              </a:rPr>
              <a:t>Correlation of body mass and bill depth</a:t>
            </a:r>
            <a:endParaRPr lang="en-US" sz="1400" dirty="0"/>
          </a:p>
        </p:txBody>
      </p:sp>
      <p:sp>
        <p:nvSpPr>
          <p:cNvPr id="6" name="legend-dot"/>
          <p:cNvSpPr/>
          <p:nvPr/>
        </p:nvSpPr>
        <p:spPr>
          <a:xfrm>
            <a:off x="7818120" y="2139696"/>
            <a:ext cx="237744" cy="237744"/>
          </a:xfrm>
          <a:prstGeom prst="ellipse">
            <a:avLst/>
          </a:prstGeom>
          <a:solidFill>
            <a:schemeClr val="accent3"/>
          </a:solidFill>
          <a:ln/>
        </p:spPr>
      </p:sp>
      <p:sp>
        <p:nvSpPr>
          <p:cNvPr id="7" name="legend-name-187"/>
          <p:cNvSpPr txBox="1"/>
          <p:nvPr/>
        </p:nvSpPr>
        <p:spPr>
          <a:xfrm>
            <a:off x="8183880" y="2011680"/>
            <a:ext cx="2103120" cy="493776"/>
          </a:xfrm>
          <a:prstGeom prst="rect">
            <a:avLst/>
          </a:prstGeom>
          <a:noFill/>
          <a:ln/>
        </p:spPr>
        <p:txBody>
          <a:bodyPr wrap="square" lIns="0" tIns="0" rIns="0" bIns="0" rtlCol="0" anchor="ctr"/>
          <a:lstStyle/>
          <a:p>
            <a:pPr indent="0" marL="0">
              <a:buNone/>
            </a:pPr>
            <a:r>
              <a:rPr lang="en-US" sz="1600" dirty="0">
                <a:solidFill>
                  <a:schemeClr val="tx1"/>
                </a:solidFill>
              </a:rPr>
              <a:t>Adelie</a:t>
            </a:r>
            <a:endParaRPr lang="en-US" sz="1600" dirty="0"/>
          </a:p>
        </p:txBody>
      </p:sp>
      <p:sp>
        <p:nvSpPr>
          <p:cNvPr id="8" name="legend-r-188"/>
          <p:cNvSpPr txBox="1"/>
          <p:nvPr/>
        </p:nvSpPr>
        <p:spPr>
          <a:xfrm>
            <a:off x="10287000" y="2011680"/>
            <a:ext cx="1356055" cy="493776"/>
          </a:xfrm>
          <a:prstGeom prst="rect">
            <a:avLst/>
          </a:prstGeom>
          <a:noFill/>
          <a:ln/>
        </p:spPr>
        <p:txBody>
          <a:bodyPr wrap="square" lIns="0" tIns="0" rIns="0" bIns="0" rtlCol="0" anchor="ctr"/>
          <a:lstStyle/>
          <a:p>
            <a:pPr algn="r" indent="0" marL="0">
              <a:buNone/>
            </a:pPr>
            <a:r>
              <a:rPr lang="en-US" sz="2200" b="1" dirty="0">
                <a:solidFill>
                  <a:schemeClr val="accent3"/>
                </a:solidFill>
                <a:latin typeface="Avenir" pitchFamily="34" charset="0"/>
                <a:ea typeface="Avenir" pitchFamily="34" charset="-122"/>
                <a:cs typeface="Avenir" pitchFamily="34" charset="-120"/>
              </a:rPr>
              <a:t>+0.58</a:t>
            </a:r>
            <a:endParaRPr lang="en-US" sz="2200" dirty="0"/>
          </a:p>
        </p:txBody>
      </p:sp>
      <p:sp>
        <p:nvSpPr>
          <p:cNvPr id="9" name="legend-dot"/>
          <p:cNvSpPr/>
          <p:nvPr/>
        </p:nvSpPr>
        <p:spPr>
          <a:xfrm>
            <a:off x="7818120" y="2706624"/>
            <a:ext cx="237744" cy="237744"/>
          </a:xfrm>
          <a:prstGeom prst="ellipse">
            <a:avLst/>
          </a:prstGeom>
          <a:solidFill>
            <a:schemeClr val="accent4"/>
          </a:solidFill>
          <a:ln/>
        </p:spPr>
      </p:sp>
      <p:sp>
        <p:nvSpPr>
          <p:cNvPr id="10" name="legend-name-189"/>
          <p:cNvSpPr txBox="1"/>
          <p:nvPr/>
        </p:nvSpPr>
        <p:spPr>
          <a:xfrm>
            <a:off x="8183880" y="2578608"/>
            <a:ext cx="2103120" cy="493776"/>
          </a:xfrm>
          <a:prstGeom prst="rect">
            <a:avLst/>
          </a:prstGeom>
          <a:noFill/>
          <a:ln/>
        </p:spPr>
        <p:txBody>
          <a:bodyPr wrap="square" lIns="0" tIns="0" rIns="0" bIns="0" rtlCol="0" anchor="ctr"/>
          <a:lstStyle/>
          <a:p>
            <a:pPr indent="0" marL="0">
              <a:buNone/>
            </a:pPr>
            <a:r>
              <a:rPr lang="en-US" sz="1600" dirty="0">
                <a:solidFill>
                  <a:schemeClr val="tx1"/>
                </a:solidFill>
              </a:rPr>
              <a:t>Chinstrap</a:t>
            </a:r>
            <a:endParaRPr lang="en-US" sz="1600" dirty="0"/>
          </a:p>
        </p:txBody>
      </p:sp>
      <p:sp>
        <p:nvSpPr>
          <p:cNvPr id="11" name="legend-r-190"/>
          <p:cNvSpPr txBox="1"/>
          <p:nvPr/>
        </p:nvSpPr>
        <p:spPr>
          <a:xfrm>
            <a:off x="10287000" y="2578608"/>
            <a:ext cx="1356055" cy="493776"/>
          </a:xfrm>
          <a:prstGeom prst="rect">
            <a:avLst/>
          </a:prstGeom>
          <a:noFill/>
          <a:ln/>
        </p:spPr>
        <p:txBody>
          <a:bodyPr wrap="square" lIns="0" tIns="0" rIns="0" bIns="0" rtlCol="0" anchor="ctr"/>
          <a:lstStyle/>
          <a:p>
            <a:pPr algn="r" indent="0" marL="0">
              <a:buNone/>
            </a:pPr>
            <a:r>
              <a:rPr lang="en-US" sz="2200" b="1" dirty="0">
                <a:solidFill>
                  <a:schemeClr val="accent4"/>
                </a:solidFill>
                <a:latin typeface="Avenir" pitchFamily="34" charset="0"/>
                <a:ea typeface="Avenir" pitchFamily="34" charset="-122"/>
                <a:cs typeface="Avenir" pitchFamily="34" charset="-120"/>
              </a:rPr>
              <a:t>+0.60</a:t>
            </a:r>
            <a:endParaRPr lang="en-US" sz="2200" dirty="0"/>
          </a:p>
        </p:txBody>
      </p:sp>
      <p:sp>
        <p:nvSpPr>
          <p:cNvPr id="12" name="legend-dot"/>
          <p:cNvSpPr/>
          <p:nvPr/>
        </p:nvSpPr>
        <p:spPr>
          <a:xfrm>
            <a:off x="7818120" y="3273552"/>
            <a:ext cx="237744" cy="237744"/>
          </a:xfrm>
          <a:prstGeom prst="ellipse">
            <a:avLst/>
          </a:prstGeom>
          <a:solidFill>
            <a:schemeClr val="accent5"/>
          </a:solidFill>
          <a:ln/>
        </p:spPr>
      </p:sp>
      <p:sp>
        <p:nvSpPr>
          <p:cNvPr id="13" name="legend-name-191"/>
          <p:cNvSpPr txBox="1"/>
          <p:nvPr/>
        </p:nvSpPr>
        <p:spPr>
          <a:xfrm>
            <a:off x="8183880" y="3145536"/>
            <a:ext cx="2103120" cy="493776"/>
          </a:xfrm>
          <a:prstGeom prst="rect">
            <a:avLst/>
          </a:prstGeom>
          <a:noFill/>
          <a:ln/>
        </p:spPr>
        <p:txBody>
          <a:bodyPr wrap="square" lIns="0" tIns="0" rIns="0" bIns="0" rtlCol="0" anchor="ctr"/>
          <a:lstStyle/>
          <a:p>
            <a:pPr indent="0" marL="0">
              <a:buNone/>
            </a:pPr>
            <a:r>
              <a:rPr lang="en-US" sz="1600" dirty="0">
                <a:solidFill>
                  <a:schemeClr val="tx1"/>
                </a:solidFill>
              </a:rPr>
              <a:t>Gentoo</a:t>
            </a:r>
            <a:endParaRPr lang="en-US" sz="1600" dirty="0"/>
          </a:p>
        </p:txBody>
      </p:sp>
      <p:sp>
        <p:nvSpPr>
          <p:cNvPr id="14" name="legend-r-192"/>
          <p:cNvSpPr txBox="1"/>
          <p:nvPr/>
        </p:nvSpPr>
        <p:spPr>
          <a:xfrm>
            <a:off x="10287000" y="3145536"/>
            <a:ext cx="1356055" cy="493776"/>
          </a:xfrm>
          <a:prstGeom prst="rect">
            <a:avLst/>
          </a:prstGeom>
          <a:noFill/>
          <a:ln/>
        </p:spPr>
        <p:txBody>
          <a:bodyPr wrap="square" lIns="0" tIns="0" rIns="0" bIns="0" rtlCol="0" anchor="ctr"/>
          <a:lstStyle/>
          <a:p>
            <a:pPr algn="r" indent="0" marL="0">
              <a:buNone/>
            </a:pPr>
            <a:r>
              <a:rPr lang="en-US" sz="2200" b="1" dirty="0">
                <a:solidFill>
                  <a:schemeClr val="accent5"/>
                </a:solidFill>
                <a:latin typeface="Avenir" pitchFamily="34" charset="0"/>
                <a:ea typeface="Avenir" pitchFamily="34" charset="-122"/>
                <a:cs typeface="Avenir" pitchFamily="34" charset="-120"/>
              </a:rPr>
              <a:t>+0.72</a:t>
            </a:r>
            <a:endParaRPr lang="en-US" sz="2200" dirty="0"/>
          </a:p>
        </p:txBody>
      </p:sp>
      <p:sp>
        <p:nvSpPr>
          <p:cNvPr id="15" name="legend-dot"/>
          <p:cNvSpPr/>
          <p:nvPr/>
        </p:nvSpPr>
        <p:spPr>
          <a:xfrm>
            <a:off x="7818120" y="3840480"/>
            <a:ext cx="237744" cy="237744"/>
          </a:xfrm>
          <a:prstGeom prst="ellipse">
            <a:avLst/>
          </a:prstGeom>
          <a:solidFill>
            <a:schemeClr val="accent2"/>
          </a:solidFill>
          <a:ln/>
        </p:spPr>
      </p:sp>
      <p:sp>
        <p:nvSpPr>
          <p:cNvPr id="16" name="legend-name-193"/>
          <p:cNvSpPr txBox="1"/>
          <p:nvPr/>
        </p:nvSpPr>
        <p:spPr>
          <a:xfrm>
            <a:off x="8183880" y="3712464"/>
            <a:ext cx="2103120" cy="493776"/>
          </a:xfrm>
          <a:prstGeom prst="rect">
            <a:avLst/>
          </a:prstGeom>
          <a:noFill/>
          <a:ln/>
        </p:spPr>
        <p:txBody>
          <a:bodyPr wrap="square" lIns="0" tIns="0" rIns="0" bIns="0" rtlCol="0" anchor="ctr"/>
          <a:lstStyle/>
          <a:p>
            <a:pPr indent="0" marL="0">
              <a:buNone/>
            </a:pPr>
            <a:r>
              <a:rPr lang="en-US" sz="1600" b="1" dirty="0">
                <a:solidFill>
                  <a:schemeClr val="tx1"/>
                </a:solidFill>
              </a:rPr>
              <a:t>All penguins</a:t>
            </a:r>
            <a:endParaRPr lang="en-US" sz="1600" dirty="0"/>
          </a:p>
        </p:txBody>
      </p:sp>
      <p:sp>
        <p:nvSpPr>
          <p:cNvPr id="17" name="legend-r-194"/>
          <p:cNvSpPr txBox="1"/>
          <p:nvPr/>
        </p:nvSpPr>
        <p:spPr>
          <a:xfrm>
            <a:off x="10287000" y="3712464"/>
            <a:ext cx="1356055" cy="493776"/>
          </a:xfrm>
          <a:prstGeom prst="rect">
            <a:avLst/>
          </a:prstGeom>
          <a:noFill/>
          <a:ln/>
        </p:spPr>
        <p:txBody>
          <a:bodyPr wrap="square" lIns="0" tIns="0" rIns="0" bIns="0" rtlCol="0" anchor="ctr"/>
          <a:lstStyle/>
          <a:p>
            <a:pPr algn="r" indent="0" marL="0">
              <a:buNone/>
            </a:pPr>
            <a:r>
              <a:rPr lang="en-US" sz="2200" b="1" dirty="0">
                <a:solidFill>
                  <a:schemeClr val="accent2"/>
                </a:solidFill>
                <a:latin typeface="Avenir" pitchFamily="34" charset="0"/>
                <a:ea typeface="Avenir" pitchFamily="34" charset="-122"/>
                <a:cs typeface="Avenir" pitchFamily="34" charset="-120"/>
              </a:rPr>
              <a:t>−0.47</a:t>
            </a:r>
            <a:endParaRPr lang="en-US" sz="2200" dirty="0"/>
          </a:p>
        </p:txBody>
      </p:sp>
      <p:sp>
        <p:nvSpPr>
          <p:cNvPr id="18" name="why-card-195"/>
          <p:cNvSpPr/>
          <p:nvPr/>
        </p:nvSpPr>
        <p:spPr>
          <a:xfrm>
            <a:off x="7818120" y="4434840"/>
            <a:ext cx="3824935" cy="1737360"/>
          </a:xfrm>
          <a:prstGeom prst="roundRect">
            <a:avLst>
              <a:gd name="adj" fmla="val 5263"/>
            </a:avLst>
          </a:prstGeom>
          <a:solidFill>
            <a:schemeClr val="tx2"/>
          </a:solidFill>
          <a:ln/>
        </p:spPr>
      </p:sp>
      <p:sp>
        <p:nvSpPr>
          <p:cNvPr id="19" name="why-text-196"/>
          <p:cNvSpPr txBox="1"/>
          <p:nvPr/>
        </p:nvSpPr>
        <p:spPr>
          <a:xfrm>
            <a:off x="8046720" y="4434840"/>
            <a:ext cx="3367735" cy="1737360"/>
          </a:xfrm>
          <a:prstGeom prst="rect">
            <a:avLst/>
          </a:prstGeom>
          <a:noFill/>
          <a:ln/>
        </p:spPr>
        <p:txBody>
          <a:bodyPr wrap="square" lIns="0" tIns="0" rIns="0" bIns="0" rtlCol="0" anchor="ctr"/>
          <a:lstStyle/>
          <a:p>
            <a:pPr indent="0" marL="0">
              <a:buNone/>
            </a:pPr>
            <a:r>
              <a:rPr lang="en-US" sz="1500" b="1" dirty="0">
                <a:solidFill>
                  <a:schemeClr val="accent2"/>
                </a:solidFill>
              </a:rPr>
              <a:t>Why? </a:t>
            </a:r>
            <a:pPr indent="0" marL="0">
              <a:buNone/>
            </a:pPr>
            <a:r>
              <a:rPr lang="en-US" sz="1500" dirty="0">
                <a:solidFill>
                  <a:schemeClr val="bg2"/>
                </a:solidFill>
              </a:rPr>
              <a:t>Gentoo penguins are heavier but have shallower bills. Pooling the groups reverses the trend. Mutual information handles this.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A MODELING DECISION</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One model, or separate models per group?</a:t>
            </a:r>
            <a:endParaRPr lang="en-US" sz="3200" dirty="0"/>
          </a:p>
        </p:txBody>
      </p:sp>
      <p:sp>
        <p:nvSpPr>
          <p:cNvPr id="4" name="option-card-197"/>
          <p:cNvSpPr/>
          <p:nvPr/>
        </p:nvSpPr>
        <p:spPr>
          <a:xfrm>
            <a:off x="548640" y="1554480"/>
            <a:ext cx="5364328" cy="2606040"/>
          </a:xfrm>
          <a:prstGeom prst="roundRect">
            <a:avLst>
              <a:gd name="adj" fmla="val 350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5" name="icon-bg-198"/>
          <p:cNvSpPr/>
          <p:nvPr/>
        </p:nvSpPr>
        <p:spPr>
          <a:xfrm>
            <a:off x="868680" y="1810512"/>
            <a:ext cx="777240" cy="777240"/>
          </a:xfrm>
          <a:prstGeom prst="ellipse">
            <a:avLst/>
          </a:prstGeom>
          <a:solidFill>
            <a:schemeClr val="accent1"/>
          </a:solidFill>
          <a:ln/>
        </p:spPr>
      </p:sp>
      <p:pic>
        <p:nvPicPr>
          <p:cNvPr id="6" name="icon-199" descr="LuBox">    </p:cNvPr>
          <p:cNvPicPr>
            <a:picLocks noChangeAspect="1"/>
          </p:cNvPicPr>
          <p:nvPr/>
        </p:nvPicPr>
        <p:blipFill>
          <a:blip r:embed="rId1"/>
          <a:stretch>
            <a:fillRect/>
          </a:stretch>
        </p:blipFill>
        <p:spPr>
          <a:xfrm>
            <a:off x="1070762" y="2012594"/>
            <a:ext cx="373075" cy="373075"/>
          </a:xfrm>
          <a:prstGeom prst="rect">
            <a:avLst/>
          </a:prstGeom>
        </p:spPr>
      </p:pic>
      <p:sp>
        <p:nvSpPr>
          <p:cNvPr id="7" name="option-title-200"/>
          <p:cNvSpPr txBox="1"/>
          <p:nvPr/>
        </p:nvSpPr>
        <p:spPr>
          <a:xfrm>
            <a:off x="1874520" y="1810512"/>
            <a:ext cx="3809848" cy="777240"/>
          </a:xfrm>
          <a:prstGeom prst="rect">
            <a:avLst/>
          </a:prstGeom>
          <a:noFill/>
          <a:ln/>
        </p:spPr>
        <p:txBody>
          <a:bodyPr wrap="square" lIns="0" tIns="0" rIns="0" bIns="0" rtlCol="0" anchor="ctr"/>
          <a:lstStyle/>
          <a:p>
            <a:pPr indent="0" marL="0">
              <a:buNone/>
            </a:pPr>
            <a:r>
              <a:rPr lang="en-US" sz="2200" b="1" dirty="0">
                <a:solidFill>
                  <a:schemeClr val="tx2"/>
                </a:solidFill>
                <a:latin typeface="Avenir" pitchFamily="34" charset="0"/>
                <a:ea typeface="Avenir" pitchFamily="34" charset="-122"/>
                <a:cs typeface="Avenir" pitchFamily="34" charset="-120"/>
              </a:rPr>
              <a:t>The book's default</a:t>
            </a:r>
            <a:endParaRPr lang="en-US" sz="2200" dirty="0"/>
          </a:p>
        </p:txBody>
      </p:sp>
      <p:sp>
        <p:nvSpPr>
          <p:cNvPr id="8" name="option-desc-201"/>
          <p:cNvSpPr txBox="1"/>
          <p:nvPr/>
        </p:nvSpPr>
        <p:spPr>
          <a:xfrm>
            <a:off x="868680" y="2788920"/>
            <a:ext cx="4724248" cy="12344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All penguins in one dataset; species is a feature.</a:t>
            </a:r>
            <a:endParaRPr lang="en-US" sz="1600" dirty="0"/>
          </a:p>
          <a:p>
            <a:pPr indent="0" marL="0">
              <a:spcAft>
                <a:spcPts val="600"/>
              </a:spcAft>
              <a:buNone/>
            </a:pPr>
            <a:r>
              <a:rPr lang="en-US" sz="1600" dirty="0">
                <a:solidFill>
                  <a:schemeClr val="tx1"/>
                </a:solidFill>
              </a:rPr>
              <a:t>One model that learns from all the data.</a:t>
            </a:r>
            <a:endParaRPr lang="en-US" sz="1600" dirty="0"/>
          </a:p>
        </p:txBody>
      </p:sp>
      <p:sp>
        <p:nvSpPr>
          <p:cNvPr id="9" name="option-card-202"/>
          <p:cNvSpPr/>
          <p:nvPr/>
        </p:nvSpPr>
        <p:spPr>
          <a:xfrm>
            <a:off x="6278728" y="1554480"/>
            <a:ext cx="5364328" cy="2606040"/>
          </a:xfrm>
          <a:prstGeom prst="roundRect">
            <a:avLst>
              <a:gd name="adj" fmla="val 350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10" name="icon-bg-203"/>
          <p:cNvSpPr/>
          <p:nvPr/>
        </p:nvSpPr>
        <p:spPr>
          <a:xfrm>
            <a:off x="6598768" y="1810512"/>
            <a:ext cx="777240" cy="777240"/>
          </a:xfrm>
          <a:prstGeom prst="ellipse">
            <a:avLst/>
          </a:prstGeom>
          <a:solidFill>
            <a:schemeClr val="accent3"/>
          </a:solidFill>
          <a:ln/>
        </p:spPr>
      </p:sp>
      <p:pic>
        <p:nvPicPr>
          <p:cNvPr id="11" name="icon-204" descr="LuBoxes">    </p:cNvPr>
          <p:cNvPicPr>
            <a:picLocks noChangeAspect="1"/>
          </p:cNvPicPr>
          <p:nvPr/>
        </p:nvPicPr>
        <p:blipFill>
          <a:blip r:embed="rId2"/>
          <a:stretch>
            <a:fillRect/>
          </a:stretch>
        </p:blipFill>
        <p:spPr>
          <a:xfrm>
            <a:off x="6800850" y="2012594"/>
            <a:ext cx="373075" cy="373075"/>
          </a:xfrm>
          <a:prstGeom prst="rect">
            <a:avLst/>
          </a:prstGeom>
        </p:spPr>
      </p:pic>
      <p:sp>
        <p:nvSpPr>
          <p:cNvPr id="12" name="option-title-205"/>
          <p:cNvSpPr txBox="1"/>
          <p:nvPr/>
        </p:nvSpPr>
        <p:spPr>
          <a:xfrm>
            <a:off x="7604608" y="1810512"/>
            <a:ext cx="3809848" cy="777240"/>
          </a:xfrm>
          <a:prstGeom prst="rect">
            <a:avLst/>
          </a:prstGeom>
          <a:noFill/>
          <a:ln/>
        </p:spPr>
        <p:txBody>
          <a:bodyPr wrap="square" lIns="0" tIns="0" rIns="0" bIns="0" rtlCol="0" anchor="ctr"/>
          <a:lstStyle/>
          <a:p>
            <a:pPr indent="0" marL="0">
              <a:buNone/>
            </a:pPr>
            <a:r>
              <a:rPr lang="en-US" sz="2200" b="1" dirty="0">
                <a:solidFill>
                  <a:schemeClr val="tx2"/>
                </a:solidFill>
                <a:latin typeface="Avenir" pitchFamily="34" charset="0"/>
                <a:ea typeface="Avenir" pitchFamily="34" charset="-122"/>
                <a:cs typeface="Avenir" pitchFamily="34" charset="-120"/>
              </a:rPr>
              <a:t>The alternative</a:t>
            </a:r>
            <a:endParaRPr lang="en-US" sz="2200" dirty="0"/>
          </a:p>
        </p:txBody>
      </p:sp>
      <p:sp>
        <p:nvSpPr>
          <p:cNvPr id="13" name="option-desc-206"/>
          <p:cNvSpPr txBox="1"/>
          <p:nvPr/>
        </p:nvSpPr>
        <p:spPr>
          <a:xfrm>
            <a:off x="6598768" y="2788920"/>
            <a:ext cx="4724248" cy="12344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Model and analyze each species separately.</a:t>
            </a:r>
            <a:endParaRPr lang="en-US" sz="1600" dirty="0"/>
          </a:p>
          <a:p>
            <a:pPr indent="0" marL="0">
              <a:spcAft>
                <a:spcPts val="600"/>
              </a:spcAft>
              <a:buNone/>
            </a:pPr>
            <a:r>
              <a:rPr lang="en-US" sz="1600" dirty="0">
                <a:solidFill>
                  <a:schemeClr val="tx1"/>
                </a:solidFill>
              </a:rPr>
              <a:t>Arguably better, and logistic regression by species already won.</a:t>
            </a:r>
            <a:endParaRPr lang="en-US" sz="1600" dirty="0"/>
          </a:p>
        </p:txBody>
      </p:sp>
      <p:sp>
        <p:nvSpPr>
          <p:cNvPr id="14" name="vs"/>
          <p:cNvSpPr/>
          <p:nvPr/>
        </p:nvSpPr>
        <p:spPr>
          <a:xfrm>
            <a:off x="5775808" y="2542032"/>
            <a:ext cx="640080" cy="640080"/>
          </a:xfrm>
          <a:prstGeom prst="ellipse">
            <a:avLst/>
          </a:prstGeom>
          <a:solidFill>
            <a:schemeClr val="accent2"/>
          </a:solidFill>
          <a:ln w="38100">
            <a:solidFill>
              <a:schemeClr val="bg1"/>
            </a:solidFill>
            <a:prstDash val="solid"/>
          </a:ln>
        </p:spPr>
      </p:sp>
      <p:sp>
        <p:nvSpPr>
          <p:cNvPr id="15" name="vs-text-207"/>
          <p:cNvSpPr txBox="1"/>
          <p:nvPr/>
        </p:nvSpPr>
        <p:spPr>
          <a:xfrm>
            <a:off x="5775808" y="2542032"/>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or</a:t>
            </a:r>
            <a:endParaRPr lang="en-US" sz="1400" dirty="0"/>
          </a:p>
        </p:txBody>
      </p:sp>
      <p:sp>
        <p:nvSpPr>
          <p:cNvPr id="16" name="tension-208"/>
          <p:cNvSpPr txBox="1"/>
          <p:nvPr/>
        </p:nvSpPr>
        <p:spPr>
          <a:xfrm>
            <a:off x="548640" y="4434840"/>
            <a:ext cx="11094415" cy="411480"/>
          </a:xfrm>
          <a:prstGeom prst="rect">
            <a:avLst/>
          </a:prstGeom>
          <a:noFill/>
          <a:ln/>
        </p:spPr>
        <p:txBody>
          <a:bodyPr wrap="square" lIns="0" tIns="0" rIns="0" bIns="0" rtlCol="0" anchor="t"/>
          <a:lstStyle/>
          <a:p>
            <a:pPr indent="0" marL="0">
              <a:buNone/>
            </a:pPr>
            <a:r>
              <a:rPr lang="en-US" sz="1700" b="1" dirty="0">
                <a:solidFill>
                  <a:schemeClr val="tx2"/>
                </a:solidFill>
              </a:rPr>
              <a:t>A very common tension in machine learning: data points belong to a cluster or entity</a:t>
            </a:r>
            <a:endParaRPr lang="en-US" sz="1700" dirty="0"/>
          </a:p>
        </p:txBody>
      </p:sp>
      <p:sp>
        <p:nvSpPr>
          <p:cNvPr id="17" name="example-card-209"/>
          <p:cNvSpPr/>
          <p:nvPr/>
        </p:nvSpPr>
        <p:spPr>
          <a:xfrm>
            <a:off x="548640" y="4983480"/>
            <a:ext cx="5364328" cy="1188720"/>
          </a:xfrm>
          <a:prstGeom prst="roundRect">
            <a:avLst>
              <a:gd name="adj" fmla="val 7692"/>
            </a:avLst>
          </a:prstGeom>
          <a:solidFill>
            <a:schemeClr val="bg2"/>
          </a:solidFill>
          <a:ln/>
        </p:spPr>
      </p:sp>
      <p:sp>
        <p:nvSpPr>
          <p:cNvPr id="18" name="icon-bg-210"/>
          <p:cNvSpPr/>
          <p:nvPr/>
        </p:nvSpPr>
        <p:spPr>
          <a:xfrm>
            <a:off x="777240" y="5257800"/>
            <a:ext cx="640080" cy="640080"/>
          </a:xfrm>
          <a:prstGeom prst="ellipse">
            <a:avLst/>
          </a:prstGeom>
          <a:solidFill>
            <a:schemeClr val="accent1"/>
          </a:solidFill>
          <a:ln/>
        </p:spPr>
      </p:sp>
      <p:pic>
        <p:nvPicPr>
          <p:cNvPr id="19" name="icon-211" descr="LuStore">    </p:cNvPr>
          <p:cNvPicPr>
            <a:picLocks noChangeAspect="1"/>
          </p:cNvPicPr>
          <p:nvPr/>
        </p:nvPicPr>
        <p:blipFill>
          <a:blip r:embed="rId3"/>
          <a:stretch>
            <a:fillRect/>
          </a:stretch>
        </p:blipFill>
        <p:spPr>
          <a:xfrm>
            <a:off x="943661" y="5424221"/>
            <a:ext cx="307238" cy="307238"/>
          </a:xfrm>
          <a:prstGeom prst="rect">
            <a:avLst/>
          </a:prstGeom>
        </p:spPr>
      </p:pic>
      <p:sp>
        <p:nvSpPr>
          <p:cNvPr id="20" name="example-text-212"/>
          <p:cNvSpPr txBox="1"/>
          <p:nvPr/>
        </p:nvSpPr>
        <p:spPr>
          <a:xfrm>
            <a:off x="1600200" y="4983480"/>
            <a:ext cx="4084168" cy="1188720"/>
          </a:xfrm>
          <a:prstGeom prst="rect">
            <a:avLst/>
          </a:prstGeom>
          <a:noFill/>
          <a:ln/>
        </p:spPr>
        <p:txBody>
          <a:bodyPr wrap="square" lIns="0" tIns="0" rIns="0" bIns="0" rtlCol="0" anchor="ctr"/>
          <a:lstStyle/>
          <a:p>
            <a:pPr indent="0" marL="0">
              <a:buNone/>
            </a:pPr>
            <a:r>
              <a:rPr lang="en-US" sz="1600" dirty="0">
                <a:solidFill>
                  <a:schemeClr val="tx1"/>
                </a:solidFill>
              </a:rPr>
              <a:t>Predicting sales for different stores</a:t>
            </a:r>
            <a:endParaRPr lang="en-US" sz="1600" dirty="0"/>
          </a:p>
        </p:txBody>
      </p:sp>
      <p:sp>
        <p:nvSpPr>
          <p:cNvPr id="21" name="example-card-213"/>
          <p:cNvSpPr/>
          <p:nvPr/>
        </p:nvSpPr>
        <p:spPr>
          <a:xfrm>
            <a:off x="6278728" y="4983480"/>
            <a:ext cx="5364328" cy="1188720"/>
          </a:xfrm>
          <a:prstGeom prst="roundRect">
            <a:avLst>
              <a:gd name="adj" fmla="val 7692"/>
            </a:avLst>
          </a:prstGeom>
          <a:solidFill>
            <a:schemeClr val="bg2"/>
          </a:solidFill>
          <a:ln/>
        </p:spPr>
      </p:sp>
      <p:sp>
        <p:nvSpPr>
          <p:cNvPr id="22" name="icon-bg-214"/>
          <p:cNvSpPr/>
          <p:nvPr/>
        </p:nvSpPr>
        <p:spPr>
          <a:xfrm>
            <a:off x="6507328" y="5257800"/>
            <a:ext cx="640080" cy="640080"/>
          </a:xfrm>
          <a:prstGeom prst="ellipse">
            <a:avLst/>
          </a:prstGeom>
          <a:solidFill>
            <a:schemeClr val="accent1"/>
          </a:solidFill>
          <a:ln/>
        </p:spPr>
      </p:sp>
      <p:pic>
        <p:nvPicPr>
          <p:cNvPr id="23" name="icon-215" descr="LuFlaskConical">    </p:cNvPr>
          <p:cNvPicPr>
            <a:picLocks noChangeAspect="1"/>
          </p:cNvPicPr>
          <p:nvPr/>
        </p:nvPicPr>
        <p:blipFill>
          <a:blip r:embed="rId4"/>
          <a:stretch>
            <a:fillRect/>
          </a:stretch>
        </p:blipFill>
        <p:spPr>
          <a:xfrm>
            <a:off x="6673748" y="5424221"/>
            <a:ext cx="307238" cy="307238"/>
          </a:xfrm>
          <a:prstGeom prst="rect">
            <a:avLst/>
          </a:prstGeom>
        </p:spPr>
      </p:pic>
      <p:sp>
        <p:nvSpPr>
          <p:cNvPr id="24" name="example-text-216"/>
          <p:cNvSpPr txBox="1"/>
          <p:nvPr/>
        </p:nvSpPr>
        <p:spPr>
          <a:xfrm>
            <a:off x="7330288" y="4983480"/>
            <a:ext cx="4084168" cy="1188720"/>
          </a:xfrm>
          <a:prstGeom prst="rect">
            <a:avLst/>
          </a:prstGeom>
          <a:noFill/>
          <a:ln/>
        </p:spPr>
        <p:txBody>
          <a:bodyPr wrap="square" lIns="0" tIns="0" rIns="0" bIns="0" rtlCol="0" anchor="ctr"/>
          <a:lstStyle/>
          <a:p>
            <a:pPr indent="0" marL="0">
              <a:buNone/>
            </a:pPr>
            <a:r>
              <a:rPr lang="en-US" sz="1600" dirty="0">
                <a:solidFill>
                  <a:schemeClr val="tx1"/>
                </a:solidFill>
              </a:rPr>
              <a:t>Classifying lab samples that come from the same batches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411480"/>
          </a:xfrm>
          <a:prstGeom prst="rect">
            <a:avLst/>
          </a:prstGeom>
          <a:noFill/>
          <a:ln/>
        </p:spPr>
        <p:txBody>
          <a:bodyPr wrap="square" lIns="0" tIns="0" rIns="0" bIns="0" rtlCol="0" anchor="b"/>
          <a:lstStyle/>
          <a:p>
            <a:pPr algn="l" indent="0" marL="0">
              <a:buNone/>
            </a:pPr>
            <a:r>
              <a:rPr lang="en-US" sz="1400" b="1" spc="200" kern="0" dirty="0">
                <a:solidFill>
                  <a:schemeClr val="accent2"/>
                </a:solidFill>
              </a:rPr>
              <a:t>SUMMARY</a:t>
            </a:r>
            <a:endParaRPr lang="en-US" sz="1400" dirty="0"/>
          </a:p>
        </p:txBody>
      </p:sp>
      <p:sp>
        <p:nvSpPr>
          <p:cNvPr id="3" name="Text 0"/>
          <p:cNvSpPr/>
          <p:nvPr>
            <p:ph idx="101" type="title" hasCustomPrompt="1"/>
          </p:nvPr>
        </p:nvSpPr>
        <p:spPr>
          <a:xfrm>
            <a:off x="731520" y="1417320"/>
            <a:ext cx="6583680" cy="1828800"/>
          </a:xfrm>
          <a:prstGeom prst="rect">
            <a:avLst/>
          </a:prstGeom>
          <a:noFill/>
          <a:ln/>
        </p:spPr>
        <p:txBody>
          <a:bodyPr wrap="square" lIns="0" tIns="0" rIns="0" bIns="0" rtlCol="0" anchor="t"/>
          <a:lstStyle/>
          <a:p>
            <a:pPr algn="l" indent="0" marL="0">
              <a:buNone/>
            </a:pPr>
            <a:r>
              <a:rPr lang="en-US" sz="4000" b="1" dirty="0">
                <a:solidFill>
                  <a:schemeClr val="bg1"/>
                </a:solidFill>
                <a:latin typeface="Avenir" pitchFamily="34" charset="0"/>
                <a:ea typeface="Avenir" pitchFamily="34" charset="-122"/>
                <a:cs typeface="Avenir" pitchFamily="34" charset="-120"/>
              </a:rPr>
              <a:t>Know your data before you interpret</a:t>
            </a:r>
            <a:endParaRPr lang="en-US" sz="4000" dirty="0"/>
          </a:p>
        </p:txBody>
      </p:sp>
      <p:sp>
        <p:nvSpPr>
          <p:cNvPr id="4" name="Text 0"/>
          <p:cNvSpPr/>
          <p:nvPr>
            <p:ph idx="102" type="body" hasCustomPrompt="1"/>
          </p:nvPr>
        </p:nvSpPr>
        <p:spPr>
          <a:xfrm>
            <a:off x="731520" y="3017520"/>
            <a:ext cx="6400800" cy="1371600"/>
          </a:xfrm>
          <a:prstGeom prst="rect">
            <a:avLst/>
          </a:prstGeom>
          <a:noFill/>
          <a:ln/>
        </p:spPr>
        <p:txBody>
          <a:bodyPr wrap="square" lIns="0" tIns="0" rIns="0" bIns="0" rtlCol="0" anchor="t"/>
          <a:lstStyle/>
          <a:p>
            <a:pPr algn="l" indent="0" marL="0">
              <a:buNone/>
            </a:pPr>
            <a:r>
              <a:rPr lang="en-US" sz="2000" dirty="0">
                <a:solidFill>
                  <a:schemeClr val="bg2"/>
                </a:solidFill>
              </a:rPr>
              <a:t>How features depend on each other directly shapes the results of interpretation methods.</a:t>
            </a:r>
            <a:endParaRPr lang="en-US" sz="2000" dirty="0"/>
          </a:p>
        </p:txBody>
      </p:sp>
      <p:sp>
        <p:nvSpPr>
          <p:cNvPr id="5" name="Text 0"/>
          <p:cNvSpPr/>
          <p:nvPr>
            <p:ph idx="103" type="body" hasCustomPrompt="1"/>
          </p:nvPr>
        </p:nvSpPr>
        <p:spPr>
          <a:xfrm>
            <a:off x="731520" y="5074920"/>
            <a:ext cx="6400800" cy="914400"/>
          </a:xfrm>
          <a:prstGeom prst="rect">
            <a:avLst/>
          </a:prstGeom>
          <a:noFill/>
          <a:ln/>
        </p:spPr>
        <p:txBody>
          <a:bodyPr wrap="square" lIns="0" tIns="0" rIns="0" bIns="0" rtlCol="0" anchor="t"/>
          <a:lstStyle/>
          <a:p>
            <a:pPr algn="l" indent="0" marL="0">
              <a:buNone/>
            </a:pPr>
            <a:r>
              <a:rPr lang="en-US" sz="1400" b="1" dirty="0">
                <a:solidFill>
                  <a:schemeClr val="bg2"/>
                </a:solidFill>
              </a:rPr>
              <a:t>Thank you · Questions?</a:t>
            </a:r>
            <a:endParaRPr lang="en-US" sz="1400" dirty="0"/>
          </a:p>
          <a:p>
            <a:pPr algn="l" indent="0" marL="0">
              <a:buNone/>
            </a:pPr>
            <a:r>
              <a:rPr lang="en-US" sz="1400" dirty="0">
                <a:solidFill>
                  <a:schemeClr val="bg2"/>
                </a:solidFill>
              </a:rPr>
              <a:t>Molnar, C. (2025). “Data and Models.” Interpretable Machine Learning, 3rd ed.</a:t>
            </a:r>
            <a:endParaRPr lang="en-US" sz="1400" dirty="0"/>
          </a:p>
        </p:txBody>
      </p:sp>
      <p:sp>
        <p:nvSpPr>
          <p:cNvPr id="6" name="takeaway-217"/>
          <p:cNvSpPr/>
          <p:nvPr/>
        </p:nvSpPr>
        <p:spPr>
          <a:xfrm>
            <a:off x="7589520" y="914400"/>
            <a:ext cx="4050792" cy="1508760"/>
          </a:xfrm>
          <a:prstGeom prst="roundRect">
            <a:avLst>
              <a:gd name="adj" fmla="val 7273"/>
            </a:avLst>
          </a:prstGeom>
          <a:solidFill>
            <a:schemeClr val="bg1"/>
          </a:solidFill>
          <a:ln/>
        </p:spPr>
      </p:sp>
      <p:sp>
        <p:nvSpPr>
          <p:cNvPr id="7" name="icon-bg-218"/>
          <p:cNvSpPr/>
          <p:nvPr/>
        </p:nvSpPr>
        <p:spPr>
          <a:xfrm>
            <a:off x="7772400" y="1143000"/>
            <a:ext cx="566928" cy="566928"/>
          </a:xfrm>
          <a:prstGeom prst="ellipse">
            <a:avLst/>
          </a:prstGeom>
          <a:solidFill>
            <a:schemeClr val="accent1"/>
          </a:solidFill>
          <a:ln/>
        </p:spPr>
      </p:sp>
      <p:pic>
        <p:nvPicPr>
          <p:cNvPr id="8" name="icon-219" descr="LuBike">    </p:cNvPr>
          <p:cNvPicPr>
            <a:picLocks noChangeAspect="1"/>
          </p:cNvPicPr>
          <p:nvPr/>
        </p:nvPicPr>
        <p:blipFill>
          <a:blip r:embed="rId1"/>
          <a:stretch>
            <a:fillRect/>
          </a:stretch>
        </p:blipFill>
        <p:spPr>
          <a:xfrm>
            <a:off x="7919801" y="1290401"/>
            <a:ext cx="272125" cy="272125"/>
          </a:xfrm>
          <a:prstGeom prst="rect">
            <a:avLst/>
          </a:prstGeom>
        </p:spPr>
      </p:pic>
      <p:sp>
        <p:nvSpPr>
          <p:cNvPr id="9" name="takeaway-title-220"/>
          <p:cNvSpPr txBox="1"/>
          <p:nvPr/>
        </p:nvSpPr>
        <p:spPr>
          <a:xfrm>
            <a:off x="8503920" y="1115568"/>
            <a:ext cx="3017520" cy="411480"/>
          </a:xfrm>
          <a:prstGeom prst="rect">
            <a:avLst/>
          </a:prstGeom>
          <a:noFill/>
          <a:ln/>
        </p:spPr>
        <p:txBody>
          <a:bodyPr wrap="square" lIns="0" tIns="0" rIns="0" bIns="0" rtlCol="0" anchor="t"/>
          <a:lstStyle/>
          <a:p>
            <a:pPr indent="0" marL="0">
              <a:buNone/>
            </a:pPr>
            <a:r>
              <a:rPr lang="en-US" sz="1800" b="1" dirty="0">
                <a:solidFill>
                  <a:schemeClr val="tx2"/>
                </a:solidFill>
              </a:rPr>
              <a:t>Bike rentals</a:t>
            </a:r>
            <a:endParaRPr lang="en-US" sz="1800" dirty="0"/>
          </a:p>
        </p:txBody>
      </p:sp>
      <p:sp>
        <p:nvSpPr>
          <p:cNvPr id="10" name="takeaway-desc-221"/>
          <p:cNvSpPr txBox="1"/>
          <p:nvPr/>
        </p:nvSpPr>
        <p:spPr>
          <a:xfrm>
            <a:off x="8503920" y="1536192"/>
            <a:ext cx="3017520" cy="822960"/>
          </a:xfrm>
          <a:prstGeom prst="rect">
            <a:avLst/>
          </a:prstGeom>
          <a:noFill/>
          <a:ln/>
        </p:spPr>
        <p:txBody>
          <a:bodyPr wrap="square" lIns="0" tIns="0" rIns="0" bIns="0" rtlCol="0" anchor="t"/>
          <a:lstStyle/>
          <a:p>
            <a:pPr indent="0" marL="0">
              <a:buNone/>
            </a:pPr>
            <a:r>
              <a:rPr lang="en-US" sz="1400" dirty="0">
                <a:solidFill>
                  <a:schemeClr val="tx1"/>
                </a:solidFill>
              </a:rPr>
              <a:t>Regression, 728 days. Best model: SVM (RMSE 852).</a:t>
            </a:r>
            <a:endParaRPr lang="en-US" sz="1400" dirty="0"/>
          </a:p>
        </p:txBody>
      </p:sp>
      <p:sp>
        <p:nvSpPr>
          <p:cNvPr id="11" name="takeaway-222"/>
          <p:cNvSpPr/>
          <p:nvPr/>
        </p:nvSpPr>
        <p:spPr>
          <a:xfrm>
            <a:off x="7589520" y="2651760"/>
            <a:ext cx="4050792" cy="1508760"/>
          </a:xfrm>
          <a:prstGeom prst="roundRect">
            <a:avLst>
              <a:gd name="adj" fmla="val 7273"/>
            </a:avLst>
          </a:prstGeom>
          <a:solidFill>
            <a:schemeClr val="bg1"/>
          </a:solidFill>
          <a:ln/>
        </p:spPr>
      </p:sp>
      <p:sp>
        <p:nvSpPr>
          <p:cNvPr id="12" name="icon-bg-223"/>
          <p:cNvSpPr/>
          <p:nvPr/>
        </p:nvSpPr>
        <p:spPr>
          <a:xfrm>
            <a:off x="7772400" y="2880360"/>
            <a:ext cx="566928" cy="566928"/>
          </a:xfrm>
          <a:prstGeom prst="ellipse">
            <a:avLst/>
          </a:prstGeom>
          <a:solidFill>
            <a:schemeClr val="accent1"/>
          </a:solidFill>
          <a:ln/>
        </p:spPr>
      </p:sp>
      <p:pic>
        <p:nvPicPr>
          <p:cNvPr id="13" name="icon-224" descr="LuBird">    </p:cNvPr>
          <p:cNvPicPr>
            <a:picLocks noChangeAspect="1"/>
          </p:cNvPicPr>
          <p:nvPr/>
        </p:nvPicPr>
        <p:blipFill>
          <a:blip r:embed="rId2"/>
          <a:stretch>
            <a:fillRect/>
          </a:stretch>
        </p:blipFill>
        <p:spPr>
          <a:xfrm>
            <a:off x="7919801" y="3027761"/>
            <a:ext cx="272125" cy="272125"/>
          </a:xfrm>
          <a:prstGeom prst="rect">
            <a:avLst/>
          </a:prstGeom>
        </p:spPr>
      </p:pic>
      <p:sp>
        <p:nvSpPr>
          <p:cNvPr id="14" name="takeaway-title-225"/>
          <p:cNvSpPr txBox="1"/>
          <p:nvPr/>
        </p:nvSpPr>
        <p:spPr>
          <a:xfrm>
            <a:off x="8503920" y="2852928"/>
            <a:ext cx="3017520" cy="411480"/>
          </a:xfrm>
          <a:prstGeom prst="rect">
            <a:avLst/>
          </a:prstGeom>
          <a:noFill/>
          <a:ln/>
        </p:spPr>
        <p:txBody>
          <a:bodyPr wrap="square" lIns="0" tIns="0" rIns="0" bIns="0" rtlCol="0" anchor="t"/>
          <a:lstStyle/>
          <a:p>
            <a:pPr indent="0" marL="0">
              <a:buNone/>
            </a:pPr>
            <a:r>
              <a:rPr lang="en-US" sz="1800" b="1" dirty="0">
                <a:solidFill>
                  <a:schemeClr val="tx2"/>
                </a:solidFill>
              </a:rPr>
              <a:t>Palmer penguins</a:t>
            </a:r>
            <a:endParaRPr lang="en-US" sz="1800" dirty="0"/>
          </a:p>
        </p:txBody>
      </p:sp>
      <p:sp>
        <p:nvSpPr>
          <p:cNvPr id="15" name="takeaway-desc-226"/>
          <p:cNvSpPr txBox="1"/>
          <p:nvPr/>
        </p:nvSpPr>
        <p:spPr>
          <a:xfrm>
            <a:off x="8503920" y="3273552"/>
            <a:ext cx="3017520" cy="822960"/>
          </a:xfrm>
          <a:prstGeom prst="rect">
            <a:avLst/>
          </a:prstGeom>
          <a:noFill/>
          <a:ln/>
        </p:spPr>
        <p:txBody>
          <a:bodyPr wrap="square" lIns="0" tIns="0" rIns="0" bIns="0" rtlCol="0" anchor="t"/>
          <a:lstStyle/>
          <a:p>
            <a:pPr indent="0" marL="0">
              <a:buNone/>
            </a:pPr>
            <a:r>
              <a:rPr lang="en-US" sz="1400" dirty="0">
                <a:solidFill>
                  <a:schemeClr val="tx1"/>
                </a:solidFill>
              </a:rPr>
              <a:t>Classification, 333 penguins. Logistic regression by species (accuracy 0.93).</a:t>
            </a:r>
            <a:endParaRPr lang="en-US" sz="1400" dirty="0"/>
          </a:p>
        </p:txBody>
      </p:sp>
      <p:sp>
        <p:nvSpPr>
          <p:cNvPr id="16" name="takeaway-227"/>
          <p:cNvSpPr/>
          <p:nvPr/>
        </p:nvSpPr>
        <p:spPr>
          <a:xfrm>
            <a:off x="7589520" y="4389120"/>
            <a:ext cx="4050792" cy="1508760"/>
          </a:xfrm>
          <a:prstGeom prst="roundRect">
            <a:avLst>
              <a:gd name="adj" fmla="val 7273"/>
            </a:avLst>
          </a:prstGeom>
          <a:solidFill>
            <a:schemeClr val="bg1"/>
          </a:solidFill>
          <a:ln/>
        </p:spPr>
      </p:sp>
      <p:sp>
        <p:nvSpPr>
          <p:cNvPr id="17" name="icon-bg-228"/>
          <p:cNvSpPr/>
          <p:nvPr/>
        </p:nvSpPr>
        <p:spPr>
          <a:xfrm>
            <a:off x="7772400" y="4617720"/>
            <a:ext cx="566928" cy="566928"/>
          </a:xfrm>
          <a:prstGeom prst="ellipse">
            <a:avLst/>
          </a:prstGeom>
          <a:solidFill>
            <a:schemeClr val="accent1"/>
          </a:solidFill>
          <a:ln/>
        </p:spPr>
      </p:sp>
      <p:pic>
        <p:nvPicPr>
          <p:cNvPr id="18" name="icon-229" descr="LuChartScatter">    </p:cNvPr>
          <p:cNvPicPr>
            <a:picLocks noChangeAspect="1"/>
          </p:cNvPicPr>
          <p:nvPr/>
        </p:nvPicPr>
        <p:blipFill>
          <a:blip r:embed="rId3"/>
          <a:stretch>
            <a:fillRect/>
          </a:stretch>
        </p:blipFill>
        <p:spPr>
          <a:xfrm>
            <a:off x="7919801" y="4765121"/>
            <a:ext cx="272125" cy="272125"/>
          </a:xfrm>
          <a:prstGeom prst="rect">
            <a:avLst/>
          </a:prstGeom>
        </p:spPr>
      </p:pic>
      <p:sp>
        <p:nvSpPr>
          <p:cNvPr id="19" name="takeaway-title-230"/>
          <p:cNvSpPr txBox="1"/>
          <p:nvPr/>
        </p:nvSpPr>
        <p:spPr>
          <a:xfrm>
            <a:off x="8503920" y="4590288"/>
            <a:ext cx="3017520" cy="411480"/>
          </a:xfrm>
          <a:prstGeom prst="rect">
            <a:avLst/>
          </a:prstGeom>
          <a:noFill/>
          <a:ln/>
        </p:spPr>
        <p:txBody>
          <a:bodyPr wrap="square" lIns="0" tIns="0" rIns="0" bIns="0" rtlCol="0" anchor="t"/>
          <a:lstStyle/>
          <a:p>
            <a:pPr indent="0" marL="0">
              <a:buNone/>
            </a:pPr>
            <a:r>
              <a:rPr lang="en-US" sz="1800" b="1" dirty="0">
                <a:solidFill>
                  <a:schemeClr val="tx2"/>
                </a:solidFill>
              </a:rPr>
              <a:t>Dependence</a:t>
            </a:r>
            <a:endParaRPr lang="en-US" sz="1800" dirty="0"/>
          </a:p>
        </p:txBody>
      </p:sp>
      <p:sp>
        <p:nvSpPr>
          <p:cNvPr id="20" name="takeaway-desc-231"/>
          <p:cNvSpPr txBox="1"/>
          <p:nvPr/>
        </p:nvSpPr>
        <p:spPr>
          <a:xfrm>
            <a:off x="8503920" y="5010912"/>
            <a:ext cx="3017520" cy="822960"/>
          </a:xfrm>
          <a:prstGeom prst="rect">
            <a:avLst/>
          </a:prstGeom>
          <a:noFill/>
          <a:ln/>
        </p:spPr>
        <p:txBody>
          <a:bodyPr wrap="square" lIns="0" tIns="0" rIns="0" bIns="0" rtlCol="0" anchor="t"/>
          <a:lstStyle/>
          <a:p>
            <a:pPr indent="0" marL="0">
              <a:buNone/>
            </a:pPr>
            <a:r>
              <a:rPr lang="en-US" sz="1400" dirty="0">
                <a:solidFill>
                  <a:schemeClr val="tx1"/>
                </a:solidFill>
              </a:rPr>
              <a:t>Use correlation, NMI and plots together. Watch out for Simpson's paradox.</a:t>
            </a:r>
            <a:endParaRPr lang="en-US" sz="1400" dirty="0"/>
          </a:p>
        </p:txBody>
      </p:sp>
    </p:spTree>
  </p:cSld>
  <p:clrMapOvr>
    <a:masterClrMapping/>
  </p:clrMapOvr>
</p:sld>
</file>

<file path=ppt/theme/theme1.xml><?xml version="1.0" encoding="utf-8"?>
<a:theme xmlns:a="http://schemas.openxmlformats.org/drawingml/2006/main" name="Antarktika">
  <a:themeElements>
    <a:clrScheme name="Antarktika">
      <a:dk1>
        <a:srgbClr val="1C2B36"/>
      </a:dk1>
      <a:lt1>
        <a:srgbClr val="FFFFFF"/>
      </a:lt1>
      <a:dk2>
        <a:srgbClr val="0E3A4F"/>
      </a:dk2>
      <a:lt2>
        <a:srgbClr val="EAF2F5"/>
      </a:lt2>
      <a:accent1>
        <a:srgbClr val="127C8A"/>
      </a:accent1>
      <a:accent2>
        <a:srgbClr val="E07A1F"/>
      </a:accent2>
      <a:accent3>
        <a:srgbClr val="4B2E83"/>
      </a:accent3>
      <a:accent4>
        <a:srgbClr val="2A6F97"/>
      </a:accent4>
      <a:accent5>
        <a:srgbClr val="2A9D6F"/>
      </a:accent5>
      <a:accent6>
        <a:srgbClr val="9DB7C2"/>
      </a:accent6>
      <a:hlink>
        <a:srgbClr val="127C8A"/>
      </a:hlink>
      <a:folHlink>
        <a:srgbClr val="4B2E83"/>
      </a:folHlink>
    </a:clrScheme>
    <a:fontScheme name="Antarktika">
      <a:majorFont>
        <a:latin typeface="Aveni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 Data and Models</dc:title>
  <dc:subject>Interpretable Machine Learning (C. Molnar) — Türkçe sunum</dc:subject>
  <dc:creator>Asasira Martin</dc:creator>
  <cp:lastModifiedBy>Asasira Martin</cp:lastModifiedBy>
  <cp:revision>1</cp:revision>
  <dcterms:created xsi:type="dcterms:W3CDTF">2026-10-17T22:55:12Z</dcterms:created>
  <dcterms:modified xsi:type="dcterms:W3CDTF">2026-10-17T22:55:12Z</dcterms:modified>
</cp:coreProperties>
</file>